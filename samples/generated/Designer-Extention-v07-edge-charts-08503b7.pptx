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実績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検証A</c:v>
                </c:pt>
                <c:pt idx="1">
                  <c:v>=データ</c:v>
                </c:pt>
                <c:pt idx="2">
                  <c:v>検証C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-2.5</c:v>
                </c:pt>
                <c:pt idx="1">
                  <c:v>0</c:v>
                </c:pt>
                <c:pt idx="2">
                  <c:v>17.75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0F-469E-9746-E7DDA0F1711C}"/>
            </c:ext>
          </c:extLst>
        </c:ser>
        <c:ser>
          <c:idx val="1"/>
          <c:order val="1"/>
          <c:tx>
            <c:strRef>
              <c:f>'Data'!$C$1</c:f>
              <c:strCache>
                <c:ptCount val="1"/>
                <c:pt idx="0">
                  <c:v>比較</c:v>
                </c:pt>
              </c:strCache>
            </c:strRef>
          </c:tx>
          <c:spPr>
            <a:solidFill>
              <a:srgbClr val="945F1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検証A</c:v>
                </c:pt>
                <c:pt idx="1">
                  <c:v>=データ</c:v>
                </c:pt>
                <c:pt idx="2">
                  <c:v>検証C</c:v>
                </c:pt>
              </c:strCache>
            </c:strRef>
          </c:cat>
          <c:val>
            <c:numRef>
              <c:f>'Data'!$C$2:$C$4</c:f>
              <c:numCache>
                <c:formatCode>General</c:formatCode>
                <c:ptCount val="3"/>
                <c:pt idx="0">
                  <c:v>12.5</c:v>
                </c:pt>
                <c:pt idx="1">
                  <c:v>27.6</c:v>
                </c:pt>
                <c:pt idx="2">
                  <c:v>34.75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0F-469E-9746-E7DDA0F171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39404608"/>
        <c:axId val="1989182032"/>
      </c:barChart>
      <c:catAx>
        <c:axId val="203940460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1989182032"/>
        <c:crosses val="autoZero"/>
        <c:auto val="1"/>
        <c:lblAlgn val="ctr"/>
        <c:lblOffset val="100"/>
        <c:tickLblSkip val="1"/>
        <c:noMultiLvlLbl val="0"/>
      </c:catAx>
      <c:valAx>
        <c:axId val="19891820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2039404608"/>
        <c:crosses val="max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実績</c:v>
                </c:pt>
              </c:strCache>
            </c:strRef>
          </c:tx>
          <c:spPr>
            <a:solidFill>
              <a:srgbClr val="245DA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検証A</c:v>
                </c:pt>
                <c:pt idx="1">
                  <c:v>=データ</c:v>
                </c:pt>
                <c:pt idx="2">
                  <c:v>検証C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-2.5</c:v>
                </c:pt>
                <c:pt idx="1">
                  <c:v>0</c:v>
                </c:pt>
                <c:pt idx="2">
                  <c:v>17.75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B4-4A7F-943B-E9776F8FB20C}"/>
            </c:ext>
          </c:extLst>
        </c:ser>
        <c:ser>
          <c:idx val="1"/>
          <c:order val="1"/>
          <c:tx>
            <c:strRef>
              <c:f>'Data'!$C$1</c:f>
              <c:strCache>
                <c:ptCount val="1"/>
                <c:pt idx="0">
                  <c:v>比較</c:v>
                </c:pt>
              </c:strCache>
            </c:strRef>
          </c:tx>
          <c:spPr>
            <a:solidFill>
              <a:srgbClr val="945F1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検証A</c:v>
                </c:pt>
                <c:pt idx="1">
                  <c:v>=データ</c:v>
                </c:pt>
                <c:pt idx="2">
                  <c:v>検証C</c:v>
                </c:pt>
              </c:strCache>
            </c:strRef>
          </c:cat>
          <c:val>
            <c:numRef>
              <c:f>'Data'!$C$2:$C$4</c:f>
              <c:numCache>
                <c:formatCode>General</c:formatCode>
                <c:ptCount val="3"/>
                <c:pt idx="0">
                  <c:v>12.5</c:v>
                </c:pt>
                <c:pt idx="1">
                  <c:v>27.6</c:v>
                </c:pt>
                <c:pt idx="2">
                  <c:v>34.75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1B4-4A7F-943B-E9776F8FB2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21853088"/>
        <c:axId val="1989234832"/>
      </c:barChart>
      <c:catAx>
        <c:axId val="321853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1989234832"/>
        <c:crosses val="autoZero"/>
        <c:auto val="1"/>
        <c:lblAlgn val="ctr"/>
        <c:lblOffset val="100"/>
        <c:tickLblSkip val="1"/>
        <c:noMultiLvlLbl val="0"/>
      </c:catAx>
      <c:valAx>
        <c:axId val="1989234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321853088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'Data'!$B$1</c:f>
              <c:strCache>
                <c:ptCount val="1"/>
                <c:pt idx="0">
                  <c:v>実績</c:v>
                </c:pt>
              </c:strCache>
            </c:strRef>
          </c:tx>
          <c:spPr>
            <a:ln w="31750" cap="rnd">
              <a:solidFill>
                <a:srgbClr val="245DA8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rgbClr val="245DA8"/>
              </a:solidFill>
              <a:ln w="31750">
                <a:solidFill>
                  <a:srgbClr val="245DA8"/>
                </a:solidFill>
                <a:prstDash val="solid"/>
              </a:ln>
              <a:effectLst/>
            </c:spPr>
          </c:marker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検証A</c:v>
                </c:pt>
                <c:pt idx="1">
                  <c:v>=データ</c:v>
                </c:pt>
                <c:pt idx="2">
                  <c:v>検証C</c:v>
                </c:pt>
              </c:strCache>
            </c:strRef>
          </c:cat>
          <c:val>
            <c:numRef>
              <c:f>'Data'!$B$2:$B$4</c:f>
              <c:numCache>
                <c:formatCode>General</c:formatCode>
                <c:ptCount val="3"/>
                <c:pt idx="0">
                  <c:v>-2.5</c:v>
                </c:pt>
                <c:pt idx="1">
                  <c:v>0</c:v>
                </c:pt>
                <c:pt idx="2">
                  <c:v>17.75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91E-4B5B-9D88-025B3531B19F}"/>
            </c:ext>
          </c:extLst>
        </c:ser>
        <c:ser>
          <c:idx val="1"/>
          <c:order val="1"/>
          <c:tx>
            <c:strRef>
              <c:f>'Data'!$C$1</c:f>
              <c:strCache>
                <c:ptCount val="1"/>
                <c:pt idx="0">
                  <c:v>比較</c:v>
                </c:pt>
              </c:strCache>
            </c:strRef>
          </c:tx>
          <c:spPr>
            <a:ln w="31750" cap="rnd">
              <a:solidFill>
                <a:srgbClr val="945F1D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rgbClr val="945F1D"/>
              </a:solidFill>
              <a:ln w="31750">
                <a:solidFill>
                  <a:srgbClr val="945F1D"/>
                </a:solidFill>
                <a:prstDash val="solid"/>
              </a:ln>
              <a:effectLst/>
            </c:spPr>
          </c:marker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'Data'!$A$2:$A$4</c:f>
              <c:strCache>
                <c:ptCount val="3"/>
                <c:pt idx="0">
                  <c:v>検証A</c:v>
                </c:pt>
                <c:pt idx="1">
                  <c:v>=データ</c:v>
                </c:pt>
                <c:pt idx="2">
                  <c:v>検証C</c:v>
                </c:pt>
              </c:strCache>
            </c:strRef>
          </c:cat>
          <c:val>
            <c:numRef>
              <c:f>'Data'!$C$2:$C$4</c:f>
              <c:numCache>
                <c:formatCode>General</c:formatCode>
                <c:ptCount val="3"/>
                <c:pt idx="0">
                  <c:v>12.5</c:v>
                </c:pt>
                <c:pt idx="1">
                  <c:v>27.6</c:v>
                </c:pt>
                <c:pt idx="2">
                  <c:v>34.75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91E-4B5B-9D88-025B3531B1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21898560"/>
        <c:axId val="1989166192"/>
      </c:lineChart>
      <c:catAx>
        <c:axId val="321898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1989166192"/>
        <c:crosses val="autoZero"/>
        <c:auto val="1"/>
        <c:lblAlgn val="ctr"/>
        <c:lblOffset val="100"/>
        <c:tickLblSkip val="1"/>
        <c:noMultiLvlLbl val="0"/>
      </c:catAx>
      <c:valAx>
        <c:axId val="1989166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FE2E6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72D4A"/>
                  </a:solidFill>
                  <a:latin typeface="BIZ UDPGothic"/>
                  <a:ea typeface="BIZ UDPGothic"/>
                  <a:cs typeface="BIZ UDPGothic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low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172D4A"/>
                </a:solidFill>
                <a:latin typeface="BIZ UDPGothic"/>
                <a:ea typeface="BIZ UDPGothic"/>
                <a:cs typeface="BIZ UDPGothic"/>
              </a:defRPr>
            </a:pPr>
            <a:endParaRPr lang="ja-JP"/>
          </a:p>
        </c:txPr>
        <c:crossAx val="321898560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'Data'!$B$1</c:f>
              <c:strCache>
                <c:ptCount val="1"/>
                <c:pt idx="0">
                  <c:v>内訳</c:v>
                </c:pt>
              </c:strCache>
            </c:strRef>
          </c:tx>
          <c:spPr>
            <a:solidFill>
              <a:srgbClr val="245DA8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245DA8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E49-4756-9E72-A0BAAC0D584A}"/>
              </c:ext>
            </c:extLst>
          </c:dPt>
          <c:dPt>
            <c:idx val="1"/>
            <c:bubble3D val="0"/>
            <c:spPr>
              <a:solidFill>
                <a:srgbClr val="945F1D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3E49-4756-9E72-A0BAAC0D584A}"/>
              </c:ext>
            </c:extLst>
          </c:dPt>
          <c:dPt>
            <c:idx val="2"/>
            <c:bubble3D val="0"/>
            <c:spPr>
              <a:solidFill>
                <a:srgbClr val="8B5AC4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E49-4756-9E72-A0BAAC0D584A}"/>
              </c:ext>
            </c:extLst>
          </c:dPt>
          <c:dPt>
            <c:idx val="3"/>
            <c:bubble3D val="0"/>
            <c:spPr>
              <a:solidFill>
                <a:srgbClr val="C86219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3E49-4756-9E72-A0BAAC0D584A}"/>
              </c:ext>
            </c:extLst>
          </c:dPt>
          <c:dPt>
            <c:idx val="4"/>
            <c:bubble3D val="0"/>
            <c:spPr>
              <a:solidFill>
                <a:srgbClr val="278874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E49-4756-9E72-A0BAAC0D584A}"/>
              </c:ext>
            </c:extLst>
          </c:dPt>
          <c:dPt>
            <c:idx val="5"/>
            <c:bubble3D val="0"/>
            <c:spPr>
              <a:solidFill>
                <a:srgbClr val="C64168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3E49-4756-9E72-A0BAAC0D584A}"/>
              </c:ext>
            </c:extLst>
          </c:dPt>
          <c:dPt>
            <c:idx val="6"/>
            <c:bubble3D val="0"/>
            <c:spPr>
              <a:solidFill>
                <a:srgbClr val="667A25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E49-4756-9E72-A0BAAC0D584A}"/>
              </c:ext>
            </c:extLst>
          </c:dPt>
          <c:dPt>
            <c:idx val="7"/>
            <c:bubble3D val="0"/>
            <c:spPr>
              <a:solidFill>
                <a:srgbClr val="557DBC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3E49-4756-9E72-A0BAAC0D584A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3E49-4756-9E72-A0BAAC0D584A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3E49-4756-9E72-A0BAAC0D584A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3E49-4756-9E72-A0BAAC0D584A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6-3E49-4756-9E72-A0BAAC0D584A}"/>
                </c:ext>
              </c:extLst>
            </c:dLbl>
            <c:dLbl>
              <c:idx val="6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3E49-4756-9E72-A0BAAC0D584A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E49-4756-9E72-A0BAAC0D584A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'Data'!$A$2:$A$9</c:f>
              <c:strCache>
                <c:ptCount val="8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  <c:pt idx="3">
                  <c:v>移動</c:v>
                </c:pt>
                <c:pt idx="4">
                  <c:v>読書</c:v>
                </c:pt>
                <c:pt idx="5">
                  <c:v>食事</c:v>
                </c:pt>
                <c:pt idx="6">
                  <c:v>家事</c:v>
                </c:pt>
                <c:pt idx="7">
                  <c:v>その他</c:v>
                </c:pt>
              </c:strCache>
            </c:strRef>
          </c:cat>
          <c:val>
            <c:numRef>
              <c:f>'Data'!$B$2:$B$9</c:f>
              <c:numCache>
                <c:formatCode>General</c:formatCode>
                <c:ptCount val="8"/>
                <c:pt idx="0">
                  <c:v>24</c:v>
                </c:pt>
                <c:pt idx="1">
                  <c:v>18</c:v>
                </c:pt>
                <c:pt idx="2">
                  <c:v>12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49-4756-9E72-A0BAAC0D58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'Data'!$B$1</c:f>
              <c:strCache>
                <c:ptCount val="1"/>
                <c:pt idx="0">
                  <c:v>内訳</c:v>
                </c:pt>
              </c:strCache>
            </c:strRef>
          </c:tx>
          <c:spPr>
            <a:solidFill>
              <a:srgbClr val="245DA8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245DA8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D9A-4925-A9F9-4DE70F65446C}"/>
              </c:ext>
            </c:extLst>
          </c:dPt>
          <c:dPt>
            <c:idx val="1"/>
            <c:bubble3D val="0"/>
            <c:spPr>
              <a:solidFill>
                <a:srgbClr val="945F1D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CD9A-4925-A9F9-4DE70F65446C}"/>
              </c:ext>
            </c:extLst>
          </c:dPt>
          <c:dPt>
            <c:idx val="2"/>
            <c:bubble3D val="0"/>
            <c:spPr>
              <a:solidFill>
                <a:srgbClr val="8B5AC4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D9A-4925-A9F9-4DE70F65446C}"/>
              </c:ext>
            </c:extLst>
          </c:dPt>
          <c:dPt>
            <c:idx val="3"/>
            <c:bubble3D val="0"/>
            <c:spPr>
              <a:solidFill>
                <a:srgbClr val="C86219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CD9A-4925-A9F9-4DE70F65446C}"/>
              </c:ext>
            </c:extLst>
          </c:dPt>
          <c:dPt>
            <c:idx val="4"/>
            <c:bubble3D val="0"/>
            <c:spPr>
              <a:solidFill>
                <a:srgbClr val="278874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D9A-4925-A9F9-4DE70F65446C}"/>
              </c:ext>
            </c:extLst>
          </c:dPt>
          <c:dPt>
            <c:idx val="5"/>
            <c:bubble3D val="0"/>
            <c:spPr>
              <a:solidFill>
                <a:srgbClr val="C64168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CD9A-4925-A9F9-4DE70F65446C}"/>
              </c:ext>
            </c:extLst>
          </c:dPt>
          <c:dPt>
            <c:idx val="6"/>
            <c:bubble3D val="0"/>
            <c:spPr>
              <a:solidFill>
                <a:srgbClr val="667A25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D9A-4925-A9F9-4DE70F65446C}"/>
              </c:ext>
            </c:extLst>
          </c:dPt>
          <c:dPt>
            <c:idx val="7"/>
            <c:bubble3D val="0"/>
            <c:spPr>
              <a:solidFill>
                <a:srgbClr val="557DBC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CD9A-4925-A9F9-4DE70F65446C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CD9A-4925-A9F9-4DE70F65446C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CD9A-4925-A9F9-4DE70F65446C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CD9A-4925-A9F9-4DE70F65446C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6-CD9A-4925-A9F9-4DE70F65446C}"/>
                </c:ext>
              </c:extLst>
            </c:dLbl>
            <c:dLbl>
              <c:idx val="6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CD9A-4925-A9F9-4DE70F65446C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D9A-4925-A9F9-4DE70F65446C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'Data'!$A$2:$A$9</c:f>
              <c:strCache>
                <c:ptCount val="8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  <c:pt idx="3">
                  <c:v>移動</c:v>
                </c:pt>
                <c:pt idx="4">
                  <c:v>読書</c:v>
                </c:pt>
                <c:pt idx="5">
                  <c:v>食事</c:v>
                </c:pt>
                <c:pt idx="6">
                  <c:v>家事</c:v>
                </c:pt>
                <c:pt idx="7">
                  <c:v>その他</c:v>
                </c:pt>
              </c:strCache>
            </c:strRef>
          </c:cat>
          <c:val>
            <c:numRef>
              <c:f>'Data'!$B$2:$B$9</c:f>
              <c:numCache>
                <c:formatCode>General</c:formatCode>
                <c:ptCount val="8"/>
                <c:pt idx="0">
                  <c:v>24</c:v>
                </c:pt>
                <c:pt idx="1">
                  <c:v>18</c:v>
                </c:pt>
                <c:pt idx="2">
                  <c:v>12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6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9A-4925-A9F9-4DE70F6544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2"/>
      </c:doughnut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'Data'!$B$1</c:f>
              <c:strCache>
                <c:ptCount val="1"/>
                <c:pt idx="0">
                  <c:v>内訳</c:v>
                </c:pt>
              </c:strCache>
            </c:strRef>
          </c:tx>
          <c:spPr>
            <a:solidFill>
              <a:srgbClr val="245DA8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245DA8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C45-4CD6-95A9-14ECEF265D18}"/>
              </c:ext>
            </c:extLst>
          </c:dPt>
          <c:dPt>
            <c:idx val="1"/>
            <c:bubble3D val="0"/>
            <c:spPr>
              <a:solidFill>
                <a:srgbClr val="945F1D"/>
              </a:solidFill>
              <a:ln w="19050">
                <a:solidFill>
                  <a:srgbClr val="FFFFFF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3C45-4CD6-95A9-14ECEF265D18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FFFFFF"/>
                      </a:solidFill>
                      <a:latin typeface="BIZ UDPGothic"/>
                      <a:ea typeface="BIZ UDPGothic"/>
                      <a:cs typeface="BIZ UDPGothic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3C45-4CD6-95A9-14ECEF265D18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C45-4CD6-95A9-14ECEF265D18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BIZ UDPGothic"/>
                    <a:ea typeface="BIZ UDPGothic"/>
                    <a:cs typeface="BIZ UDPGothic"/>
                  </a:defRPr>
                </a:pPr>
                <a:endParaRPr lang="ja-JP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'Data'!$A$2:$A$3</c:f>
              <c:strCache>
                <c:ptCount val="2"/>
                <c:pt idx="0">
                  <c:v>使用</c:v>
                </c:pt>
                <c:pt idx="1">
                  <c:v>未使用</c:v>
                </c:pt>
              </c:strCache>
            </c:strRef>
          </c:cat>
          <c:val>
            <c:numRef>
              <c:f>'Data'!$B$2:$B$3</c:f>
              <c:numCache>
                <c:formatCode>General</c:formatCode>
                <c:ptCount val="2"/>
                <c:pt idx="0">
                  <c:v>100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45-4CD6-95A9-14ECEF265D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2"/>
      </c:doughnut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172D4A"/>
              </a:solidFill>
              <a:latin typeface="BIZ UDPGothic"/>
              <a:ea typeface="BIZ UDPGothic"/>
              <a:cs typeface="BIZ UDPGothic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172D4A"/>
          </a:solidFill>
          <a:latin typeface="BIZ UDPGothic"/>
          <a:ea typeface="BIZ UDPGothic"/>
          <a:cs typeface="BIZ UDPGothic"/>
        </a:defRPr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35645D-4919-4868-8BC6-C32527097FCF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1FB68-EECA-44BC-B18D-D22A9E1229C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8725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1FB68-EECA-44BC-B18D-D22A9E1229C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0303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1FB68-EECA-44BC-B18D-D22A9E1229C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32167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1FB68-EECA-44BC-B18D-D22A9E1229C6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8090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1FB68-EECA-44BC-B18D-D22A9E1229C6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7002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1FB68-EECA-44BC-B18D-D22A9E1229C6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6538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F1FB68-EECA-44BC-B18D-D22A9E1229C6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260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BA9A68-9724-23EB-3F51-7AD0FA8A6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AEF207D-CD23-FDEF-277C-A599C69B00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2BFFA1-0EE3-7561-7E52-4E76B0CC0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7A5A6-CA03-44DD-A834-55910BF1E9E8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3ABB53D-1909-991F-FF9F-3453998C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8DC8E9-F315-B0AC-5245-DABEF50BE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8B26-BFD4-4D02-BF9C-7693DBB085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088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880F0D-75D6-DA69-575A-056EBE20B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18C1214-1FA6-0993-34E9-A633DBC87A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D526D3-E3D9-45EB-7A42-E02769470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7A5A6-CA03-44DD-A834-55910BF1E9E8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D53ABD-9B53-1644-C77A-71BC19CC3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4C24A9-FAA1-CB85-B4E3-C3331298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8B26-BFD4-4D02-BF9C-7693DBB085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1701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DD6006-E5C2-5D40-ACD9-EBDC349B2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90A67A1-D76B-D254-50D8-CCE22D358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E72EE7-840B-93A8-95D9-31CFE7A87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7A5A6-CA03-44DD-A834-55910BF1E9E8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20E5CA-6C64-D9C9-2451-B9ED0464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286583-2D80-CD4B-247A-6E846014B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8B26-BFD4-4D02-BF9C-7693DBB085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2874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B1B728-3C9C-FAC6-04A2-5859C1D00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16154B-B9AF-5EA0-7DBB-12FCFAAA07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4B3C699-CC41-3A00-F973-B0447C5B6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58A7CA5-09CE-A754-4A31-F3950F472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7A5A6-CA03-44DD-A834-55910BF1E9E8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61713D5-7891-DF94-3D51-7380C976A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4431134-92A5-3BAC-A95E-FB1EB1F1D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8B26-BFD4-4D02-BF9C-7693DBB085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802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CDD449-1A22-C6B1-6FB8-2C44D1218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B5D106A-8518-1F32-A1AF-622529493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19723A5-3F45-C820-EEE7-8C9949C7F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53CE951-1F96-168E-6021-89CCAE030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3B070A1-14C0-7313-8113-3CA419AB2F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2D51CC4-3F2E-BEF6-F98D-342027BDA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7A5A6-CA03-44DD-A834-55910BF1E9E8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5F1317D-FBF7-5BD1-F6E7-61DB8634C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CCE65B8-43C5-240E-B8D4-4E4654382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8B26-BFD4-4D02-BF9C-7693DBB085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4967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AA9F4-BD8A-F806-CF22-9706462F9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F344801-DDC9-9DD9-D451-7AB88E250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7A5A6-CA03-44DD-A834-55910BF1E9E8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0EA1D92-4FDB-D2D9-9387-311CF3B04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01D81FD-493E-9F00-8AFE-C4C42961D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8B26-BFD4-4D02-BF9C-7693DBB085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3848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BD05C08-5497-46CE-F29F-5FA7C7BF8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7A5A6-CA03-44DD-A834-55910BF1E9E8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A2A8331-E2BC-EA01-9CAF-B8CE7463C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3EB9D43-E9DE-F872-375C-B1B7BF5A4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8B26-BFD4-4D02-BF9C-7693DBB085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9728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F89444-9399-0EC1-EDEC-4F72F2AC3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BB57B22-7690-2F4F-150E-22212B48A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FB91C96-CDAE-660B-E22A-2FB05EF9C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6A41EF-EA3F-0BA5-5238-8783909AB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7A5A6-CA03-44DD-A834-55910BF1E9E8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9E296A5-C9EB-B77E-36DD-A6A107F4E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6B2A32-4201-059E-80BA-F624914FF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8B26-BFD4-4D02-BF9C-7693DBB085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832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390835-0670-2AB0-0D98-29DCA7F37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18B1C46-1E65-D835-3372-ED17868CF94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79F3D4-5D23-EFA8-358B-8491797F8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FA5500-4290-4F6D-1B28-A2A9D4BE4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7A5A6-CA03-44DD-A834-55910BF1E9E8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9CB953F-FFF9-5EAF-6A7D-B87AFAE2E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F659261-F9D8-5046-E8C0-1E5AD707E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8B26-BFD4-4D02-BF9C-7693DBB085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5353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820329-A1F8-93A3-C146-2C4CE1975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CE3C124-066F-51FF-23E6-CB5D05B23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E49305-066B-2346-9196-9F3DD8757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7A5A6-CA03-44DD-A834-55910BF1E9E8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2071B1-3ABC-959D-4A90-BC069CB0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AAB573-8363-C94D-2BF4-EAACCDD77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8B26-BFD4-4D02-BF9C-7693DBB085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1983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CF7A5FE-BA67-D4F3-C83B-DDBD9A6149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B2D8442-B5A4-8487-8C1C-8B4379A29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A61EA6-BA43-ABDE-13FA-CDE6700A2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7A5A6-CA03-44DD-A834-55910BF1E9E8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F60714-1203-926F-DF65-A3DEB82D2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F238D3-42B2-52C7-3282-418B04DFD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A8B26-BFD4-4D02-BF9C-7693DBB085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3484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B50D080-C204-7D65-75B1-716D85D9D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B84065D-F892-634C-9821-D76F17384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20E0A1-32F7-AA0C-EB89-EFB7E910E7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F7A5A6-CA03-44DD-A834-55910BF1E9E8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959E52-96D8-3828-A4C0-897BB37C8B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CB8912-FCAC-299F-7B61-282C14B058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5A8B26-BFD4-4D02-BF9C-7693DBB0853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5168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C855E5E-AED3-1A12-DA00-9E727895B0B8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7E6E377-FD3A-099C-9F02-5BF0DF8CF30D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横棒グラフ：負・ゼロ・小数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59084B5-9288-C43B-5AA4-2B244DA266D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07497140-7169-1344-2405-27A0669875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0004767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99A9A9B7-775E-F943-6793-2BFA065A7091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84CC727-0E6D-B554-84AD-7D2228155A4D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 / 6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45860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DB77924-6B53-0F6D-6960-848C7111C94E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45AD107-692B-1873-065B-64872E551A9B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縦棒グラフ：負・ゼロ・小数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760D4B9-D972-5C8D-8231-5531D55AB658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AE0C1579-071C-F92B-D3E8-88EB018942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6043298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ABF0754-9F0A-E2E4-2048-955902B0D36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9DC4093-6155-7E0C-FEE2-2E48CBE2B02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2 / 6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67180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9F78172-9E7E-6711-4274-1E3934F0B4B5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991ED4F-79EB-9D17-F8F0-B0B996A2B3BE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折れ線グラフ：負・ゼロ・小数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BEE1712-248E-6C74-E3AB-F7E6DFA1F0D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3177A325-BAF1-EA03-1746-6A868D7028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026711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725D2402-63CE-CC4E-987C-ED960B1D2925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C356062-0B0D-4749-8A1E-28A43137287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3 / 6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7007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FF1B592-495C-FC9A-FDB5-AF315291B971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3F9C810-9541-AC61-ED8A-97CDB4515DCF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円グラフ：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8</a:t>
            </a:r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7D9AC0C-6C31-632C-4184-3B3BF10EF5F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1EE47D45-4CB0-83B2-20DD-FFAD462A50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9875497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8923DE2-8844-28DB-CB5C-F2D729DB15BA}"/>
              </a:ext>
            </a:extLst>
          </p:cNvPr>
          <p:cNvSpPr txBox="1"/>
          <p:nvPr/>
        </p:nvSpPr>
        <p:spPr>
          <a:xfrm>
            <a:off x="10464800" y="5740400"/>
            <a:ext cx="101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単位：時間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E22DBC6D-C0C0-3C9F-DC0B-326C50E92BF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3768772-01D1-02A5-EDEF-E5DC503CBD46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4 / 6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7560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9344EDB-E54B-820E-F006-136970622391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23A18A9-6786-AA13-215F-C72B7E0710E9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ドーナツグラフ：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8</a:t>
            </a:r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0E684FC-86E2-5879-8372-FEE50F2DDD2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6A03662E-6377-ADBE-4AF4-9F41B08CEB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7009451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18CAB53-82F6-DF73-D6B0-2D8CDB33FFD2}"/>
              </a:ext>
            </a:extLst>
          </p:cNvPr>
          <p:cNvSpPr txBox="1"/>
          <p:nvPr/>
        </p:nvSpPr>
        <p:spPr>
          <a:xfrm>
            <a:off x="10464800" y="5740400"/>
            <a:ext cx="101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単位：時間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7BB8156-73F7-B146-1F9B-4F600DDD9EE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4D23FC6-7395-EE4F-9EE3-9DDCB4EE927A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5 / 6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06179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72D785A-E591-10B8-7016-8557FC6F910C}"/>
              </a:ext>
            </a:extLst>
          </p:cNvPr>
          <p:cNvSpPr/>
          <p:nvPr/>
        </p:nvSpPr>
        <p:spPr>
          <a:xfrm>
            <a:off x="0" y="0"/>
            <a:ext cx="12192000" cy="1714500"/>
          </a:xfrm>
          <a:prstGeom prst="rect">
            <a:avLst/>
          </a:prstGeom>
          <a:solidFill>
            <a:srgbClr val="EAF0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4A2FC94-35B3-D2A8-BB54-B941107DFE89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ドーナツ：</a:t>
            </a:r>
            <a:r>
              <a:rPr kumimoji="1" lang="en-US" altLang="ja-JP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1</a:t>
            </a:r>
            <a:r>
              <a:rPr kumimoji="1" lang="ja-JP" altLang="en-US" sz="3400" b="1">
                <a:solidFill>
                  <a:srgbClr val="172D4A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項目とゼロの項目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4679E29-0F53-D743-E868-46D30C9D6E8E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F3C7445C-AEDA-6A39-A582-45E6888D9C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2418638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EADDB60-C92B-1FA5-0DB6-5F4B3DF1698B}"/>
              </a:ext>
            </a:extLst>
          </p:cNvPr>
          <p:cNvSpPr txBox="1"/>
          <p:nvPr/>
        </p:nvSpPr>
        <p:spPr>
          <a:xfrm>
            <a:off x="10464800" y="5740400"/>
            <a:ext cx="1016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ja-JP" altLang="en-US" sz="12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単位：件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CF31DB7-1D7E-904F-9FEA-B20A4D66D7B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AF0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411FDE3-8458-8428-BFD0-11267933D42A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526277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6 / 6</a:t>
            </a:r>
            <a:endParaRPr kumimoji="1" lang="ja-JP" altLang="en-US" sz="1000">
              <a:solidFill>
                <a:srgbClr val="526277"/>
              </a:solidFill>
              <a:latin typeface="BIZ UDPGothic" panose="020B0400000000000000" pitchFamily="50" charset="-128"/>
              <a:ea typeface="BIZ UDP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2029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172D4A"/>
      </a:dk1>
      <a:lt1>
        <a:sysClr val="window" lastClr="FFFFFF"/>
      </a:lt1>
      <a:dk2>
        <a:srgbClr val="0E2841"/>
      </a:dk2>
      <a:lt2>
        <a:srgbClr val="E8E8E8"/>
      </a:lt2>
      <a:accent1>
        <a:srgbClr val="245DA8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</Words>
  <Application>Microsoft Office PowerPoint</Application>
  <PresentationFormat>ユーザー設定</PresentationFormat>
  <Paragraphs>30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BIZ UDPGothic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2026-10-02T16:00:55Z</dcterms:created>
  <dcterms:modified xsi:type="dcterms:W3CDTF">2026-10-02T16:00:55Z</dcterms:modified>
</cp:coreProperties>
</file>