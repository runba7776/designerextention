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212079-EBB3-403D-961E-B3C9BA4862E5}" type="datetimeFigureOut">
              <a:rPr kumimoji="1" lang="ja-JP" altLang="en-US" smtClean="0"/>
              <a:t>2026/10/1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A06EA9-68B5-4554-9D1E-258C0DB7D8CF}" type="slidenum">
              <a:rPr kumimoji="1" lang="ja-JP" altLang="en-US" smtClean="0"/>
              <a:t>‹#›</a:t>
            </a:fld>
            <a:endParaRPr kumimoji="1" lang="ja-JP" altLang="en-US"/>
          </a:p>
        </p:txBody>
      </p:sp>
    </p:spTree>
    <p:extLst>
      <p:ext uri="{BB962C8B-B14F-4D97-AF65-F5344CB8AC3E}">
        <p14:creationId xmlns:p14="http://schemas.microsoft.com/office/powerpoint/2010/main" val="9168655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トヨタ自動車株式会社</a:t>
            </a:r>
            <a:r>
              <a:rPr kumimoji="1" lang="en-US" altLang="ja-JP"/>
              <a:t>(</a:t>
            </a:r>
            <a:r>
              <a:rPr kumimoji="1" lang="ja-JP" altLang="en-US"/>
              <a:t>証券コード</a:t>
            </a:r>
            <a:r>
              <a:rPr kumimoji="1" lang="en-US" altLang="ja-JP"/>
              <a:t>7203)</a:t>
            </a:r>
            <a:r>
              <a:rPr kumimoji="1" lang="ja-JP" altLang="en-US"/>
              <a:t>の第</a:t>
            </a:r>
            <a:r>
              <a:rPr kumimoji="1" lang="en-US" altLang="ja-JP"/>
              <a:t>1</a:t>
            </a:r>
            <a:r>
              <a:rPr kumimoji="1" lang="ja-JP" altLang="en-US"/>
              <a:t>四半期決算短信に基づく要旨。数値は百万円未満四捨五入の開示値をそのまま使用。日野自動車および連結子会社</a:t>
            </a:r>
            <a:r>
              <a:rPr kumimoji="1" lang="en-US" altLang="ja-JP"/>
              <a:t>70</a:t>
            </a:r>
            <a:r>
              <a:rPr kumimoji="1" lang="ja-JP" altLang="en-US"/>
              <a:t>社が当第</a:t>
            </a:r>
            <a:r>
              <a:rPr kumimoji="1" lang="en-US" altLang="ja-JP"/>
              <a:t>1</a:t>
            </a:r>
            <a:r>
              <a:rPr kumimoji="1" lang="ja-JP" altLang="en-US"/>
              <a:t>四半期より連結範囲から除外されており、前年同期との比較には留意が必要。
出典</a:t>
            </a:r>
            <a:r>
              <a:rPr kumimoji="1" lang="en-US" altLang="ja-JP"/>
              <a:t>:
2027_1q_summary_jp.pdf p.2
2027</a:t>
            </a:r>
            <a:r>
              <a:rPr kumimoji="1" lang="ja-JP" altLang="en-US"/>
              <a:t>年３月期第１四半期決算短信</a:t>
            </a:r>
            <a:r>
              <a:rPr kumimoji="1" lang="en-US" altLang="ja-JP"/>
              <a:t>〔</a:t>
            </a:r>
            <a:r>
              <a:rPr kumimoji="1" lang="ja-JP" altLang="en-US"/>
              <a:t>ＩＦＲＳ</a:t>
            </a:r>
            <a:r>
              <a:rPr kumimoji="1" lang="en-US" altLang="ja-JP"/>
              <a:t>〕</a:t>
            </a:r>
            <a:r>
              <a:rPr kumimoji="1" lang="ja-JP" altLang="en-US"/>
              <a:t>（連結）</a:t>
            </a:r>
            <a:r>
              <a:rPr kumimoji="1" lang="en-US" altLang="ja-JP"/>
              <a:t>2026</a:t>
            </a:r>
            <a:r>
              <a:rPr kumimoji="1" lang="ja-JP" altLang="en-US"/>
              <a:t>年８月４日
内容</a:t>
            </a:r>
            <a:r>
              <a:rPr kumimoji="1" lang="en-US" altLang="ja-JP"/>
              <a:t>:
2027</a:t>
            </a:r>
            <a:r>
              <a:rPr kumimoji="1" lang="ja-JP" altLang="en-US"/>
              <a:t>年</a:t>
            </a:r>
            <a:r>
              <a:rPr kumimoji="1" lang="en-US" altLang="ja-JP"/>
              <a:t>3</a:t>
            </a:r>
            <a:r>
              <a:rPr kumimoji="1" lang="ja-JP" altLang="en-US"/>
              <a:t>月期 第</a:t>
            </a:r>
            <a:r>
              <a:rPr kumimoji="1" lang="en-US" altLang="ja-JP"/>
              <a:t>1</a:t>
            </a:r>
            <a:r>
              <a:rPr kumimoji="1" lang="ja-JP" altLang="en-US"/>
              <a:t>四半期 決算要旨</a:t>
            </a:r>
            <a:r>
              <a:rPr kumimoji="1" lang="en-US" altLang="ja-JP"/>
              <a:t>(IFRS</a:t>
            </a:r>
            <a:r>
              <a:rPr kumimoji="1" lang="ja-JP" altLang="en-US"/>
              <a:t>連結</a:t>
            </a:r>
            <a:r>
              <a:rPr kumimoji="1" lang="en-US" altLang="ja-JP"/>
              <a:t>)
</a:t>
            </a:r>
            <a:r>
              <a:rPr kumimoji="1" lang="ja-JP" altLang="en-US"/>
              <a:t>対象期間</a:t>
            </a:r>
            <a:r>
              <a:rPr kumimoji="1" lang="en-US" altLang="ja-JP"/>
              <a:t>:2026</a:t>
            </a:r>
            <a:r>
              <a:rPr kumimoji="1" lang="ja-JP" altLang="en-US"/>
              <a:t>年</a:t>
            </a:r>
            <a:r>
              <a:rPr kumimoji="1" lang="en-US" altLang="ja-JP"/>
              <a:t>4</a:t>
            </a:r>
            <a:r>
              <a:rPr kumimoji="1" lang="ja-JP" altLang="en-US"/>
              <a:t>月</a:t>
            </a:r>
            <a:r>
              <a:rPr kumimoji="1" lang="en-US" altLang="ja-JP"/>
              <a:t>1</a:t>
            </a:r>
            <a:r>
              <a:rPr kumimoji="1" lang="ja-JP" altLang="en-US"/>
              <a:t>日</a:t>
            </a:r>
            <a:r>
              <a:rPr kumimoji="1" lang="en-US" altLang="ja-JP"/>
              <a:t>〜2026</a:t>
            </a:r>
            <a:r>
              <a:rPr kumimoji="1" lang="ja-JP" altLang="en-US"/>
              <a:t>年</a:t>
            </a:r>
            <a:r>
              <a:rPr kumimoji="1" lang="en-US" altLang="ja-JP"/>
              <a:t>6</a:t>
            </a:r>
            <a:r>
              <a:rPr kumimoji="1" lang="ja-JP" altLang="en-US"/>
              <a:t>月</a:t>
            </a:r>
            <a:r>
              <a:rPr kumimoji="1" lang="en-US" altLang="ja-JP"/>
              <a:t>30</a:t>
            </a:r>
            <a:r>
              <a:rPr kumimoji="1" lang="ja-JP" altLang="en-US"/>
              <a:t>日。</a:t>
            </a:r>
            <a:r>
              <a:rPr kumimoji="1" lang="en-US" altLang="ja-JP"/>
              <a:t>2026</a:t>
            </a:r>
            <a:r>
              <a:rPr kumimoji="1" lang="ja-JP" altLang="en-US"/>
              <a:t>年</a:t>
            </a:r>
            <a:r>
              <a:rPr kumimoji="1" lang="en-US" altLang="ja-JP"/>
              <a:t>8</a:t>
            </a:r>
            <a:r>
              <a:rPr kumimoji="1" lang="ja-JP" altLang="en-US"/>
              <a:t>月</a:t>
            </a:r>
            <a:r>
              <a:rPr kumimoji="1" lang="en-US" altLang="ja-JP"/>
              <a:t>4</a:t>
            </a:r>
            <a:r>
              <a:rPr kumimoji="1" lang="ja-JP" altLang="en-US"/>
              <a:t>日公表の決算短信をもとに作成。
対象期間 </a:t>
            </a:r>
            <a:r>
              <a:rPr kumimoji="1" lang="en-US" altLang="ja-JP"/>
              <a:t>— 2026</a:t>
            </a:r>
            <a:r>
              <a:rPr kumimoji="1" lang="ja-JP" altLang="en-US"/>
              <a:t>年</a:t>
            </a:r>
            <a:r>
              <a:rPr kumimoji="1" lang="en-US" altLang="ja-JP"/>
              <a:t>4</a:t>
            </a:r>
            <a:r>
              <a:rPr kumimoji="1" lang="ja-JP" altLang="en-US"/>
              <a:t>月</a:t>
            </a:r>
            <a:r>
              <a:rPr kumimoji="1" lang="en-US" altLang="ja-JP"/>
              <a:t>1</a:t>
            </a:r>
            <a:r>
              <a:rPr kumimoji="1" lang="ja-JP" altLang="en-US"/>
              <a:t>日</a:t>
            </a:r>
            <a:r>
              <a:rPr kumimoji="1" lang="en-US" altLang="ja-JP"/>
              <a:t>〜2026</a:t>
            </a:r>
            <a:r>
              <a:rPr kumimoji="1" lang="ja-JP" altLang="en-US"/>
              <a:t>年</a:t>
            </a:r>
            <a:r>
              <a:rPr kumimoji="1" lang="en-US" altLang="ja-JP"/>
              <a:t>6</a:t>
            </a:r>
            <a:r>
              <a:rPr kumimoji="1" lang="ja-JP" altLang="en-US"/>
              <a:t>月</a:t>
            </a:r>
            <a:r>
              <a:rPr kumimoji="1" lang="en-US" altLang="ja-JP"/>
              <a:t>30</a:t>
            </a:r>
            <a:r>
              <a:rPr kumimoji="1" lang="ja-JP" altLang="en-US"/>
              <a:t>日
開示区分 </a:t>
            </a:r>
            <a:r>
              <a:rPr kumimoji="1" lang="en-US" altLang="ja-JP"/>
              <a:t>— IFRS</a:t>
            </a:r>
            <a:r>
              <a:rPr kumimoji="1" lang="ja-JP" altLang="en-US"/>
              <a:t>連結決算短信</a:t>
            </a:r>
            <a:r>
              <a:rPr kumimoji="1" lang="en-US" altLang="ja-JP"/>
              <a:t>(2026</a:t>
            </a:r>
            <a:r>
              <a:rPr kumimoji="1" lang="ja-JP" altLang="en-US"/>
              <a:t>年</a:t>
            </a:r>
            <a:r>
              <a:rPr kumimoji="1" lang="en-US" altLang="ja-JP"/>
              <a:t>8</a:t>
            </a:r>
            <a:r>
              <a:rPr kumimoji="1" lang="ja-JP" altLang="en-US"/>
              <a:t>月</a:t>
            </a:r>
            <a:r>
              <a:rPr kumimoji="1" lang="en-US" altLang="ja-JP"/>
              <a:t>4</a:t>
            </a:r>
            <a:r>
              <a:rPr kumimoji="1" lang="ja-JP" altLang="en-US"/>
              <a:t>日公表</a:t>
            </a:r>
            <a:r>
              <a:rPr kumimoji="1" lang="en-US" altLang="ja-JP"/>
              <a:t>)
</a:t>
            </a:r>
            <a:r>
              <a:rPr kumimoji="1" lang="ja-JP" altLang="en-US"/>
              <a:t>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p.2
</a:t>
            </a:r>
            <a:r>
              <a:rPr kumimoji="1" lang="ja-JP" altLang="en-US"/>
              <a:t>内容</a:t>
            </a:r>
            <a:r>
              <a:rPr kumimoji="1" lang="en-US" altLang="ja-JP"/>
              <a:t>:
IFRS</a:t>
            </a:r>
            <a:r>
              <a:rPr kumimoji="1" lang="ja-JP" altLang="en-US"/>
              <a:t>連結 </a:t>
            </a:r>
            <a:r>
              <a:rPr kumimoji="1" lang="en-US" altLang="ja-JP"/>
              <a:t>/ </a:t>
            </a:r>
            <a:r>
              <a:rPr kumimoji="1" lang="ja-JP" altLang="en-US"/>
              <a:t>添付資料の配置改善例</a:t>
            </a:r>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1</a:t>
            </a:fld>
            <a:endParaRPr kumimoji="1" lang="ja-JP" altLang="en-US"/>
          </a:p>
        </p:txBody>
      </p:sp>
    </p:spTree>
    <p:extLst>
      <p:ext uri="{BB962C8B-B14F-4D97-AF65-F5344CB8AC3E}">
        <p14:creationId xmlns:p14="http://schemas.microsoft.com/office/powerpoint/2010/main" val="2589290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販売台数は日本</a:t>
            </a:r>
            <a:r>
              <a:rPr kumimoji="1" lang="en-US" altLang="ja-JP"/>
              <a:t>+8.9%</a:t>
            </a:r>
            <a:r>
              <a:rPr kumimoji="1" lang="ja-JP" altLang="en-US"/>
              <a:t>、海外△</a:t>
            </a:r>
            <a:r>
              <a:rPr kumimoji="1" lang="en-US" altLang="ja-JP"/>
              <a:t>3.1%</a:t>
            </a:r>
            <a:r>
              <a:rPr kumimoji="1" lang="ja-JP" altLang="en-US"/>
              <a:t>で合計△</a:t>
            </a:r>
            <a:r>
              <a:rPr kumimoji="1" lang="en-US" altLang="ja-JP"/>
              <a:t>0.7%(239</a:t>
            </a:r>
            <a:r>
              <a:rPr kumimoji="1" lang="ja-JP" altLang="en-US"/>
              <a:t>万</a:t>
            </a:r>
            <a:r>
              <a:rPr kumimoji="1" lang="en-US" altLang="ja-JP"/>
              <a:t>5</a:t>
            </a:r>
            <a:r>
              <a:rPr kumimoji="1" lang="ja-JP" altLang="en-US"/>
              <a:t>千台</a:t>
            </a:r>
            <a:r>
              <a:rPr kumimoji="1" lang="en-US" altLang="ja-JP"/>
              <a:t>)</a:t>
            </a:r>
            <a:r>
              <a:rPr kumimoji="1" lang="ja-JP" altLang="en-US"/>
              <a:t>。営業利益の増減要因は次スライドで詳述。基本的・希薄化後ともに</a:t>
            </a:r>
            <a:r>
              <a:rPr kumimoji="1" lang="en-US" altLang="ja-JP"/>
              <a:t>1</a:t>
            </a:r>
            <a:r>
              <a:rPr kumimoji="1" lang="ja-JP" altLang="en-US"/>
              <a:t>株当たり利益は</a:t>
            </a:r>
            <a:r>
              <a:rPr kumimoji="1" lang="en-US" altLang="ja-JP"/>
              <a:t>120.69</a:t>
            </a:r>
            <a:r>
              <a:rPr kumimoji="1" lang="ja-JP" altLang="en-US"/>
              <a:t>円。
出典</a:t>
            </a:r>
            <a:r>
              <a:rPr kumimoji="1" lang="en-US" altLang="ja-JP"/>
              <a:t>:
2027_1q_summary_jp.pdf p.5
</a:t>
            </a:r>
            <a:r>
              <a:rPr kumimoji="1" lang="ja-JP" altLang="en-US"/>
              <a:t>営業収益 </a:t>
            </a:r>
            <a:r>
              <a:rPr kumimoji="1" lang="en-US" altLang="ja-JP"/>
              <a:t>13</a:t>
            </a:r>
            <a:r>
              <a:rPr kumimoji="1" lang="ja-JP" altLang="en-US"/>
              <a:t>兆</a:t>
            </a:r>
            <a:r>
              <a:rPr kumimoji="1" lang="en-US" altLang="ja-JP"/>
              <a:t>5,254</a:t>
            </a:r>
            <a:r>
              <a:rPr kumimoji="1" lang="ja-JP" altLang="en-US"/>
              <a:t>億円
</a:t>
            </a:r>
            <a:r>
              <a:rPr kumimoji="1" lang="en-US" altLang="ja-JP"/>
              <a:t>2027_1q_summary_jp.pdf p.2
1 , 0 6 3 , 4 7 3 △ 8 . 8
</a:t>
            </a:r>
            <a:r>
              <a:rPr kumimoji="1" lang="ja-JP" altLang="en-US"/>
              <a:t>内容</a:t>
            </a:r>
            <a:r>
              <a:rPr kumimoji="1" lang="en-US" altLang="ja-JP"/>
              <a:t>:
</a:t>
            </a:r>
            <a:r>
              <a:rPr kumimoji="1" lang="ja-JP" altLang="en-US"/>
              <a:t>税引前・当期利益は大幅増益、一方で営業利益は前年同期比で減益
営業外の収益増加</a:t>
            </a:r>
            <a:r>
              <a:rPr kumimoji="1" lang="en-US" altLang="ja-JP"/>
              <a:t>(</a:t>
            </a:r>
            <a:r>
              <a:rPr kumimoji="1" lang="ja-JP" altLang="en-US"/>
              <a:t>為替差損益の改善等</a:t>
            </a:r>
            <a:r>
              <a:rPr kumimoji="1" lang="en-US" altLang="ja-JP"/>
              <a:t>)</a:t>
            </a:r>
            <a:r>
              <a:rPr kumimoji="1" lang="ja-JP" altLang="en-US"/>
              <a:t>が牽引し、税引前利益・親会社帰属利益は大きく伸長した。
営業収益 </a:t>
            </a:r>
            <a:r>
              <a:rPr kumimoji="1" lang="en-US" altLang="ja-JP"/>
              <a:t>— 13</a:t>
            </a:r>
            <a:r>
              <a:rPr kumimoji="1" lang="ja-JP" altLang="en-US"/>
              <a:t>兆</a:t>
            </a:r>
            <a:r>
              <a:rPr kumimoji="1" lang="en-US" altLang="ja-JP"/>
              <a:t>5,254</a:t>
            </a:r>
            <a:r>
              <a:rPr kumimoji="1" lang="ja-JP" altLang="en-US"/>
              <a:t>億円 </a:t>
            </a:r>
            <a:r>
              <a:rPr kumimoji="1" lang="en-US" altLang="ja-JP"/>
              <a:t>— </a:t>
            </a:r>
            <a:r>
              <a:rPr kumimoji="1" lang="ja-JP" altLang="en-US"/>
              <a:t>前年同期比</a:t>
            </a:r>
            <a:r>
              <a:rPr kumimoji="1" lang="en-US" altLang="ja-JP"/>
              <a:t>+10.4%
</a:t>
            </a:r>
            <a:r>
              <a:rPr kumimoji="1" lang="ja-JP" altLang="en-US"/>
              <a:t>営業利益 </a:t>
            </a:r>
            <a:r>
              <a:rPr kumimoji="1" lang="en-US" altLang="ja-JP"/>
              <a:t>— 1</a:t>
            </a:r>
            <a:r>
              <a:rPr kumimoji="1" lang="ja-JP" altLang="en-US"/>
              <a:t>兆</a:t>
            </a:r>
            <a:r>
              <a:rPr kumimoji="1" lang="en-US" altLang="ja-JP"/>
              <a:t>634</a:t>
            </a:r>
            <a:r>
              <a:rPr kumimoji="1" lang="ja-JP" altLang="en-US"/>
              <a:t>億円 </a:t>
            </a:r>
            <a:r>
              <a:rPr kumimoji="1" lang="en-US" altLang="ja-JP"/>
              <a:t>— </a:t>
            </a:r>
            <a:r>
              <a:rPr kumimoji="1" lang="ja-JP" altLang="en-US"/>
              <a:t>前年同期比△</a:t>
            </a:r>
            <a:r>
              <a:rPr kumimoji="1" lang="en-US" altLang="ja-JP"/>
              <a:t>8.8%
</a:t>
            </a:r>
            <a:r>
              <a:rPr kumimoji="1" lang="ja-JP" altLang="en-US"/>
              <a:t>税引前四半期利益 </a:t>
            </a:r>
            <a:r>
              <a:rPr kumimoji="1" lang="en-US" altLang="ja-JP"/>
              <a:t>— 1</a:t>
            </a:r>
            <a:r>
              <a:rPr kumimoji="1" lang="ja-JP" altLang="en-US"/>
              <a:t>兆</a:t>
            </a:r>
            <a:r>
              <a:rPr kumimoji="1" lang="en-US" altLang="ja-JP"/>
              <a:t>9,638</a:t>
            </a:r>
            <a:r>
              <a:rPr kumimoji="1" lang="ja-JP" altLang="en-US"/>
              <a:t>億円 </a:t>
            </a:r>
            <a:r>
              <a:rPr kumimoji="1" lang="en-US" altLang="ja-JP"/>
              <a:t>— </a:t>
            </a:r>
            <a:r>
              <a:rPr kumimoji="1" lang="ja-JP" altLang="en-US"/>
              <a:t>前年同期比</a:t>
            </a:r>
            <a:r>
              <a:rPr kumimoji="1" lang="en-US" altLang="ja-JP"/>
              <a:t>+56.8%(</a:t>
            </a:r>
            <a:r>
              <a:rPr kumimoji="1" lang="ja-JP" altLang="en-US"/>
              <a:t>営業外収益増</a:t>
            </a:r>
            <a:r>
              <a:rPr kumimoji="1" lang="en-US" altLang="ja-JP"/>
              <a:t>)
</a:t>
            </a:r>
            <a:r>
              <a:rPr kumimoji="1" lang="ja-JP" altLang="en-US"/>
              <a:t>親会社帰属四半期利益 </a:t>
            </a:r>
            <a:r>
              <a:rPr kumimoji="1" lang="en-US" altLang="ja-JP"/>
              <a:t>— 1</a:t>
            </a:r>
            <a:r>
              <a:rPr kumimoji="1" lang="ja-JP" altLang="en-US"/>
              <a:t>兆</a:t>
            </a:r>
            <a:r>
              <a:rPr kumimoji="1" lang="en-US" altLang="ja-JP"/>
              <a:t>4,770</a:t>
            </a:r>
            <a:r>
              <a:rPr kumimoji="1" lang="ja-JP" altLang="en-US"/>
              <a:t>億円 </a:t>
            </a:r>
            <a:r>
              <a:rPr kumimoji="1" lang="en-US" altLang="ja-JP"/>
              <a:t>— </a:t>
            </a:r>
            <a:r>
              <a:rPr kumimoji="1" lang="ja-JP" altLang="en-US"/>
              <a:t>前年同期比</a:t>
            </a:r>
            <a:r>
              <a:rPr kumimoji="1" lang="en-US" altLang="ja-JP"/>
              <a:t>+75.6%</a:t>
            </a:r>
            <a:r>
              <a:rPr kumimoji="1" lang="ja-JP" altLang="en-US"/>
              <a:t>、</a:t>
            </a:r>
            <a:r>
              <a:rPr kumimoji="1" lang="en-US" altLang="ja-JP"/>
              <a:t>EPS120.69</a:t>
            </a:r>
            <a:r>
              <a:rPr kumimoji="1" lang="ja-JP" altLang="en-US"/>
              <a:t>円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p.2
</a:t>
            </a:r>
            <a:r>
              <a:rPr kumimoji="1" lang="ja-JP" altLang="en-US"/>
              <a:t>内容</a:t>
            </a:r>
            <a:r>
              <a:rPr kumimoji="1" lang="en-US" altLang="ja-JP"/>
              <a:t>:
</a:t>
            </a:r>
            <a:r>
              <a:rPr kumimoji="1" lang="ja-JP" altLang="en-US"/>
              <a:t>営業収益 </a:t>
            </a:r>
            <a:r>
              <a:rPr kumimoji="1" lang="en-US" altLang="ja-JP"/>
              <a:t>— 13</a:t>
            </a:r>
            <a:r>
              <a:rPr kumimoji="1" lang="ja-JP" altLang="en-US"/>
              <a:t>兆</a:t>
            </a:r>
            <a:r>
              <a:rPr kumimoji="1" lang="en-US" altLang="ja-JP"/>
              <a:t>5,254</a:t>
            </a:r>
            <a:r>
              <a:rPr kumimoji="1" lang="ja-JP" altLang="en-US"/>
              <a:t>億円 </a:t>
            </a:r>
            <a:r>
              <a:rPr kumimoji="1" lang="en-US" altLang="ja-JP"/>
              <a:t>— </a:t>
            </a:r>
            <a:r>
              <a:rPr kumimoji="1" lang="ja-JP" altLang="en-US"/>
              <a:t>前年同期比</a:t>
            </a:r>
            <a:r>
              <a:rPr kumimoji="1" lang="en-US" altLang="ja-JP"/>
              <a:t>+10.4%
</a:t>
            </a:r>
            <a:r>
              <a:rPr kumimoji="1" lang="ja-JP" altLang="en-US"/>
              <a:t>営業利益 </a:t>
            </a:r>
            <a:r>
              <a:rPr kumimoji="1" lang="en-US" altLang="ja-JP"/>
              <a:t>— 1</a:t>
            </a:r>
            <a:r>
              <a:rPr kumimoji="1" lang="ja-JP" altLang="en-US"/>
              <a:t>兆</a:t>
            </a:r>
            <a:r>
              <a:rPr kumimoji="1" lang="en-US" altLang="ja-JP"/>
              <a:t>634</a:t>
            </a:r>
            <a:r>
              <a:rPr kumimoji="1" lang="ja-JP" altLang="en-US"/>
              <a:t>億円 </a:t>
            </a:r>
            <a:r>
              <a:rPr kumimoji="1" lang="en-US" altLang="ja-JP"/>
              <a:t>— </a:t>
            </a:r>
            <a:r>
              <a:rPr kumimoji="1" lang="ja-JP" altLang="en-US"/>
              <a:t>前年同期比△</a:t>
            </a:r>
            <a:r>
              <a:rPr kumimoji="1" lang="en-US" altLang="ja-JP"/>
              <a:t>8.8%
</a:t>
            </a:r>
            <a:r>
              <a:rPr kumimoji="1" lang="ja-JP" altLang="en-US"/>
              <a:t>税引前四半期利益 </a:t>
            </a:r>
            <a:r>
              <a:rPr kumimoji="1" lang="en-US" altLang="ja-JP"/>
              <a:t>— 1</a:t>
            </a:r>
            <a:r>
              <a:rPr kumimoji="1" lang="ja-JP" altLang="en-US"/>
              <a:t>兆</a:t>
            </a:r>
            <a:r>
              <a:rPr kumimoji="1" lang="en-US" altLang="ja-JP"/>
              <a:t>9,638</a:t>
            </a:r>
            <a:r>
              <a:rPr kumimoji="1" lang="ja-JP" altLang="en-US"/>
              <a:t>億円 </a:t>
            </a:r>
            <a:r>
              <a:rPr kumimoji="1" lang="en-US" altLang="ja-JP"/>
              <a:t>— </a:t>
            </a:r>
            <a:r>
              <a:rPr kumimoji="1" lang="ja-JP" altLang="en-US"/>
              <a:t>前年同期比</a:t>
            </a:r>
            <a:r>
              <a:rPr kumimoji="1" lang="en-US" altLang="ja-JP"/>
              <a:t>+56.8%</a:t>
            </a:r>
            <a:r>
              <a:rPr kumimoji="1" lang="ja-JP" altLang="en-US"/>
              <a:t>（営業外収益増）
親会社帰属四半期利益 </a:t>
            </a:r>
            <a:r>
              <a:rPr kumimoji="1" lang="en-US" altLang="ja-JP"/>
              <a:t>— 1</a:t>
            </a:r>
            <a:r>
              <a:rPr kumimoji="1" lang="ja-JP" altLang="en-US"/>
              <a:t>兆</a:t>
            </a:r>
            <a:r>
              <a:rPr kumimoji="1" lang="en-US" altLang="ja-JP"/>
              <a:t>4,770</a:t>
            </a:r>
            <a:r>
              <a:rPr kumimoji="1" lang="ja-JP" altLang="en-US"/>
              <a:t>億円 </a:t>
            </a:r>
            <a:r>
              <a:rPr kumimoji="1" lang="en-US" altLang="ja-JP"/>
              <a:t>— </a:t>
            </a:r>
            <a:r>
              <a:rPr kumimoji="1" lang="ja-JP" altLang="en-US"/>
              <a:t>前年同期比</a:t>
            </a:r>
            <a:r>
              <a:rPr kumimoji="1" lang="en-US" altLang="ja-JP"/>
              <a:t>+75.6%</a:t>
            </a:r>
            <a:r>
              <a:rPr kumimoji="1" lang="ja-JP" altLang="en-US"/>
              <a:t>、</a:t>
            </a:r>
            <a:r>
              <a:rPr kumimoji="1" lang="en-US" altLang="ja-JP"/>
              <a:t>EPS120.69</a:t>
            </a:r>
            <a:r>
              <a:rPr kumimoji="1" lang="ja-JP" altLang="en-US"/>
              <a:t>円</a:t>
            </a:r>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2</a:t>
            </a:fld>
            <a:endParaRPr kumimoji="1" lang="ja-JP" altLang="en-US"/>
          </a:p>
        </p:txBody>
      </p:sp>
    </p:spTree>
    <p:extLst>
      <p:ext uri="{BB962C8B-B14F-4D97-AF65-F5344CB8AC3E}">
        <p14:creationId xmlns:p14="http://schemas.microsoft.com/office/powerpoint/2010/main" val="1710042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資料に明記された増減要因のみを掲載</a:t>
            </a:r>
            <a:r>
              <a:rPr kumimoji="1" lang="en-US" altLang="ja-JP"/>
              <a:t>(</a:t>
            </a:r>
            <a:r>
              <a:rPr kumimoji="1" lang="ja-JP" altLang="en-US"/>
              <a:t>営業面の努力</a:t>
            </a:r>
            <a:r>
              <a:rPr kumimoji="1" lang="en-US" altLang="ja-JP"/>
              <a:t>+700</a:t>
            </a:r>
            <a:r>
              <a:rPr kumimoji="1" lang="ja-JP" altLang="en-US"/>
              <a:t>億円は紙面の都合で割愛、詳細は原本</a:t>
            </a:r>
            <a:r>
              <a:rPr kumimoji="1" lang="en-US" altLang="ja-JP"/>
              <a:t>p.5</a:t>
            </a:r>
            <a:r>
              <a:rPr kumimoji="1" lang="ja-JP" altLang="en-US"/>
              <a:t>・</a:t>
            </a:r>
            <a:r>
              <a:rPr kumimoji="1" lang="en-US" altLang="ja-JP"/>
              <a:t>p.19</a:t>
            </a:r>
            <a:r>
              <a:rPr kumimoji="1" lang="ja-JP" altLang="en-US"/>
              <a:t>参照</a:t>
            </a:r>
            <a:r>
              <a:rPr kumimoji="1" lang="en-US" altLang="ja-JP"/>
              <a:t>)</a:t>
            </a:r>
            <a:r>
              <a:rPr kumimoji="1" lang="ja-JP" altLang="en-US"/>
              <a:t>。要因は会社が開示した区分であり、因果関係の推定や新たな集計は行っていない。
出典</a:t>
            </a:r>
            <a:r>
              <a:rPr kumimoji="1" lang="en-US" altLang="ja-JP"/>
              <a:t>:
2027_1q_summary_jp.pdf p.5
</a:t>
            </a:r>
            <a:r>
              <a:rPr kumimoji="1" lang="ja-JP" altLang="en-US"/>
              <a:t>為替変動の影響 </a:t>
            </a:r>
            <a:r>
              <a:rPr kumimoji="1" lang="en-US" altLang="ja-JP"/>
              <a:t>3,450</a:t>
            </a:r>
            <a:r>
              <a:rPr kumimoji="1" lang="ja-JP" altLang="en-US"/>
              <a:t>億円
</a:t>
            </a:r>
            <a:r>
              <a:rPr kumimoji="1" lang="en-US" altLang="ja-JP"/>
              <a:t>2027_1q_summary_jp.pdf p.19
</a:t>
            </a:r>
            <a:r>
              <a:rPr kumimoji="1" lang="ja-JP" altLang="en-US"/>
              <a:t>諸経費の増減・低減努力 </a:t>
            </a:r>
            <a:r>
              <a:rPr kumimoji="1" lang="en-US" altLang="ja-JP"/>
              <a:t>-1,900
</a:t>
            </a:r>
            <a:r>
              <a:rPr kumimoji="1" lang="ja-JP" altLang="en-US"/>
              <a:t>内容</a:t>
            </a:r>
            <a:r>
              <a:rPr kumimoji="1" lang="en-US" altLang="ja-JP"/>
              <a:t>:
</a:t>
            </a:r>
            <a:r>
              <a:rPr kumimoji="1" lang="ja-JP" altLang="en-US"/>
              <a:t>営業利益 前年同期比△</a:t>
            </a:r>
            <a:r>
              <a:rPr kumimoji="1" lang="en-US" altLang="ja-JP"/>
              <a:t>1,026</a:t>
            </a:r>
            <a:r>
              <a:rPr kumimoji="1" lang="ja-JP" altLang="en-US"/>
              <a:t>億円</a:t>
            </a:r>
            <a:r>
              <a:rPr kumimoji="1" lang="en-US" altLang="ja-JP"/>
              <a:t>(△8.8%)</a:t>
            </a:r>
            <a:r>
              <a:rPr kumimoji="1" lang="ja-JP" altLang="en-US"/>
              <a:t>の減益
為替は押し上げ要因だが、諸経費・その他・原価改善の各要因が押し下げ、全体では減益となった。
為替変動の影響 </a:t>
            </a:r>
            <a:r>
              <a:rPr kumimoji="1" lang="en-US" altLang="ja-JP"/>
              <a:t>— +3,450</a:t>
            </a:r>
            <a:r>
              <a:rPr kumimoji="1" lang="ja-JP" altLang="en-US"/>
              <a:t>億円</a:t>
            </a:r>
            <a:r>
              <a:rPr kumimoji="1" lang="en-US" altLang="ja-JP"/>
              <a:t>(</a:t>
            </a:r>
            <a:r>
              <a:rPr kumimoji="1" lang="ja-JP" altLang="en-US"/>
              <a:t>押し上げ</a:t>
            </a:r>
            <a:r>
              <a:rPr kumimoji="1" lang="en-US" altLang="ja-JP"/>
              <a:t>)
</a:t>
            </a:r>
            <a:r>
              <a:rPr kumimoji="1" lang="ja-JP" altLang="en-US"/>
              <a:t>諸経費増減・低減努力 </a:t>
            </a:r>
            <a:r>
              <a:rPr kumimoji="1" lang="en-US" altLang="ja-JP"/>
              <a:t>— △1,900</a:t>
            </a:r>
            <a:r>
              <a:rPr kumimoji="1" lang="ja-JP" altLang="en-US"/>
              <a:t>億円</a:t>
            </a:r>
            <a:r>
              <a:rPr kumimoji="1" lang="en-US" altLang="ja-JP"/>
              <a:t>(</a:t>
            </a:r>
            <a:r>
              <a:rPr kumimoji="1" lang="ja-JP" altLang="en-US"/>
              <a:t>押し下げ</a:t>
            </a:r>
            <a:r>
              <a:rPr kumimoji="1" lang="en-US" altLang="ja-JP"/>
              <a:t>)
</a:t>
            </a:r>
            <a:r>
              <a:rPr kumimoji="1" lang="ja-JP" altLang="en-US"/>
              <a:t>その他 </a:t>
            </a:r>
            <a:r>
              <a:rPr kumimoji="1" lang="en-US" altLang="ja-JP"/>
              <a:t>— △2,426</a:t>
            </a:r>
            <a:r>
              <a:rPr kumimoji="1" lang="ja-JP" altLang="en-US"/>
              <a:t>億円</a:t>
            </a:r>
            <a:r>
              <a:rPr kumimoji="1" lang="en-US" altLang="ja-JP"/>
              <a:t>(</a:t>
            </a:r>
            <a:r>
              <a:rPr kumimoji="1" lang="ja-JP" altLang="en-US"/>
              <a:t>押し下げ</a:t>
            </a:r>
            <a:r>
              <a:rPr kumimoji="1" lang="en-US" altLang="ja-JP"/>
              <a:t>)
</a:t>
            </a:r>
            <a:r>
              <a:rPr kumimoji="1" lang="ja-JP" altLang="en-US"/>
              <a:t>原価改善の努力 </a:t>
            </a:r>
            <a:r>
              <a:rPr kumimoji="1" lang="en-US" altLang="ja-JP"/>
              <a:t>— △850</a:t>
            </a:r>
            <a:r>
              <a:rPr kumimoji="1" lang="ja-JP" altLang="en-US"/>
              <a:t>億円</a:t>
            </a:r>
            <a:r>
              <a:rPr kumimoji="1" lang="en-US" altLang="ja-JP"/>
              <a:t>(</a:t>
            </a:r>
            <a:r>
              <a:rPr kumimoji="1" lang="ja-JP" altLang="en-US"/>
              <a:t>押し下げ</a:t>
            </a:r>
            <a:r>
              <a:rPr kumimoji="1" lang="en-US" altLang="ja-JP"/>
              <a:t>)
</a:t>
            </a:r>
            <a:r>
              <a:rPr kumimoji="1" lang="ja-JP" altLang="en-US"/>
              <a:t>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p.19
</a:t>
            </a:r>
            <a:r>
              <a:rPr kumimoji="1" lang="ja-JP" altLang="en-US"/>
              <a:t>内容</a:t>
            </a:r>
            <a:r>
              <a:rPr kumimoji="1" lang="en-US" altLang="ja-JP"/>
              <a:t>:
</a:t>
            </a:r>
            <a:r>
              <a:rPr kumimoji="1" lang="ja-JP" altLang="en-US"/>
              <a:t>為替変動の影響 </a:t>
            </a:r>
            <a:r>
              <a:rPr kumimoji="1" lang="en-US" altLang="ja-JP"/>
              <a:t>— +3,450</a:t>
            </a:r>
            <a:r>
              <a:rPr kumimoji="1" lang="ja-JP" altLang="en-US"/>
              <a:t>億円（押し上げ）
諸経費増減・低減努力 </a:t>
            </a:r>
            <a:r>
              <a:rPr kumimoji="1" lang="en-US" altLang="ja-JP"/>
              <a:t>— △1,900</a:t>
            </a:r>
            <a:r>
              <a:rPr kumimoji="1" lang="ja-JP" altLang="en-US"/>
              <a:t>億円（押し下げ）
その他 </a:t>
            </a:r>
            <a:r>
              <a:rPr kumimoji="1" lang="en-US" altLang="ja-JP"/>
              <a:t>— △2,426</a:t>
            </a:r>
            <a:r>
              <a:rPr kumimoji="1" lang="ja-JP" altLang="en-US"/>
              <a:t>億円（押し下げ）
原価改善の努力 </a:t>
            </a:r>
            <a:r>
              <a:rPr kumimoji="1" lang="en-US" altLang="ja-JP"/>
              <a:t>— △850</a:t>
            </a:r>
            <a:r>
              <a:rPr kumimoji="1" lang="ja-JP" altLang="en-US"/>
              <a:t>億円（押し下げ）</a:t>
            </a:r>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3</a:t>
            </a:fld>
            <a:endParaRPr kumimoji="1" lang="ja-JP" altLang="en-US"/>
          </a:p>
        </p:txBody>
      </p:sp>
    </p:spTree>
    <p:extLst>
      <p:ext uri="{BB962C8B-B14F-4D97-AF65-F5344CB8AC3E}">
        <p14:creationId xmlns:p14="http://schemas.microsoft.com/office/powerpoint/2010/main" val="2244619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その他の地域は中南米・オセアニア・アフリカ・中東。北米は前年同期が赤字相当のため</a:t>
            </a:r>
            <a:r>
              <a:rPr kumimoji="1" lang="en-US" altLang="ja-JP"/>
              <a:t>%</a:t>
            </a:r>
            <a:r>
              <a:rPr kumimoji="1" lang="ja-JP" altLang="en-US"/>
              <a:t>表示がなく、資料は増減額</a:t>
            </a:r>
            <a:r>
              <a:rPr kumimoji="1" lang="en-US" altLang="ja-JP"/>
              <a:t>(+2,066</a:t>
            </a:r>
            <a:r>
              <a:rPr kumimoji="1" lang="ja-JP" altLang="en-US"/>
              <a:t>億円</a:t>
            </a:r>
            <a:r>
              <a:rPr kumimoji="1" lang="en-US" altLang="ja-JP"/>
              <a:t>)</a:t>
            </a:r>
            <a:r>
              <a:rPr kumimoji="1" lang="ja-JP" altLang="en-US"/>
              <a:t>のみを開示。</a:t>
            </a:r>
            <a:r>
              <a:rPr kumimoji="1" lang="en-US" altLang="ja-JP"/>
              <a:t>PDF</a:t>
            </a:r>
            <a:r>
              <a:rPr kumimoji="1" lang="ja-JP" altLang="en-US"/>
              <a:t>の表読み順が変わる場合があるため、数値対応は原本</a:t>
            </a:r>
            <a:r>
              <a:rPr kumimoji="1" lang="en-US" altLang="ja-JP"/>
              <a:t>p.6</a:t>
            </a:r>
            <a:r>
              <a:rPr kumimoji="1" lang="ja-JP" altLang="en-US"/>
              <a:t>で要確認。
出典</a:t>
            </a:r>
            <a:r>
              <a:rPr kumimoji="1" lang="en-US" altLang="ja-JP"/>
              <a:t>:
2027_1q_summary_jp.pdf p.6
</a:t>
            </a:r>
            <a:r>
              <a:rPr kumimoji="1" lang="ja-JP" altLang="en-US"/>
              <a:t>営業収益は６兆</a:t>
            </a:r>
            <a:r>
              <a:rPr kumimoji="1" lang="en-US" altLang="ja-JP"/>
              <a:t>1,057</a:t>
            </a:r>
            <a:r>
              <a:rPr kumimoji="1" lang="ja-JP" altLang="en-US"/>
              <a:t>億円と、前年同四半期連結累計期間に比べて</a:t>
            </a:r>
            <a:r>
              <a:rPr kumimoji="1" lang="en-US" altLang="ja-JP"/>
              <a:t>7,915</a:t>
            </a:r>
            <a:r>
              <a:rPr kumimoji="1" lang="ja-JP" altLang="en-US"/>
              <a:t>億円（</a:t>
            </a:r>
            <a:r>
              <a:rPr kumimoji="1" lang="en-US" altLang="ja-JP"/>
              <a:t>14.9</a:t>
            </a:r>
            <a:r>
              <a:rPr kumimoji="1" lang="ja-JP" altLang="en-US"/>
              <a:t>％）の増収となり、営業利益は</a:t>
            </a:r>
            <a:r>
              <a:rPr kumimoji="1" lang="en-US" altLang="ja-JP"/>
              <a:t>1,854</a:t>
            </a:r>
            <a:r>
              <a:rPr kumimoji="1" lang="ja-JP" altLang="en-US"/>
              <a:t>億円と、前年同四半期連結累計期間に比べて</a:t>
            </a:r>
            <a:r>
              <a:rPr kumimoji="1" lang="en-US" altLang="ja-JP"/>
              <a:t>2,066</a:t>
            </a:r>
            <a:r>
              <a:rPr kumimoji="1" lang="ja-JP" altLang="en-US"/>
              <a:t>億円の増益となりました
内容</a:t>
            </a:r>
            <a:r>
              <a:rPr kumimoji="1" lang="en-US" altLang="ja-JP"/>
              <a:t>:
</a:t>
            </a:r>
            <a:r>
              <a:rPr kumimoji="1" lang="ja-JP" altLang="en-US"/>
              <a:t>北米の営業利益は前年同期比</a:t>
            </a:r>
            <a:r>
              <a:rPr kumimoji="1" lang="en-US" altLang="ja-JP"/>
              <a:t>+2,066</a:t>
            </a:r>
            <a:r>
              <a:rPr kumimoji="1" lang="ja-JP" altLang="en-US"/>
              <a:t>億円改善、日本・アジアは諸経費増で減益
所在地別では北米・欧州が増益、日本・アジア・その他地域は諸経費の増加等により減益となった。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p.6
</a:t>
            </a:r>
            <a:r>
              <a:rPr kumimoji="1" lang="ja-JP" altLang="en-US"/>
              <a:t>内容</a:t>
            </a:r>
            <a:r>
              <a:rPr kumimoji="1" lang="en-US" altLang="ja-JP"/>
              <a:t>:
</a:t>
            </a:r>
            <a:endParaRPr kumimoji="1" lang="ja-JP" altLang="en-US"/>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4</a:t>
            </a:fld>
            <a:endParaRPr kumimoji="1" lang="ja-JP" altLang="en-US"/>
          </a:p>
        </p:txBody>
      </p:sp>
    </p:spTree>
    <p:extLst>
      <p:ext uri="{BB962C8B-B14F-4D97-AF65-F5344CB8AC3E}">
        <p14:creationId xmlns:p14="http://schemas.microsoft.com/office/powerpoint/2010/main" val="692211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親会社所有者帰属持分比率は前期末</a:t>
            </a:r>
            <a:r>
              <a:rPr kumimoji="1" lang="en-US" altLang="ja-JP"/>
              <a:t>37.8%</a:t>
            </a:r>
            <a:r>
              <a:rPr kumimoji="1" lang="ja-JP" altLang="en-US"/>
              <a:t>から</a:t>
            </a:r>
            <a:r>
              <a:rPr kumimoji="1" lang="en-US" altLang="ja-JP"/>
              <a:t>36.4%</a:t>
            </a:r>
            <a:r>
              <a:rPr kumimoji="1" lang="ja-JP" altLang="en-US"/>
              <a:t>へ低下。営業活動</a:t>
            </a:r>
            <a:r>
              <a:rPr kumimoji="1" lang="en-US" altLang="ja-JP"/>
              <a:t>CF</a:t>
            </a:r>
            <a:r>
              <a:rPr kumimoji="1" lang="ja-JP" altLang="en-US"/>
              <a:t>は</a:t>
            </a:r>
            <a:r>
              <a:rPr kumimoji="1" lang="en-US" altLang="ja-JP"/>
              <a:t>5,365</a:t>
            </a:r>
            <a:r>
              <a:rPr kumimoji="1" lang="ja-JP" altLang="en-US"/>
              <a:t>億円</a:t>
            </a:r>
            <a:r>
              <a:rPr kumimoji="1" lang="en-US" altLang="ja-JP"/>
              <a:t>(</a:t>
            </a:r>
            <a:r>
              <a:rPr kumimoji="1" lang="ja-JP" altLang="en-US"/>
              <a:t>前年同期</a:t>
            </a:r>
            <a:r>
              <a:rPr kumimoji="1" lang="en-US" altLang="ja-JP"/>
              <a:t>1</a:t>
            </a:r>
            <a:r>
              <a:rPr kumimoji="1" lang="ja-JP" altLang="en-US"/>
              <a:t>兆</a:t>
            </a:r>
            <a:r>
              <a:rPr kumimoji="1" lang="en-US" altLang="ja-JP"/>
              <a:t>8,764</a:t>
            </a:r>
            <a:r>
              <a:rPr kumimoji="1" lang="ja-JP" altLang="en-US"/>
              <a:t>億円</a:t>
            </a:r>
            <a:r>
              <a:rPr kumimoji="1" lang="en-US" altLang="ja-JP"/>
              <a:t>)</a:t>
            </a:r>
            <a:r>
              <a:rPr kumimoji="1" lang="ja-JP" altLang="en-US"/>
              <a:t>、投資活動</a:t>
            </a:r>
            <a:r>
              <a:rPr kumimoji="1" lang="en-US" altLang="ja-JP"/>
              <a:t>CF</a:t>
            </a:r>
            <a:r>
              <a:rPr kumimoji="1" lang="ja-JP" altLang="en-US"/>
              <a:t>は</a:t>
            </a:r>
            <a:r>
              <a:rPr kumimoji="1" lang="en-US" altLang="ja-JP"/>
              <a:t>+1</a:t>
            </a:r>
            <a:r>
              <a:rPr kumimoji="1" lang="ja-JP" altLang="en-US"/>
              <a:t>兆</a:t>
            </a:r>
            <a:r>
              <a:rPr kumimoji="1" lang="en-US" altLang="ja-JP"/>
              <a:t>4,274</a:t>
            </a:r>
            <a:r>
              <a:rPr kumimoji="1" lang="ja-JP" altLang="en-US"/>
              <a:t>億円</a:t>
            </a:r>
            <a:r>
              <a:rPr kumimoji="1" lang="en-US" altLang="ja-JP"/>
              <a:t>(</a:t>
            </a:r>
            <a:r>
              <a:rPr kumimoji="1" lang="ja-JP" altLang="en-US"/>
              <a:t>資金増加</a:t>
            </a:r>
            <a:r>
              <a:rPr kumimoji="1" lang="en-US" altLang="ja-JP"/>
              <a:t>)</a:t>
            </a:r>
            <a:r>
              <a:rPr kumimoji="1" lang="ja-JP" altLang="en-US"/>
              <a:t>。自己株式取得額は補足資料</a:t>
            </a:r>
            <a:r>
              <a:rPr kumimoji="1" lang="en-US" altLang="ja-JP"/>
              <a:t>(p.19)</a:t>
            </a:r>
            <a:r>
              <a:rPr kumimoji="1" lang="ja-JP" altLang="en-US"/>
              <a:t>の決議ベース数値。
出典</a:t>
            </a:r>
            <a:r>
              <a:rPr kumimoji="1" lang="en-US" altLang="ja-JP"/>
              <a:t>:
2027_1q_summary_jp.pdf p.7
</a:t>
            </a:r>
            <a:r>
              <a:rPr kumimoji="1" lang="ja-JP" altLang="en-US"/>
              <a:t>総資産は</a:t>
            </a:r>
            <a:r>
              <a:rPr kumimoji="1" lang="en-US" altLang="ja-JP"/>
              <a:t>102</a:t>
            </a:r>
            <a:r>
              <a:rPr kumimoji="1" lang="ja-JP" altLang="en-US"/>
              <a:t>兆</a:t>
            </a:r>
            <a:r>
              <a:rPr kumimoji="1" lang="en-US" altLang="ja-JP"/>
              <a:t>6,351</a:t>
            </a:r>
            <a:r>
              <a:rPr kumimoji="1" lang="ja-JP" altLang="en-US"/>
              <a:t>億円と、前連結会計年度末に比べて２兆</a:t>
            </a:r>
            <a:r>
              <a:rPr kumimoji="1" lang="en-US" altLang="ja-JP"/>
              <a:t>8,872</a:t>
            </a:r>
            <a:r>
              <a:rPr kumimoji="1" lang="ja-JP" altLang="en-US"/>
              <a:t>億円（</a:t>
            </a:r>
            <a:r>
              <a:rPr kumimoji="1" lang="en-US" altLang="ja-JP"/>
              <a:t>2.7</a:t>
            </a:r>
            <a:r>
              <a:rPr kumimoji="1" lang="ja-JP" altLang="en-US"/>
              <a:t>％）の減少となりました
</a:t>
            </a:r>
            <a:r>
              <a:rPr kumimoji="1" lang="en-US" altLang="ja-JP"/>
              <a:t>2027_1q_summary_jp.pdf p.13
</a:t>
            </a:r>
            <a:r>
              <a:rPr kumimoji="1" lang="ja-JP" altLang="en-US"/>
              <a:t>自己株式の取得（△） △</a:t>
            </a:r>
            <a:r>
              <a:rPr kumimoji="1" lang="en-US" altLang="ja-JP"/>
              <a:t>39,953 △3,656,884
</a:t>
            </a:r>
            <a:r>
              <a:rPr kumimoji="1" lang="ja-JP" altLang="en-US"/>
              <a:t>内容</a:t>
            </a:r>
            <a:r>
              <a:rPr kumimoji="1" lang="en-US" altLang="ja-JP"/>
              <a:t>:
</a:t>
            </a:r>
            <a:r>
              <a:rPr kumimoji="1" lang="ja-JP" altLang="en-US"/>
              <a:t>資産・資本・現金はいずれも前期末比で減少、自己株式取得が財務</a:t>
            </a:r>
            <a:r>
              <a:rPr kumimoji="1" lang="en-US" altLang="ja-JP"/>
              <a:t>CF</a:t>
            </a:r>
            <a:r>
              <a:rPr kumimoji="1" lang="ja-JP" altLang="en-US"/>
              <a:t>減少の主因
自己株式取得</a:t>
            </a:r>
            <a:r>
              <a:rPr kumimoji="1" lang="en-US" altLang="ja-JP"/>
              <a:t>3</a:t>
            </a:r>
            <a:r>
              <a:rPr kumimoji="1" lang="ja-JP" altLang="en-US"/>
              <a:t>兆</a:t>
            </a:r>
            <a:r>
              <a:rPr kumimoji="1" lang="en-US" altLang="ja-JP"/>
              <a:t>6,569</a:t>
            </a:r>
            <a:r>
              <a:rPr kumimoji="1" lang="ja-JP" altLang="en-US"/>
              <a:t>億円の実施により、資本および現金が前期末比で大きく減少した。
資産合計 </a:t>
            </a:r>
            <a:r>
              <a:rPr kumimoji="1" lang="en-US" altLang="ja-JP"/>
              <a:t>— 102</a:t>
            </a:r>
            <a:r>
              <a:rPr kumimoji="1" lang="ja-JP" altLang="en-US"/>
              <a:t>兆</a:t>
            </a:r>
            <a:r>
              <a:rPr kumimoji="1" lang="en-US" altLang="ja-JP"/>
              <a:t>6,351</a:t>
            </a:r>
            <a:r>
              <a:rPr kumimoji="1" lang="ja-JP" altLang="en-US"/>
              <a:t>億円 </a:t>
            </a:r>
            <a:r>
              <a:rPr kumimoji="1" lang="en-US" altLang="ja-JP"/>
              <a:t>— </a:t>
            </a:r>
            <a:r>
              <a:rPr kumimoji="1" lang="ja-JP" altLang="en-US"/>
              <a:t>前期末比△</a:t>
            </a:r>
            <a:r>
              <a:rPr kumimoji="1" lang="en-US" altLang="ja-JP"/>
              <a:t>2.7%
</a:t>
            </a:r>
            <a:r>
              <a:rPr kumimoji="1" lang="ja-JP" altLang="en-US"/>
              <a:t>資本合計 </a:t>
            </a:r>
            <a:r>
              <a:rPr kumimoji="1" lang="en-US" altLang="ja-JP"/>
              <a:t>— 38</a:t>
            </a:r>
            <a:r>
              <a:rPr kumimoji="1" lang="ja-JP" altLang="en-US"/>
              <a:t>兆</a:t>
            </a:r>
            <a:r>
              <a:rPr kumimoji="1" lang="en-US" altLang="ja-JP"/>
              <a:t>2,289</a:t>
            </a:r>
            <a:r>
              <a:rPr kumimoji="1" lang="ja-JP" altLang="en-US"/>
              <a:t>億円 </a:t>
            </a:r>
            <a:r>
              <a:rPr kumimoji="1" lang="en-US" altLang="ja-JP"/>
              <a:t>— </a:t>
            </a:r>
            <a:r>
              <a:rPr kumimoji="1" lang="ja-JP" altLang="en-US"/>
              <a:t>前期末比△</a:t>
            </a:r>
            <a:r>
              <a:rPr kumimoji="1" lang="en-US" altLang="ja-JP"/>
              <a:t>6.8%</a:t>
            </a:r>
            <a:r>
              <a:rPr kumimoji="1" lang="ja-JP" altLang="en-US"/>
              <a:t>、持分比率</a:t>
            </a:r>
            <a:r>
              <a:rPr kumimoji="1" lang="en-US" altLang="ja-JP"/>
              <a:t>36.4%
</a:t>
            </a:r>
            <a:r>
              <a:rPr kumimoji="1" lang="ja-JP" altLang="en-US"/>
              <a:t>現金及び現金同等物 </a:t>
            </a:r>
            <a:r>
              <a:rPr kumimoji="1" lang="en-US" altLang="ja-JP"/>
              <a:t>— 10</a:t>
            </a:r>
            <a:r>
              <a:rPr kumimoji="1" lang="ja-JP" altLang="en-US"/>
              <a:t>兆</a:t>
            </a:r>
            <a:r>
              <a:rPr kumimoji="1" lang="en-US" altLang="ja-JP"/>
              <a:t>3,430</a:t>
            </a:r>
            <a:r>
              <a:rPr kumimoji="1" lang="ja-JP" altLang="en-US"/>
              <a:t>億円 </a:t>
            </a:r>
            <a:r>
              <a:rPr kumimoji="1" lang="en-US" altLang="ja-JP"/>
              <a:t>— </a:t>
            </a:r>
            <a:r>
              <a:rPr kumimoji="1" lang="ja-JP" altLang="en-US"/>
              <a:t>前期末比△</a:t>
            </a:r>
            <a:r>
              <a:rPr kumimoji="1" lang="en-US" altLang="ja-JP"/>
              <a:t>18.3%
</a:t>
            </a:r>
            <a:r>
              <a:rPr kumimoji="1" lang="ja-JP" altLang="en-US"/>
              <a:t>財務活動</a:t>
            </a:r>
            <a:r>
              <a:rPr kumimoji="1" lang="en-US" altLang="ja-JP"/>
              <a:t>CF — △4</a:t>
            </a:r>
            <a:r>
              <a:rPr kumimoji="1" lang="ja-JP" altLang="en-US"/>
              <a:t>兆</a:t>
            </a:r>
            <a:r>
              <a:rPr kumimoji="1" lang="en-US" altLang="ja-JP"/>
              <a:t>3,391</a:t>
            </a:r>
            <a:r>
              <a:rPr kumimoji="1" lang="ja-JP" altLang="en-US"/>
              <a:t>億円 </a:t>
            </a:r>
            <a:r>
              <a:rPr kumimoji="1" lang="en-US" altLang="ja-JP"/>
              <a:t>— </a:t>
            </a:r>
            <a:r>
              <a:rPr kumimoji="1" lang="ja-JP" altLang="en-US"/>
              <a:t>自己株式取得</a:t>
            </a:r>
            <a:r>
              <a:rPr kumimoji="1" lang="en-US" altLang="ja-JP"/>
              <a:t>3</a:t>
            </a:r>
            <a:r>
              <a:rPr kumimoji="1" lang="ja-JP" altLang="en-US"/>
              <a:t>兆</a:t>
            </a:r>
            <a:r>
              <a:rPr kumimoji="1" lang="en-US" altLang="ja-JP"/>
              <a:t>6,569</a:t>
            </a:r>
            <a:r>
              <a:rPr kumimoji="1" lang="ja-JP" altLang="en-US"/>
              <a:t>億円が主因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p.7
2027_1q_summary_jp.pdf p.13
</a:t>
            </a:r>
            <a:r>
              <a:rPr kumimoji="1" lang="ja-JP" altLang="en-US"/>
              <a:t>内容</a:t>
            </a:r>
            <a:r>
              <a:rPr kumimoji="1" lang="en-US" altLang="ja-JP"/>
              <a:t>:
</a:t>
            </a:r>
            <a:r>
              <a:rPr kumimoji="1" lang="ja-JP" altLang="en-US"/>
              <a:t>資産合計 </a:t>
            </a:r>
            <a:r>
              <a:rPr kumimoji="1" lang="en-US" altLang="ja-JP"/>
              <a:t>— 102</a:t>
            </a:r>
            <a:r>
              <a:rPr kumimoji="1" lang="ja-JP" altLang="en-US"/>
              <a:t>兆</a:t>
            </a:r>
            <a:r>
              <a:rPr kumimoji="1" lang="en-US" altLang="ja-JP"/>
              <a:t>6,351</a:t>
            </a:r>
            <a:r>
              <a:rPr kumimoji="1" lang="ja-JP" altLang="en-US"/>
              <a:t>億円 </a:t>
            </a:r>
            <a:r>
              <a:rPr kumimoji="1" lang="en-US" altLang="ja-JP"/>
              <a:t>— </a:t>
            </a:r>
            <a:r>
              <a:rPr kumimoji="1" lang="ja-JP" altLang="en-US"/>
              <a:t>前期末比△</a:t>
            </a:r>
            <a:r>
              <a:rPr kumimoji="1" lang="en-US" altLang="ja-JP"/>
              <a:t>2.7%
</a:t>
            </a:r>
            <a:r>
              <a:rPr kumimoji="1" lang="ja-JP" altLang="en-US"/>
              <a:t>資本合計 </a:t>
            </a:r>
            <a:r>
              <a:rPr kumimoji="1" lang="en-US" altLang="ja-JP"/>
              <a:t>— 38</a:t>
            </a:r>
            <a:r>
              <a:rPr kumimoji="1" lang="ja-JP" altLang="en-US"/>
              <a:t>兆</a:t>
            </a:r>
            <a:r>
              <a:rPr kumimoji="1" lang="en-US" altLang="ja-JP"/>
              <a:t>2,289</a:t>
            </a:r>
            <a:r>
              <a:rPr kumimoji="1" lang="ja-JP" altLang="en-US"/>
              <a:t>億円 </a:t>
            </a:r>
            <a:r>
              <a:rPr kumimoji="1" lang="en-US" altLang="ja-JP"/>
              <a:t>— </a:t>
            </a:r>
            <a:r>
              <a:rPr kumimoji="1" lang="ja-JP" altLang="en-US"/>
              <a:t>前期末比△</a:t>
            </a:r>
            <a:r>
              <a:rPr kumimoji="1" lang="en-US" altLang="ja-JP"/>
              <a:t>6.8%</a:t>
            </a:r>
            <a:r>
              <a:rPr kumimoji="1" lang="ja-JP" altLang="en-US"/>
              <a:t>、持分比率</a:t>
            </a:r>
            <a:r>
              <a:rPr kumimoji="1" lang="en-US" altLang="ja-JP"/>
              <a:t>36.4%
</a:t>
            </a:r>
            <a:r>
              <a:rPr kumimoji="1" lang="ja-JP" altLang="en-US"/>
              <a:t>現金及び現金同等物 </a:t>
            </a:r>
            <a:r>
              <a:rPr kumimoji="1" lang="en-US" altLang="ja-JP"/>
              <a:t>— 10</a:t>
            </a:r>
            <a:r>
              <a:rPr kumimoji="1" lang="ja-JP" altLang="en-US"/>
              <a:t>兆</a:t>
            </a:r>
            <a:r>
              <a:rPr kumimoji="1" lang="en-US" altLang="ja-JP"/>
              <a:t>3,430</a:t>
            </a:r>
            <a:r>
              <a:rPr kumimoji="1" lang="ja-JP" altLang="en-US"/>
              <a:t>億円 </a:t>
            </a:r>
            <a:r>
              <a:rPr kumimoji="1" lang="en-US" altLang="ja-JP"/>
              <a:t>— </a:t>
            </a:r>
            <a:r>
              <a:rPr kumimoji="1" lang="ja-JP" altLang="en-US"/>
              <a:t>前期末比△</a:t>
            </a:r>
            <a:r>
              <a:rPr kumimoji="1" lang="en-US" altLang="ja-JP"/>
              <a:t>18.3%
</a:t>
            </a:r>
            <a:r>
              <a:rPr kumimoji="1" lang="ja-JP" altLang="en-US"/>
              <a:t>財務活動</a:t>
            </a:r>
            <a:r>
              <a:rPr kumimoji="1" lang="en-US" altLang="ja-JP"/>
              <a:t>CF — △4</a:t>
            </a:r>
            <a:r>
              <a:rPr kumimoji="1" lang="ja-JP" altLang="en-US"/>
              <a:t>兆</a:t>
            </a:r>
            <a:r>
              <a:rPr kumimoji="1" lang="en-US" altLang="ja-JP"/>
              <a:t>3,391</a:t>
            </a:r>
            <a:r>
              <a:rPr kumimoji="1" lang="ja-JP" altLang="en-US"/>
              <a:t>億円 </a:t>
            </a:r>
            <a:r>
              <a:rPr kumimoji="1" lang="en-US" altLang="ja-JP"/>
              <a:t>— </a:t>
            </a:r>
            <a:r>
              <a:rPr kumimoji="1" lang="ja-JP" altLang="en-US"/>
              <a:t>自己株式取得</a:t>
            </a:r>
            <a:r>
              <a:rPr kumimoji="1" lang="en-US" altLang="ja-JP"/>
              <a:t>3</a:t>
            </a:r>
            <a:r>
              <a:rPr kumimoji="1" lang="ja-JP" altLang="en-US"/>
              <a:t>兆</a:t>
            </a:r>
            <a:r>
              <a:rPr kumimoji="1" lang="en-US" altLang="ja-JP"/>
              <a:t>6,569</a:t>
            </a:r>
            <a:r>
              <a:rPr kumimoji="1" lang="ja-JP" altLang="en-US"/>
              <a:t>億円が主因</a:t>
            </a:r>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5</a:t>
            </a:fld>
            <a:endParaRPr kumimoji="1" lang="ja-JP" altLang="en-US"/>
          </a:p>
        </p:txBody>
      </p:sp>
    </p:spTree>
    <p:extLst>
      <p:ext uri="{BB962C8B-B14F-4D97-AF65-F5344CB8AC3E}">
        <p14:creationId xmlns:p14="http://schemas.microsoft.com/office/powerpoint/2010/main" val="2162418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本スライドの論点は資料中に明記された増減要因に基づく確認事項であり、断定的な経営課題の指摘ではない。自動車事業の営業利益は</a:t>
            </a:r>
            <a:r>
              <a:rPr kumimoji="1" lang="en-US" altLang="ja-JP"/>
              <a:t>7,199</a:t>
            </a:r>
            <a:r>
              <a:rPr kumimoji="1" lang="ja-JP" altLang="en-US"/>
              <a:t>億円</a:t>
            </a:r>
            <a:r>
              <a:rPr kumimoji="1" lang="en-US" altLang="ja-JP"/>
              <a:t>(</a:t>
            </a:r>
            <a:r>
              <a:rPr kumimoji="1" lang="ja-JP" altLang="en-US"/>
              <a:t>前年同期比△</a:t>
            </a:r>
            <a:r>
              <a:rPr kumimoji="1" lang="en-US" altLang="ja-JP"/>
              <a:t>1,914</a:t>
            </a:r>
            <a:r>
              <a:rPr kumimoji="1" lang="ja-JP" altLang="en-US"/>
              <a:t>億円、△</a:t>
            </a:r>
            <a:r>
              <a:rPr kumimoji="1" lang="en-US" altLang="ja-JP"/>
              <a:t>21.0%)</a:t>
            </a:r>
            <a:r>
              <a:rPr kumimoji="1" lang="ja-JP" altLang="en-US"/>
              <a:t>。営業活動によるキャッシュ・フローは前年同期</a:t>
            </a:r>
            <a:r>
              <a:rPr kumimoji="1" lang="en-US" altLang="ja-JP"/>
              <a:t>1</a:t>
            </a:r>
            <a:r>
              <a:rPr kumimoji="1" lang="ja-JP" altLang="en-US"/>
              <a:t>兆</a:t>
            </a:r>
            <a:r>
              <a:rPr kumimoji="1" lang="en-US" altLang="ja-JP"/>
              <a:t>8,764</a:t>
            </a:r>
            <a:r>
              <a:rPr kumimoji="1" lang="ja-JP" altLang="en-US"/>
              <a:t>億円から</a:t>
            </a:r>
            <a:r>
              <a:rPr kumimoji="1" lang="en-US" altLang="ja-JP"/>
              <a:t>5,365</a:t>
            </a:r>
            <a:r>
              <a:rPr kumimoji="1" lang="ja-JP" altLang="en-US"/>
              <a:t>億円へ減少</a:t>
            </a:r>
            <a:r>
              <a:rPr kumimoji="1" lang="en-US" altLang="ja-JP"/>
              <a:t>(△1</a:t>
            </a:r>
            <a:r>
              <a:rPr kumimoji="1" lang="ja-JP" altLang="en-US"/>
              <a:t>兆</a:t>
            </a:r>
            <a:r>
              <a:rPr kumimoji="1" lang="en-US" altLang="ja-JP"/>
              <a:t>3,399</a:t>
            </a:r>
            <a:r>
              <a:rPr kumimoji="1" lang="ja-JP" altLang="en-US"/>
              <a:t>億円</a:t>
            </a:r>
            <a:r>
              <a:rPr kumimoji="1" lang="en-US" altLang="ja-JP"/>
              <a:t>)</a:t>
            </a:r>
            <a:r>
              <a:rPr kumimoji="1" lang="ja-JP" altLang="en-US"/>
              <a:t>。日野自動車の連結除外</a:t>
            </a:r>
            <a:r>
              <a:rPr kumimoji="1" lang="en-US" altLang="ja-JP"/>
              <a:t>(</a:t>
            </a:r>
            <a:r>
              <a:rPr kumimoji="1" lang="ja-JP" altLang="en-US"/>
              <a:t>前年同期実績を含む）の影響で単純比較には留意が必要。
出典</a:t>
            </a:r>
            <a:r>
              <a:rPr kumimoji="1" lang="en-US" altLang="ja-JP"/>
              <a:t>:
2027_1q_summary_jp.pdf p.5
</a:t>
            </a:r>
            <a:r>
              <a:rPr kumimoji="1" lang="ja-JP" altLang="en-US"/>
              <a:t>営業利益は</a:t>
            </a:r>
            <a:r>
              <a:rPr kumimoji="1" lang="en-US" altLang="ja-JP"/>
              <a:t>7,199</a:t>
            </a:r>
            <a:r>
              <a:rPr kumimoji="1" lang="ja-JP" altLang="en-US"/>
              <a:t>億円と、前年同四半期連結累計期間に比べて</a:t>
            </a:r>
            <a:r>
              <a:rPr kumimoji="1" lang="en-US" altLang="ja-JP"/>
              <a:t>1,914</a:t>
            </a:r>
            <a:r>
              <a:rPr kumimoji="1" lang="ja-JP" altLang="en-US"/>
              <a:t>億円（</a:t>
            </a:r>
            <a:r>
              <a:rPr kumimoji="1" lang="en-US" altLang="ja-JP"/>
              <a:t>21.0</a:t>
            </a:r>
            <a:r>
              <a:rPr kumimoji="1" lang="ja-JP" altLang="en-US"/>
              <a:t>％）の減益となりました
</a:t>
            </a:r>
            <a:r>
              <a:rPr kumimoji="1" lang="en-US" altLang="ja-JP"/>
              <a:t>2027_1q_summary_jp.pdf p.13
</a:t>
            </a:r>
            <a:r>
              <a:rPr kumimoji="1" lang="ja-JP" altLang="en-US"/>
              <a:t>営業活動によるキャッシュ・フロー </a:t>
            </a:r>
            <a:r>
              <a:rPr kumimoji="1" lang="en-US" altLang="ja-JP"/>
              <a:t>1,876,481 536,551
</a:t>
            </a:r>
            <a:r>
              <a:rPr kumimoji="1" lang="ja-JP" altLang="en-US"/>
              <a:t>内容</a:t>
            </a:r>
            <a:r>
              <a:rPr kumimoji="1" lang="en-US" altLang="ja-JP"/>
              <a:t>:
</a:t>
            </a:r>
            <a:r>
              <a:rPr kumimoji="1" lang="ja-JP" altLang="en-US"/>
              <a:t>営業外要因主導の増益、本業の費用吸収力と</a:t>
            </a:r>
            <a:r>
              <a:rPr kumimoji="1" lang="en-US" altLang="ja-JP"/>
              <a:t>CF</a:t>
            </a:r>
            <a:r>
              <a:rPr kumimoji="1" lang="ja-JP" altLang="en-US"/>
              <a:t>創出力の持続性を継続確認したい
税引前・親会社帰属利益の大幅増は営業外収益の改善が寄与しており、本業の収益性と資金創出力は資料の開示範囲で確認を要する。
自動車事業利益 </a:t>
            </a:r>
            <a:r>
              <a:rPr kumimoji="1" lang="en-US" altLang="ja-JP"/>
              <a:t>— </a:t>
            </a:r>
            <a:r>
              <a:rPr kumimoji="1" lang="ja-JP" altLang="en-US"/>
              <a:t>諸経費増で△</a:t>
            </a:r>
            <a:r>
              <a:rPr kumimoji="1" lang="en-US" altLang="ja-JP"/>
              <a:t>21.0%</a:t>
            </a:r>
            <a:r>
              <a:rPr kumimoji="1" lang="ja-JP" altLang="en-US"/>
              <a:t>減益
日本・アジア減益 </a:t>
            </a:r>
            <a:r>
              <a:rPr kumimoji="1" lang="en-US" altLang="ja-JP"/>
              <a:t>— </a:t>
            </a:r>
            <a:r>
              <a:rPr kumimoji="1" lang="ja-JP" altLang="en-US"/>
              <a:t>諸経費増加等が要因と記載
自己株式取得 </a:t>
            </a:r>
            <a:r>
              <a:rPr kumimoji="1" lang="en-US" altLang="ja-JP"/>
              <a:t>— 3,657</a:t>
            </a:r>
            <a:r>
              <a:rPr kumimoji="1" lang="ja-JP" altLang="en-US"/>
              <a:t>億円で資本減少
営業</a:t>
            </a:r>
            <a:r>
              <a:rPr kumimoji="1" lang="en-US" altLang="ja-JP"/>
              <a:t>CF</a:t>
            </a:r>
            <a:r>
              <a:rPr kumimoji="1" lang="ja-JP" altLang="en-US"/>
              <a:t>減少 </a:t>
            </a:r>
            <a:r>
              <a:rPr kumimoji="1" lang="en-US" altLang="ja-JP"/>
              <a:t>— 5,365</a:t>
            </a:r>
            <a:r>
              <a:rPr kumimoji="1" lang="ja-JP" altLang="en-US"/>
              <a:t>億円へ急減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p.13
</a:t>
            </a:r>
            <a:r>
              <a:rPr kumimoji="1" lang="ja-JP" altLang="en-US"/>
              <a:t>内容</a:t>
            </a:r>
            <a:r>
              <a:rPr kumimoji="1" lang="en-US" altLang="ja-JP"/>
              <a:t>:
</a:t>
            </a:r>
            <a:r>
              <a:rPr kumimoji="1" lang="ja-JP" altLang="en-US"/>
              <a:t>自動車事業利益 </a:t>
            </a:r>
            <a:r>
              <a:rPr kumimoji="1" lang="en-US" altLang="ja-JP"/>
              <a:t>— </a:t>
            </a:r>
            <a:r>
              <a:rPr kumimoji="1" lang="ja-JP" altLang="en-US"/>
              <a:t>諸経費増で△</a:t>
            </a:r>
            <a:r>
              <a:rPr kumimoji="1" lang="en-US" altLang="ja-JP"/>
              <a:t>21.0%</a:t>
            </a:r>
            <a:r>
              <a:rPr kumimoji="1" lang="ja-JP" altLang="en-US"/>
              <a:t>減益
日本・アジア減益 </a:t>
            </a:r>
            <a:r>
              <a:rPr kumimoji="1" lang="en-US" altLang="ja-JP"/>
              <a:t>— </a:t>
            </a:r>
            <a:r>
              <a:rPr kumimoji="1" lang="ja-JP" altLang="en-US"/>
              <a:t>諸経費増加等が要因と記載
自己株式取得 </a:t>
            </a:r>
            <a:r>
              <a:rPr kumimoji="1" lang="en-US" altLang="ja-JP"/>
              <a:t>— 3,657</a:t>
            </a:r>
            <a:r>
              <a:rPr kumimoji="1" lang="ja-JP" altLang="en-US"/>
              <a:t>億円で資本減少
営業</a:t>
            </a:r>
            <a:r>
              <a:rPr kumimoji="1" lang="en-US" altLang="ja-JP"/>
              <a:t>CF</a:t>
            </a:r>
            <a:r>
              <a:rPr kumimoji="1" lang="ja-JP" altLang="en-US"/>
              <a:t>減少 </a:t>
            </a:r>
            <a:r>
              <a:rPr kumimoji="1" lang="en-US" altLang="ja-JP"/>
              <a:t>— 5,365</a:t>
            </a:r>
            <a:r>
              <a:rPr kumimoji="1" lang="ja-JP" altLang="en-US"/>
              <a:t>億円へ急減</a:t>
            </a:r>
          </a:p>
        </p:txBody>
      </p:sp>
      <p:sp>
        <p:nvSpPr>
          <p:cNvPr id="4" name="スライド番号プレースホルダー 3"/>
          <p:cNvSpPr>
            <a:spLocks noGrp="1"/>
          </p:cNvSpPr>
          <p:nvPr>
            <p:ph type="sldNum" sz="quarter" idx="5"/>
          </p:nvPr>
        </p:nvSpPr>
        <p:spPr/>
        <p:txBody>
          <a:bodyPr/>
          <a:lstStyle/>
          <a:p>
            <a:fld id="{C0A06EA9-68B5-4554-9D1E-258C0DB7D8CF}" type="slidenum">
              <a:rPr kumimoji="1" lang="ja-JP" altLang="en-US" smtClean="0"/>
              <a:t>6</a:t>
            </a:fld>
            <a:endParaRPr kumimoji="1" lang="ja-JP" altLang="en-US"/>
          </a:p>
        </p:txBody>
      </p:sp>
    </p:spTree>
    <p:extLst>
      <p:ext uri="{BB962C8B-B14F-4D97-AF65-F5344CB8AC3E}">
        <p14:creationId xmlns:p14="http://schemas.microsoft.com/office/powerpoint/2010/main" val="106911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FA5C11-80B4-1AE2-F8C2-918D09CDF09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FD2871C-E570-D6D9-4F69-35323D9AE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51EB852-3476-8A50-21C6-B9EE0DC7EA23}"/>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43FC3DC2-B971-2CFF-A6E6-705C0466A0D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6EBD21E-7935-67C3-0E0D-4E32ADDA13E7}"/>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2641247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AE6CAD-8E46-8640-D6C9-87F988AD5C2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79FC3E4-92F8-4B78-D8D1-6B3F2B1D35C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1CE0BA-9251-9737-F759-5255C15BAD48}"/>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C3F30752-8CA9-8801-8487-323C7B89CF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6E6C3D3-7262-9CD8-43BE-3FE6C5529A83}"/>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298628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9DC777-5ADD-630C-E050-B77C30AF7D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DF87424-97D7-93BB-45D8-895E971DD9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058F2F6-98FD-214A-C37D-665951EE9B3B}"/>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FCDCBD22-A328-3AE6-CC29-8BE0C7467A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18FA7C6-0347-3E2F-9D0E-9A39BA35C764}"/>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851559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8095F4-603E-80E3-875F-3AD41DE6E4F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037E3BC-36F0-D086-ED71-207920E7022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785A4C9-5BFD-8187-2E56-82F92E5ECB6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9387D12-808B-19D7-9266-7616A3D7C01A}"/>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955D65F7-E691-0D27-A65B-22EB05913C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02F270-378D-0BDF-B8F6-BF5D95FBFA09}"/>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3340389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AC23FC-7B10-711B-3ABF-22A5A67F7AD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5122DE-5429-2E37-DE55-AD47AFE932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9DA1592-C88D-D6CD-EDDC-12566BA9E99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A994E9A-D43D-C66C-A3A0-AF803C79F1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2A8EDE2-A784-C813-25D2-9856A9AF709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3E44166-9342-9A56-8775-D50CF91E139A}"/>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8" name="フッター プレースホルダー 7">
            <a:extLst>
              <a:ext uri="{FF2B5EF4-FFF2-40B4-BE49-F238E27FC236}">
                <a16:creationId xmlns:a16="http://schemas.microsoft.com/office/drawing/2014/main" id="{9A376B6B-AB09-7015-3158-3A37C8C06B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0FF3EAA-FC15-867A-ED44-9E419D61A379}"/>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343557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A14ABE-3B61-933E-137B-5EB78C43AC0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D4B4F63-1829-58C0-083B-3FD0B54F792A}"/>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4" name="フッター プレースホルダー 3">
            <a:extLst>
              <a:ext uri="{FF2B5EF4-FFF2-40B4-BE49-F238E27FC236}">
                <a16:creationId xmlns:a16="http://schemas.microsoft.com/office/drawing/2014/main" id="{615A44B9-7D41-4480-3F06-9F7C8359167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16C9FB6-106F-17CD-CA7A-98F524903CC3}"/>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1631664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BCF51F3-46B6-4BA6-F4F4-72F64FD50D37}"/>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3" name="フッター プレースホルダー 2">
            <a:extLst>
              <a:ext uri="{FF2B5EF4-FFF2-40B4-BE49-F238E27FC236}">
                <a16:creationId xmlns:a16="http://schemas.microsoft.com/office/drawing/2014/main" id="{212129A1-2BA2-6CA5-FFFF-0211076F607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0799006-4F54-33E6-3784-B3A64C39B05D}"/>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636528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E01660-BDF8-8AF6-C605-66064BDC50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E18C85B-B01A-5F90-ABDF-970CEA79DD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0127B21-D9B5-61ED-7E6B-403773048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DAFDC6-A8FF-DC4B-73BE-070F58B87851}"/>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938E8D0F-CB22-F8EB-42AE-845A494233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6865258-4B5D-8D27-6E2F-9D9C019CA623}"/>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3128871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9A0356-EFC7-C9E8-B582-B3BF8799DA3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0A7E41B-6226-2938-FA04-3E4567231A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929A55F-24EB-4B97-E932-033CA3373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93B37F7-F179-6540-3F0A-B312C126923D}"/>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122B61CB-962A-772D-4970-D1A47864E69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D70FEA-4FC5-E68C-B7A1-09710A618846}"/>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490384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2EE83B-14BF-DF96-3815-DD4E128896F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5F49C9B-9FE4-648C-8998-0AC608E4DD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07823DF-FBCF-FE0F-85A6-B518306BC02A}"/>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400C849E-7E78-3669-C8E7-6A1EF6EB34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B0B28D-58CE-09FB-50A1-583E299AE5AB}"/>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3980897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E77AC0A-8DBA-85E4-5E4A-24A24B94AD0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F52AB90-5693-D1B2-4DF6-6ACC14AE1D1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CFD5F6-32AE-AE4A-50C2-A818E95A8E0C}"/>
              </a:ext>
            </a:extLst>
          </p:cNvPr>
          <p:cNvSpPr>
            <a:spLocks noGrp="1"/>
          </p:cNvSpPr>
          <p:nvPr>
            <p:ph type="dt" sz="half" idx="10"/>
          </p:nvPr>
        </p:nvSpPr>
        <p:spPr/>
        <p:txBody>
          <a:body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BC17B7DF-183E-48F1-3C26-D7D2EFC10D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EF077-591A-52B1-8B03-D19215B73350}"/>
              </a:ext>
            </a:extLst>
          </p:cNvPr>
          <p:cNvSpPr>
            <a:spLocks noGrp="1"/>
          </p:cNvSpPr>
          <p:nvPr>
            <p:ph type="sldNum" sz="quarter" idx="12"/>
          </p:nvPr>
        </p:nvSpPr>
        <p:spPr/>
        <p:txBody>
          <a:body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94643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A3BFEDA-CA5C-1DEC-5CEC-9650339D4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DFE027-0307-848A-5614-8045F5A62D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C92D33-777B-A113-02F9-94BE5D6961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A39AB7-CC26-45D7-A1A4-389073DBFAD5}"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328B2A7B-996D-803C-4F7C-F6F43BBAF9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29CB63E-3B7D-783D-87AB-024CB7BDEC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D3C3EC-F319-4ECE-A420-DDF046B672F6}" type="slidenum">
              <a:rPr kumimoji="1" lang="ja-JP" altLang="en-US" smtClean="0"/>
              <a:t>‹#›</a:t>
            </a:fld>
            <a:endParaRPr kumimoji="1" lang="ja-JP" altLang="en-US"/>
          </a:p>
        </p:txBody>
      </p:sp>
    </p:spTree>
    <p:extLst>
      <p:ext uri="{BB962C8B-B14F-4D97-AF65-F5344CB8AC3E}">
        <p14:creationId xmlns:p14="http://schemas.microsoft.com/office/powerpoint/2010/main" val="2889148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DE_1">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4713F8B-1FF5-29F8-870A-EF6E32BD66B5}"/>
              </a:ext>
            </a:extLst>
          </p:cNvPr>
          <p:cNvSpPr/>
          <p:nvPr/>
        </p:nvSpPr>
        <p:spPr>
          <a:xfrm>
            <a:off x="0" y="889000"/>
            <a:ext cx="12192000" cy="34290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C77BC2EA-591D-89A9-B248-2C389FFA8CED}"/>
              </a:ext>
            </a:extLst>
          </p:cNvPr>
          <p:cNvSpPr/>
          <p:nvPr/>
        </p:nvSpPr>
        <p:spPr>
          <a:xfrm>
            <a:off x="711200" y="889000"/>
            <a:ext cx="1193800" cy="762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E29E2D28-B37F-E1DA-C3B2-E453A059368C}"/>
              </a:ext>
            </a:extLst>
          </p:cNvPr>
          <p:cNvSpPr txBox="1"/>
          <p:nvPr/>
        </p:nvSpPr>
        <p:spPr>
          <a:xfrm>
            <a:off x="787400" y="1435100"/>
            <a:ext cx="10617200" cy="2489200"/>
          </a:xfrm>
          <a:prstGeom prst="rect">
            <a:avLst/>
          </a:prstGeom>
          <a:noFill/>
        </p:spPr>
        <p:txBody>
          <a:bodyPr vert="horz" wrap="square" lIns="0" tIns="0" rIns="0" bIns="0" rtlCol="0" anchor="t">
            <a:noAutofit/>
          </a:bodyPr>
          <a:lstStyle/>
          <a:p>
            <a:r>
              <a:rPr kumimoji="1" lang="ja-JP" altLang="en-US" sz="4200" b="1">
                <a:solidFill>
                  <a:srgbClr val="172D4A"/>
                </a:solidFill>
                <a:latin typeface="BIZ UDPGothic" panose="020B0400000000000000" pitchFamily="50" charset="-128"/>
                <a:ea typeface="BIZ UDPGothic" panose="020B0400000000000000" pitchFamily="50" charset="-128"/>
              </a:rPr>
              <a:t>トヨタ自動車
</a:t>
            </a:r>
            <a:r>
              <a:rPr kumimoji="1" lang="en-US" altLang="ja-JP" sz="4200" b="1">
                <a:solidFill>
                  <a:srgbClr val="172D4A"/>
                </a:solidFill>
                <a:latin typeface="BIZ UDPGothic" panose="020B0400000000000000" pitchFamily="50" charset="-128"/>
                <a:ea typeface="BIZ UDPGothic" panose="020B0400000000000000" pitchFamily="50" charset="-128"/>
              </a:rPr>
              <a:t>2027</a:t>
            </a:r>
            <a:r>
              <a:rPr kumimoji="1" lang="ja-JP" altLang="en-US" sz="4200" b="1">
                <a:solidFill>
                  <a:srgbClr val="172D4A"/>
                </a:solidFill>
                <a:latin typeface="BIZ UDPGothic" panose="020B0400000000000000" pitchFamily="50" charset="-128"/>
                <a:ea typeface="BIZ UDPGothic" panose="020B0400000000000000" pitchFamily="50" charset="-128"/>
              </a:rPr>
              <a:t>年</a:t>
            </a:r>
            <a:r>
              <a:rPr kumimoji="1" lang="en-US" altLang="ja-JP" sz="4200" b="1">
                <a:solidFill>
                  <a:srgbClr val="172D4A"/>
                </a:solidFill>
                <a:latin typeface="BIZ UDPGothic" panose="020B0400000000000000" pitchFamily="50" charset="-128"/>
                <a:ea typeface="BIZ UDPGothic" panose="020B0400000000000000" pitchFamily="50" charset="-128"/>
              </a:rPr>
              <a:t>3</a:t>
            </a:r>
            <a:r>
              <a:rPr kumimoji="1" lang="ja-JP" altLang="en-US" sz="4200" b="1">
                <a:solidFill>
                  <a:srgbClr val="172D4A"/>
                </a:solidFill>
                <a:latin typeface="BIZ UDPGothic" panose="020B0400000000000000" pitchFamily="50" charset="-128"/>
                <a:ea typeface="BIZ UDPGothic" panose="020B0400000000000000" pitchFamily="50" charset="-128"/>
              </a:rPr>
              <a:t>月期 第</a:t>
            </a:r>
            <a:r>
              <a:rPr kumimoji="1" lang="en-US" altLang="ja-JP" sz="4200" b="1">
                <a:solidFill>
                  <a:srgbClr val="172D4A"/>
                </a:solidFill>
                <a:latin typeface="BIZ UDPGothic" panose="020B0400000000000000" pitchFamily="50" charset="-128"/>
                <a:ea typeface="BIZ UDPGothic" panose="020B0400000000000000" pitchFamily="50" charset="-128"/>
              </a:rPr>
              <a:t>1</a:t>
            </a:r>
            <a:r>
              <a:rPr kumimoji="1" lang="ja-JP" altLang="en-US" sz="4200" b="1">
                <a:solidFill>
                  <a:srgbClr val="172D4A"/>
                </a:solidFill>
                <a:latin typeface="BIZ UDPGothic" panose="020B0400000000000000" pitchFamily="50" charset="-128"/>
                <a:ea typeface="BIZ UDPGothic" panose="020B0400000000000000" pitchFamily="50" charset="-128"/>
              </a:rPr>
              <a:t>四半期 決算要旨</a:t>
            </a:r>
          </a:p>
        </p:txBody>
      </p:sp>
      <p:sp>
        <p:nvSpPr>
          <p:cNvPr id="5" name="テキスト ボックス 4">
            <a:extLst>
              <a:ext uri="{FF2B5EF4-FFF2-40B4-BE49-F238E27FC236}">
                <a16:creationId xmlns:a16="http://schemas.microsoft.com/office/drawing/2014/main" id="{05602ABB-8C63-B6F7-940E-BC5A6E032584}"/>
              </a:ext>
            </a:extLst>
          </p:cNvPr>
          <p:cNvSpPr txBox="1"/>
          <p:nvPr/>
        </p:nvSpPr>
        <p:spPr>
          <a:xfrm>
            <a:off x="825500" y="4889500"/>
            <a:ext cx="10515600" cy="1066800"/>
          </a:xfrm>
          <a:prstGeom prst="rect">
            <a:avLst/>
          </a:prstGeom>
          <a:noFill/>
        </p:spPr>
        <p:txBody>
          <a:bodyPr vert="horz" wrap="square" lIns="0" tIns="0" rIns="0" bIns="0" rtlCol="0" anchor="t">
            <a:noAutofit/>
          </a:bodyPr>
          <a:lstStyle/>
          <a:p>
            <a:r>
              <a:rPr kumimoji="1" lang="en-US" altLang="ja-JP" sz="2300">
                <a:solidFill>
                  <a:srgbClr val="526277"/>
                </a:solidFill>
                <a:latin typeface="BIZ UDPGothic" panose="020B0400000000000000" pitchFamily="50" charset="-128"/>
                <a:ea typeface="BIZ UDPGothic" panose="020B0400000000000000" pitchFamily="50" charset="-128"/>
              </a:rPr>
              <a:t>IFRS</a:t>
            </a:r>
            <a:r>
              <a:rPr kumimoji="1" lang="ja-JP" altLang="en-US" sz="2300">
                <a:solidFill>
                  <a:srgbClr val="526277"/>
                </a:solidFill>
                <a:latin typeface="BIZ UDPGothic" panose="020B0400000000000000" pitchFamily="50" charset="-128"/>
                <a:ea typeface="BIZ UDPGothic" panose="020B0400000000000000" pitchFamily="50" charset="-128"/>
              </a:rPr>
              <a:t>連結 </a:t>
            </a:r>
            <a:r>
              <a:rPr kumimoji="1" lang="en-US" altLang="ja-JP" sz="2300">
                <a:solidFill>
                  <a:srgbClr val="526277"/>
                </a:solidFill>
                <a:latin typeface="BIZ UDPGothic" panose="020B0400000000000000" pitchFamily="50" charset="-128"/>
                <a:ea typeface="BIZ UDPGothic" panose="020B0400000000000000" pitchFamily="50" charset="-128"/>
              </a:rPr>
              <a:t>/ </a:t>
            </a:r>
            <a:r>
              <a:rPr kumimoji="1" lang="ja-JP" altLang="en-US" sz="2300">
                <a:solidFill>
                  <a:srgbClr val="526277"/>
                </a:solidFill>
                <a:latin typeface="BIZ UDPGothic" panose="020B0400000000000000" pitchFamily="50" charset="-128"/>
                <a:ea typeface="BIZ UDPGothic" panose="020B0400000000000000" pitchFamily="50" charset="-128"/>
              </a:rPr>
              <a:t>添付資料の配置改善例</a:t>
            </a:r>
          </a:p>
        </p:txBody>
      </p:sp>
      <p:cxnSp>
        <p:nvCxnSpPr>
          <p:cNvPr id="6" name="直線コネクタ 5">
            <a:extLst>
              <a:ext uri="{FF2B5EF4-FFF2-40B4-BE49-F238E27FC236}">
                <a16:creationId xmlns:a16="http://schemas.microsoft.com/office/drawing/2014/main" id="{98FF3823-D3CB-1DEA-4AB8-04C4C811437B}"/>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D9A6E1D4-8FEE-7DE2-66D7-76D44A20B904}"/>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p.2</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8" name="テキスト ボックス 7">
            <a:extLst>
              <a:ext uri="{FF2B5EF4-FFF2-40B4-BE49-F238E27FC236}">
                <a16:creationId xmlns:a16="http://schemas.microsoft.com/office/drawing/2014/main" id="{E336567B-1950-CBC9-FE35-D3E555CB7865}"/>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1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80868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E_2">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D21AAE00-6C24-8ABA-D319-4B0D92C93624}"/>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C92FB44-E557-BD22-2E00-1CE5E27C7CCE}"/>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税引前・当期利益が増加、営業利益は減少</a:t>
            </a:r>
          </a:p>
        </p:txBody>
      </p:sp>
      <p:cxnSp>
        <p:nvCxnSpPr>
          <p:cNvPr id="4" name="直線コネクタ 3">
            <a:extLst>
              <a:ext uri="{FF2B5EF4-FFF2-40B4-BE49-F238E27FC236}">
                <a16:creationId xmlns:a16="http://schemas.microsoft.com/office/drawing/2014/main" id="{93A454E7-449A-FA9F-996F-827B4B722E30}"/>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77CC72D1-A214-D5AC-FE31-42147166C961}"/>
              </a:ext>
            </a:extLst>
          </p:cNvPr>
          <p:cNvSpPr/>
          <p:nvPr/>
        </p:nvSpPr>
        <p:spPr>
          <a:xfrm>
            <a:off x="711200" y="2019300"/>
            <a:ext cx="5232400" cy="18796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401B7467-589E-05F6-BE6C-AFBD618F2724}"/>
              </a:ext>
            </a:extLst>
          </p:cNvPr>
          <p:cNvSpPr/>
          <p:nvPr/>
        </p:nvSpPr>
        <p:spPr>
          <a:xfrm>
            <a:off x="711200" y="2019300"/>
            <a:ext cx="38100" cy="18796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AFC62872-0D13-DC11-330F-48B691FA5CFD}"/>
              </a:ext>
            </a:extLst>
          </p:cNvPr>
          <p:cNvSpPr txBox="1"/>
          <p:nvPr/>
        </p:nvSpPr>
        <p:spPr>
          <a:xfrm>
            <a:off x="965200" y="2184400"/>
            <a:ext cx="4724400" cy="457200"/>
          </a:xfrm>
          <a:prstGeom prst="rect">
            <a:avLst/>
          </a:prstGeom>
          <a:noFill/>
        </p:spPr>
        <p:txBody>
          <a:bodyPr vert="horz" wrap="square" lIns="0" tIns="0" rIns="0" bIns="0" rtlCol="0" anchor="t">
            <a:noAutofit/>
          </a:bodyPr>
          <a:lstStyle/>
          <a:p>
            <a:r>
              <a:rPr kumimoji="1" lang="ja-JP" altLang="en-US" sz="2200" b="1">
                <a:solidFill>
                  <a:srgbClr val="245DA8"/>
                </a:solidFill>
                <a:latin typeface="BIZ UDPGothic" panose="020B0400000000000000" pitchFamily="50" charset="-128"/>
                <a:ea typeface="BIZ UDPGothic" panose="020B0400000000000000" pitchFamily="50" charset="-128"/>
              </a:rPr>
              <a:t>営業収益</a:t>
            </a:r>
          </a:p>
        </p:txBody>
      </p:sp>
      <p:sp>
        <p:nvSpPr>
          <p:cNvPr id="8" name="テキスト ボックス 7">
            <a:extLst>
              <a:ext uri="{FF2B5EF4-FFF2-40B4-BE49-F238E27FC236}">
                <a16:creationId xmlns:a16="http://schemas.microsoft.com/office/drawing/2014/main" id="{3DAD7608-4BFF-3CCE-EF5B-33B4ABA603D1}"/>
              </a:ext>
            </a:extLst>
          </p:cNvPr>
          <p:cNvSpPr txBox="1"/>
          <p:nvPr/>
        </p:nvSpPr>
        <p:spPr>
          <a:xfrm>
            <a:off x="965200" y="2705100"/>
            <a:ext cx="4724400" cy="736600"/>
          </a:xfrm>
          <a:prstGeom prst="rect">
            <a:avLst/>
          </a:prstGeom>
          <a:noFill/>
        </p:spPr>
        <p:txBody>
          <a:bodyPr vert="horz" wrap="none" lIns="0" tIns="0" rIns="0" bIns="0" rtlCol="0" anchor="t">
            <a:noAutofit/>
          </a:bodyPr>
          <a:lstStyle/>
          <a:p>
            <a:r>
              <a:rPr kumimoji="1" lang="en-US" altLang="ja-JP" sz="4000" b="1">
                <a:solidFill>
                  <a:srgbClr val="245DA8"/>
                </a:solidFill>
                <a:latin typeface="Arial" panose="020B0604020202020204" pitchFamily="34" charset="0"/>
                <a:ea typeface="BIZ UDPGothic" panose="020B0400000000000000" pitchFamily="50" charset="-128"/>
              </a:rPr>
              <a:t>13</a:t>
            </a:r>
            <a:r>
              <a:rPr kumimoji="1" lang="ja-JP" altLang="en-US" sz="4000" b="1">
                <a:solidFill>
                  <a:srgbClr val="245DA8"/>
                </a:solidFill>
                <a:latin typeface="Arial" panose="020B0604020202020204" pitchFamily="34" charset="0"/>
                <a:ea typeface="BIZ UDPGothic" panose="020B0400000000000000" pitchFamily="50" charset="-128"/>
              </a:rPr>
              <a:t>兆</a:t>
            </a:r>
            <a:r>
              <a:rPr kumimoji="1" lang="en-US" altLang="ja-JP" sz="4000" b="1">
                <a:solidFill>
                  <a:srgbClr val="245DA8"/>
                </a:solidFill>
                <a:latin typeface="Arial" panose="020B0604020202020204" pitchFamily="34" charset="0"/>
                <a:ea typeface="BIZ UDPGothic" panose="020B0400000000000000" pitchFamily="50" charset="-128"/>
              </a:rPr>
              <a:t>5,254</a:t>
            </a:r>
            <a:r>
              <a:rPr kumimoji="1" lang="ja-JP" altLang="en-US" sz="4000" b="1">
                <a:solidFill>
                  <a:srgbClr val="245DA8"/>
                </a:solidFill>
                <a:latin typeface="Arial" panose="020B0604020202020204" pitchFamily="34" charset="0"/>
                <a:ea typeface="BIZ UDPGothic" panose="020B0400000000000000" pitchFamily="50" charset="-128"/>
              </a:rPr>
              <a:t>億円</a:t>
            </a:r>
          </a:p>
        </p:txBody>
      </p:sp>
      <p:sp>
        <p:nvSpPr>
          <p:cNvPr id="9" name="テキスト ボックス 8">
            <a:extLst>
              <a:ext uri="{FF2B5EF4-FFF2-40B4-BE49-F238E27FC236}">
                <a16:creationId xmlns:a16="http://schemas.microsoft.com/office/drawing/2014/main" id="{7B69BB0F-EAC9-85E2-0D82-662CE33A1AC4}"/>
              </a:ext>
            </a:extLst>
          </p:cNvPr>
          <p:cNvSpPr txBox="1"/>
          <p:nvPr/>
        </p:nvSpPr>
        <p:spPr>
          <a:xfrm>
            <a:off x="9652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+10.4%</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0" name="正方形/長方形 9">
            <a:extLst>
              <a:ext uri="{FF2B5EF4-FFF2-40B4-BE49-F238E27FC236}">
                <a16:creationId xmlns:a16="http://schemas.microsoft.com/office/drawing/2014/main" id="{C168DEE9-C145-0547-D9E4-774665D3128F}"/>
              </a:ext>
            </a:extLst>
          </p:cNvPr>
          <p:cNvSpPr/>
          <p:nvPr/>
        </p:nvSpPr>
        <p:spPr>
          <a:xfrm>
            <a:off x="6248400" y="2019300"/>
            <a:ext cx="5232400" cy="18796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684FA2D-5361-CB00-6F8E-65A129CD9EAD}"/>
              </a:ext>
            </a:extLst>
          </p:cNvPr>
          <p:cNvSpPr/>
          <p:nvPr/>
        </p:nvSpPr>
        <p:spPr>
          <a:xfrm>
            <a:off x="6248400" y="2019300"/>
            <a:ext cx="38100" cy="18796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3669000D-DDE8-3AF1-69E4-B63ED70FDC6D}"/>
              </a:ext>
            </a:extLst>
          </p:cNvPr>
          <p:cNvSpPr txBox="1"/>
          <p:nvPr/>
        </p:nvSpPr>
        <p:spPr>
          <a:xfrm>
            <a:off x="6502400" y="2184400"/>
            <a:ext cx="4724400" cy="457200"/>
          </a:xfrm>
          <a:prstGeom prst="rect">
            <a:avLst/>
          </a:prstGeom>
          <a:noFill/>
        </p:spPr>
        <p:txBody>
          <a:bodyPr vert="horz" wrap="square" lIns="0" tIns="0" rIns="0" bIns="0" rtlCol="0" anchor="t">
            <a:noAutofit/>
          </a:bodyPr>
          <a:lstStyle/>
          <a:p>
            <a:r>
              <a:rPr kumimoji="1" lang="ja-JP" altLang="en-US" sz="2200" b="1">
                <a:solidFill>
                  <a:srgbClr val="087A72"/>
                </a:solidFill>
                <a:latin typeface="BIZ UDPGothic" panose="020B0400000000000000" pitchFamily="50" charset="-128"/>
                <a:ea typeface="BIZ UDPGothic" panose="020B0400000000000000" pitchFamily="50" charset="-128"/>
              </a:rPr>
              <a:t>営業利益</a:t>
            </a:r>
          </a:p>
        </p:txBody>
      </p:sp>
      <p:sp>
        <p:nvSpPr>
          <p:cNvPr id="13" name="テキスト ボックス 12">
            <a:extLst>
              <a:ext uri="{FF2B5EF4-FFF2-40B4-BE49-F238E27FC236}">
                <a16:creationId xmlns:a16="http://schemas.microsoft.com/office/drawing/2014/main" id="{98ADF82C-9F37-5697-267D-B93DE4F509C1}"/>
              </a:ext>
            </a:extLst>
          </p:cNvPr>
          <p:cNvSpPr txBox="1"/>
          <p:nvPr/>
        </p:nvSpPr>
        <p:spPr>
          <a:xfrm>
            <a:off x="6502400" y="2705100"/>
            <a:ext cx="4724400" cy="736600"/>
          </a:xfrm>
          <a:prstGeom prst="rect">
            <a:avLst/>
          </a:prstGeom>
          <a:noFill/>
        </p:spPr>
        <p:txBody>
          <a:bodyPr vert="horz" wrap="none" lIns="0" tIns="0" rIns="0" bIns="0" rtlCol="0" anchor="t">
            <a:noAutofit/>
          </a:bodyPr>
          <a:lstStyle/>
          <a:p>
            <a:r>
              <a:rPr kumimoji="1" lang="en-US" altLang="ja-JP" sz="4000" b="1">
                <a:solidFill>
                  <a:srgbClr val="087A72"/>
                </a:solidFill>
                <a:latin typeface="Arial" panose="020B0604020202020204" pitchFamily="34" charset="0"/>
                <a:ea typeface="BIZ UDPGothic" panose="020B0400000000000000" pitchFamily="50" charset="-128"/>
              </a:rPr>
              <a:t>1</a:t>
            </a:r>
            <a:r>
              <a:rPr kumimoji="1" lang="ja-JP" altLang="en-US" sz="4000" b="1">
                <a:solidFill>
                  <a:srgbClr val="087A72"/>
                </a:solidFill>
                <a:latin typeface="Arial" panose="020B0604020202020204" pitchFamily="34" charset="0"/>
                <a:ea typeface="BIZ UDPGothic" panose="020B0400000000000000" pitchFamily="50" charset="-128"/>
              </a:rPr>
              <a:t>兆</a:t>
            </a:r>
            <a:r>
              <a:rPr kumimoji="1" lang="en-US" altLang="ja-JP" sz="4000" b="1">
                <a:solidFill>
                  <a:srgbClr val="087A72"/>
                </a:solidFill>
                <a:latin typeface="Arial" panose="020B0604020202020204" pitchFamily="34" charset="0"/>
                <a:ea typeface="BIZ UDPGothic" panose="020B0400000000000000" pitchFamily="50" charset="-128"/>
              </a:rPr>
              <a:t>634</a:t>
            </a:r>
            <a:r>
              <a:rPr kumimoji="1" lang="ja-JP" altLang="en-US" sz="4000" b="1">
                <a:solidFill>
                  <a:srgbClr val="087A72"/>
                </a:solidFill>
                <a:latin typeface="Arial" panose="020B0604020202020204" pitchFamily="34" charset="0"/>
                <a:ea typeface="BIZ UDPGothic" panose="020B0400000000000000" pitchFamily="50" charset="-128"/>
              </a:rPr>
              <a:t>億円</a:t>
            </a:r>
          </a:p>
        </p:txBody>
      </p:sp>
      <p:sp>
        <p:nvSpPr>
          <p:cNvPr id="14" name="テキスト ボックス 13">
            <a:extLst>
              <a:ext uri="{FF2B5EF4-FFF2-40B4-BE49-F238E27FC236}">
                <a16:creationId xmlns:a16="http://schemas.microsoft.com/office/drawing/2014/main" id="{56DF94C7-CE20-18E1-EC90-F4259BAD754A}"/>
              </a:ext>
            </a:extLst>
          </p:cNvPr>
          <p:cNvSpPr txBox="1"/>
          <p:nvPr/>
        </p:nvSpPr>
        <p:spPr>
          <a:xfrm>
            <a:off x="65024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8.8%</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C217C5CA-FB0D-83ED-C881-EC3638127963}"/>
              </a:ext>
            </a:extLst>
          </p:cNvPr>
          <p:cNvSpPr/>
          <p:nvPr/>
        </p:nvSpPr>
        <p:spPr>
          <a:xfrm>
            <a:off x="711200" y="4025900"/>
            <a:ext cx="5232400" cy="18796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BB13AA8E-17C6-85D9-3480-0A0646E74EBC}"/>
              </a:ext>
            </a:extLst>
          </p:cNvPr>
          <p:cNvSpPr/>
          <p:nvPr/>
        </p:nvSpPr>
        <p:spPr>
          <a:xfrm>
            <a:off x="711200" y="4025900"/>
            <a:ext cx="38100" cy="18796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13B8E72-920E-6044-3510-1D3F8A1A5F2C}"/>
              </a:ext>
            </a:extLst>
          </p:cNvPr>
          <p:cNvSpPr txBox="1"/>
          <p:nvPr/>
        </p:nvSpPr>
        <p:spPr>
          <a:xfrm>
            <a:off x="965200" y="4191000"/>
            <a:ext cx="4724400" cy="457200"/>
          </a:xfrm>
          <a:prstGeom prst="rect">
            <a:avLst/>
          </a:prstGeom>
          <a:noFill/>
        </p:spPr>
        <p:txBody>
          <a:bodyPr vert="horz" wrap="square" lIns="0" tIns="0" rIns="0" bIns="0" rtlCol="0" anchor="t">
            <a:noAutofit/>
          </a:bodyPr>
          <a:lstStyle/>
          <a:p>
            <a:r>
              <a:rPr kumimoji="1" lang="zh-CN" altLang="en-US" sz="2200" b="1">
                <a:solidFill>
                  <a:srgbClr val="945F1D"/>
                </a:solidFill>
                <a:latin typeface="BIZ UDPGothic" panose="020B0400000000000000" pitchFamily="50" charset="-128"/>
                <a:ea typeface="BIZ UDPGothic" panose="020B0400000000000000" pitchFamily="50" charset="-128"/>
              </a:rPr>
              <a:t>税引前四半期利益</a:t>
            </a:r>
            <a:endParaRPr kumimoji="1" lang="ja-JP" altLang="en-US" sz="2200" b="1">
              <a:solidFill>
                <a:srgbClr val="945F1D"/>
              </a:solidFill>
              <a:latin typeface="BIZ UDPGothic" panose="020B0400000000000000" pitchFamily="50" charset="-128"/>
              <a:ea typeface="BIZ UDPGothic" panose="020B0400000000000000" pitchFamily="50" charset="-128"/>
            </a:endParaRPr>
          </a:p>
        </p:txBody>
      </p:sp>
      <p:sp>
        <p:nvSpPr>
          <p:cNvPr id="18" name="テキスト ボックス 17">
            <a:extLst>
              <a:ext uri="{FF2B5EF4-FFF2-40B4-BE49-F238E27FC236}">
                <a16:creationId xmlns:a16="http://schemas.microsoft.com/office/drawing/2014/main" id="{5404E362-CE9B-B244-77B5-5C1C9504B8A0}"/>
              </a:ext>
            </a:extLst>
          </p:cNvPr>
          <p:cNvSpPr txBox="1"/>
          <p:nvPr/>
        </p:nvSpPr>
        <p:spPr>
          <a:xfrm>
            <a:off x="965200" y="4711700"/>
            <a:ext cx="4724400" cy="736600"/>
          </a:xfrm>
          <a:prstGeom prst="rect">
            <a:avLst/>
          </a:prstGeom>
          <a:noFill/>
        </p:spPr>
        <p:txBody>
          <a:bodyPr vert="horz" wrap="none" lIns="0" tIns="0" rIns="0" bIns="0" rtlCol="0" anchor="t">
            <a:noAutofit/>
          </a:bodyPr>
          <a:lstStyle/>
          <a:p>
            <a:r>
              <a:rPr kumimoji="1" lang="en-US" altLang="ja-JP" sz="4000" b="1">
                <a:solidFill>
                  <a:srgbClr val="945F1D"/>
                </a:solidFill>
                <a:latin typeface="Arial" panose="020B0604020202020204" pitchFamily="34" charset="0"/>
                <a:ea typeface="BIZ UDPGothic" panose="020B0400000000000000" pitchFamily="50" charset="-128"/>
              </a:rPr>
              <a:t>1</a:t>
            </a:r>
            <a:r>
              <a:rPr kumimoji="1" lang="ja-JP" altLang="en-US" sz="4000" b="1">
                <a:solidFill>
                  <a:srgbClr val="945F1D"/>
                </a:solidFill>
                <a:latin typeface="Arial" panose="020B0604020202020204" pitchFamily="34" charset="0"/>
                <a:ea typeface="BIZ UDPGothic" panose="020B0400000000000000" pitchFamily="50" charset="-128"/>
              </a:rPr>
              <a:t>兆</a:t>
            </a:r>
            <a:r>
              <a:rPr kumimoji="1" lang="en-US" altLang="ja-JP" sz="4000" b="1">
                <a:solidFill>
                  <a:srgbClr val="945F1D"/>
                </a:solidFill>
                <a:latin typeface="Arial" panose="020B0604020202020204" pitchFamily="34" charset="0"/>
                <a:ea typeface="BIZ UDPGothic" panose="020B0400000000000000" pitchFamily="50" charset="-128"/>
              </a:rPr>
              <a:t>9,638</a:t>
            </a:r>
            <a:r>
              <a:rPr kumimoji="1" lang="ja-JP" altLang="en-US" sz="4000" b="1">
                <a:solidFill>
                  <a:srgbClr val="945F1D"/>
                </a:solidFill>
                <a:latin typeface="Arial" panose="020B0604020202020204" pitchFamily="34" charset="0"/>
                <a:ea typeface="BIZ UDPGothic" panose="020B0400000000000000" pitchFamily="50" charset="-128"/>
              </a:rPr>
              <a:t>億円</a:t>
            </a:r>
          </a:p>
        </p:txBody>
      </p:sp>
      <p:sp>
        <p:nvSpPr>
          <p:cNvPr id="19" name="テキスト ボックス 18">
            <a:extLst>
              <a:ext uri="{FF2B5EF4-FFF2-40B4-BE49-F238E27FC236}">
                <a16:creationId xmlns:a16="http://schemas.microsoft.com/office/drawing/2014/main" id="{8423F676-5BB8-E622-191B-76F1DBEEA3BE}"/>
              </a:ext>
            </a:extLst>
          </p:cNvPr>
          <p:cNvSpPr txBox="1"/>
          <p:nvPr/>
        </p:nvSpPr>
        <p:spPr>
          <a:xfrm>
            <a:off x="965200" y="5524500"/>
            <a:ext cx="4724400" cy="368300"/>
          </a:xfrm>
          <a:prstGeom prst="rect">
            <a:avLst/>
          </a:prstGeom>
          <a:noFill/>
        </p:spPr>
        <p:txBody>
          <a:bodyPr vert="horz" wrap="square" lIns="0" tIns="0" rIns="0" bIns="0" rtlCol="0" anchor="t">
            <a:noAutofit/>
          </a:bodyPr>
          <a:lstStyle/>
          <a:p>
            <a:r>
              <a:rPr kumimoji="1" lang="zh-TW" altLang="en-US">
                <a:solidFill>
                  <a:srgbClr val="172D4A"/>
                </a:solidFill>
                <a:latin typeface="BIZ UDPGothic" panose="020B0400000000000000" pitchFamily="50" charset="-128"/>
                <a:ea typeface="BIZ UDPGothic" panose="020B0400000000000000" pitchFamily="50" charset="-128"/>
              </a:rPr>
              <a:t>前年同期比</a:t>
            </a:r>
            <a:r>
              <a:rPr kumimoji="1" lang="en-US" altLang="zh-TW">
                <a:solidFill>
                  <a:srgbClr val="172D4A"/>
                </a:solidFill>
                <a:latin typeface="BIZ UDPGothic" panose="020B0400000000000000" pitchFamily="50" charset="-128"/>
                <a:ea typeface="BIZ UDPGothic" panose="020B0400000000000000" pitchFamily="50" charset="-128"/>
              </a:rPr>
              <a:t>+56.8%</a:t>
            </a:r>
            <a:r>
              <a:rPr kumimoji="1" lang="zh-TW" altLang="en-US">
                <a:solidFill>
                  <a:srgbClr val="172D4A"/>
                </a:solidFill>
                <a:latin typeface="BIZ UDPGothic" panose="020B0400000000000000" pitchFamily="50" charset="-128"/>
                <a:ea typeface="BIZ UDPGothic" panose="020B0400000000000000" pitchFamily="50" charset="-128"/>
              </a:rPr>
              <a:t>（営業外収益増）</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20" name="正方形/長方形 19">
            <a:extLst>
              <a:ext uri="{FF2B5EF4-FFF2-40B4-BE49-F238E27FC236}">
                <a16:creationId xmlns:a16="http://schemas.microsoft.com/office/drawing/2014/main" id="{F7F72629-0EB9-205B-6C4F-763D643FBF03}"/>
              </a:ext>
            </a:extLst>
          </p:cNvPr>
          <p:cNvSpPr/>
          <p:nvPr/>
        </p:nvSpPr>
        <p:spPr>
          <a:xfrm>
            <a:off x="6248400" y="4025900"/>
            <a:ext cx="5232400" cy="18796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89F89FD4-4FFE-9547-1516-3115476FB562}"/>
              </a:ext>
            </a:extLst>
          </p:cNvPr>
          <p:cNvSpPr/>
          <p:nvPr/>
        </p:nvSpPr>
        <p:spPr>
          <a:xfrm>
            <a:off x="6248400" y="4025900"/>
            <a:ext cx="38100" cy="18796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799D2AC5-E462-BD35-35F4-599296909679}"/>
              </a:ext>
            </a:extLst>
          </p:cNvPr>
          <p:cNvSpPr txBox="1"/>
          <p:nvPr/>
        </p:nvSpPr>
        <p:spPr>
          <a:xfrm>
            <a:off x="6502400" y="4191000"/>
            <a:ext cx="4724400" cy="457200"/>
          </a:xfrm>
          <a:prstGeom prst="rect">
            <a:avLst/>
          </a:prstGeom>
          <a:noFill/>
        </p:spPr>
        <p:txBody>
          <a:bodyPr vert="horz" wrap="square" lIns="0" tIns="0" rIns="0" bIns="0" rtlCol="0" anchor="t">
            <a:noAutofit/>
          </a:bodyPr>
          <a:lstStyle/>
          <a:p>
            <a:r>
              <a:rPr kumimoji="1" lang="zh-CN" altLang="en-US" sz="2200" b="1">
                <a:solidFill>
                  <a:srgbClr val="86518C"/>
                </a:solidFill>
                <a:latin typeface="BIZ UDPGothic" panose="020B0400000000000000" pitchFamily="50" charset="-128"/>
                <a:ea typeface="BIZ UDPGothic" panose="020B0400000000000000" pitchFamily="50" charset="-128"/>
              </a:rPr>
              <a:t>親会社帰属四半期利益</a:t>
            </a:r>
            <a:endParaRPr kumimoji="1" lang="ja-JP" altLang="en-US" sz="2200" b="1">
              <a:solidFill>
                <a:srgbClr val="86518C"/>
              </a:solidFill>
              <a:latin typeface="BIZ UDPGothic" panose="020B0400000000000000" pitchFamily="50" charset="-128"/>
              <a:ea typeface="BIZ UDPGothic" panose="020B0400000000000000" pitchFamily="50" charset="-128"/>
            </a:endParaRPr>
          </a:p>
        </p:txBody>
      </p:sp>
      <p:sp>
        <p:nvSpPr>
          <p:cNvPr id="23" name="テキスト ボックス 22">
            <a:extLst>
              <a:ext uri="{FF2B5EF4-FFF2-40B4-BE49-F238E27FC236}">
                <a16:creationId xmlns:a16="http://schemas.microsoft.com/office/drawing/2014/main" id="{B5E310CE-272F-B675-962A-F3CE914BF018}"/>
              </a:ext>
            </a:extLst>
          </p:cNvPr>
          <p:cNvSpPr txBox="1"/>
          <p:nvPr/>
        </p:nvSpPr>
        <p:spPr>
          <a:xfrm>
            <a:off x="6502400" y="4711700"/>
            <a:ext cx="4724400" cy="736600"/>
          </a:xfrm>
          <a:prstGeom prst="rect">
            <a:avLst/>
          </a:prstGeom>
          <a:noFill/>
        </p:spPr>
        <p:txBody>
          <a:bodyPr vert="horz" wrap="none" lIns="0" tIns="0" rIns="0" bIns="0" rtlCol="0" anchor="t">
            <a:noAutofit/>
          </a:bodyPr>
          <a:lstStyle/>
          <a:p>
            <a:r>
              <a:rPr kumimoji="1" lang="en-US" altLang="ja-JP" sz="4000" b="1">
                <a:solidFill>
                  <a:srgbClr val="86518C"/>
                </a:solidFill>
                <a:latin typeface="Arial" panose="020B0604020202020204" pitchFamily="34" charset="0"/>
                <a:ea typeface="BIZ UDPGothic" panose="020B0400000000000000" pitchFamily="50" charset="-128"/>
              </a:rPr>
              <a:t>1</a:t>
            </a:r>
            <a:r>
              <a:rPr kumimoji="1" lang="ja-JP" altLang="en-US" sz="4000" b="1">
                <a:solidFill>
                  <a:srgbClr val="86518C"/>
                </a:solidFill>
                <a:latin typeface="Arial" panose="020B0604020202020204" pitchFamily="34" charset="0"/>
                <a:ea typeface="BIZ UDPGothic" panose="020B0400000000000000" pitchFamily="50" charset="-128"/>
              </a:rPr>
              <a:t>兆</a:t>
            </a:r>
            <a:r>
              <a:rPr kumimoji="1" lang="en-US" altLang="ja-JP" sz="4000" b="1">
                <a:solidFill>
                  <a:srgbClr val="86518C"/>
                </a:solidFill>
                <a:latin typeface="Arial" panose="020B0604020202020204" pitchFamily="34" charset="0"/>
                <a:ea typeface="BIZ UDPGothic" panose="020B0400000000000000" pitchFamily="50" charset="-128"/>
              </a:rPr>
              <a:t>4,770</a:t>
            </a:r>
            <a:r>
              <a:rPr kumimoji="1" lang="ja-JP" altLang="en-US" sz="4000" b="1">
                <a:solidFill>
                  <a:srgbClr val="86518C"/>
                </a:solidFill>
                <a:latin typeface="Arial" panose="020B0604020202020204" pitchFamily="34" charset="0"/>
                <a:ea typeface="BIZ UDPGothic" panose="020B0400000000000000" pitchFamily="50" charset="-128"/>
              </a:rPr>
              <a:t>億円</a:t>
            </a:r>
          </a:p>
        </p:txBody>
      </p:sp>
      <p:sp>
        <p:nvSpPr>
          <p:cNvPr id="24" name="テキスト ボックス 23">
            <a:extLst>
              <a:ext uri="{FF2B5EF4-FFF2-40B4-BE49-F238E27FC236}">
                <a16:creationId xmlns:a16="http://schemas.microsoft.com/office/drawing/2014/main" id="{48737C62-478C-A1A5-6CD2-6F26880E71B4}"/>
              </a:ext>
            </a:extLst>
          </p:cNvPr>
          <p:cNvSpPr txBox="1"/>
          <p:nvPr/>
        </p:nvSpPr>
        <p:spPr>
          <a:xfrm>
            <a:off x="65024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+75.6%</a:t>
            </a:r>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EPS120.69</a:t>
            </a:r>
            <a:r>
              <a:rPr kumimoji="1" lang="ja-JP" altLang="en-US">
                <a:solidFill>
                  <a:srgbClr val="172D4A"/>
                </a:solidFill>
                <a:latin typeface="BIZ UDPGothic" panose="020B0400000000000000" pitchFamily="50" charset="-128"/>
                <a:ea typeface="BIZ UDPGothic" panose="020B0400000000000000" pitchFamily="50" charset="-128"/>
              </a:rPr>
              <a:t>円</a:t>
            </a:r>
          </a:p>
        </p:txBody>
      </p:sp>
      <p:cxnSp>
        <p:nvCxnSpPr>
          <p:cNvPr id="25" name="直線コネクタ 24">
            <a:extLst>
              <a:ext uri="{FF2B5EF4-FFF2-40B4-BE49-F238E27FC236}">
                <a16:creationId xmlns:a16="http://schemas.microsoft.com/office/drawing/2014/main" id="{BC184B3C-8886-AFC2-9DD0-B5A66F76DBA5}"/>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BFF10761-0ED7-3F51-2637-8079A263A90E}"/>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p.2</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27" name="テキスト ボックス 26">
            <a:extLst>
              <a:ext uri="{FF2B5EF4-FFF2-40B4-BE49-F238E27FC236}">
                <a16:creationId xmlns:a16="http://schemas.microsoft.com/office/drawing/2014/main" id="{8F7ADA0D-85BF-0318-A5E8-199E3F7F6175}"/>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2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07522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_3">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7DDC8193-DAF3-6721-0718-F0B329742F36}"/>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84B3F5F3-69A0-EA46-52A7-0510C72CD863}"/>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営業利益は前年同期比△</a:t>
            </a:r>
            <a:r>
              <a:rPr kumimoji="1" lang="en-US" altLang="ja-JP" sz="3400" b="1">
                <a:solidFill>
                  <a:srgbClr val="172D4A"/>
                </a:solidFill>
                <a:latin typeface="BIZ UDPGothic" panose="020B0400000000000000" pitchFamily="50" charset="-128"/>
                <a:ea typeface="BIZ UDPGothic" panose="020B0400000000000000" pitchFamily="50" charset="-128"/>
              </a:rPr>
              <a:t>1,026</a:t>
            </a:r>
            <a:r>
              <a:rPr kumimoji="1" lang="ja-JP" altLang="en-US" sz="3400" b="1">
                <a:solidFill>
                  <a:srgbClr val="172D4A"/>
                </a:solidFill>
                <a:latin typeface="BIZ UDPGothic" panose="020B0400000000000000" pitchFamily="50" charset="-128"/>
                <a:ea typeface="BIZ UDPGothic" panose="020B0400000000000000" pitchFamily="50" charset="-128"/>
              </a:rPr>
              <a:t>億円（△</a:t>
            </a:r>
            <a:r>
              <a:rPr kumimoji="1" lang="en-US" altLang="ja-JP" sz="3400" b="1">
                <a:solidFill>
                  <a:srgbClr val="172D4A"/>
                </a:solidFill>
                <a:latin typeface="BIZ UDPGothic" panose="020B0400000000000000" pitchFamily="50" charset="-128"/>
                <a:ea typeface="BIZ UDPGothic" panose="020B0400000000000000" pitchFamily="50" charset="-128"/>
              </a:rPr>
              <a:t>8.8%</a:t>
            </a:r>
            <a:r>
              <a:rPr kumimoji="1" lang="ja-JP" altLang="en-US" sz="3400" b="1">
                <a:solidFill>
                  <a:srgbClr val="172D4A"/>
                </a:solidFill>
                <a:latin typeface="BIZ UDPGothic" panose="020B0400000000000000" pitchFamily="50" charset="-128"/>
                <a:ea typeface="BIZ UDPGothic" panose="020B0400000000000000" pitchFamily="50" charset="-128"/>
              </a:rPr>
              <a:t>）</a:t>
            </a:r>
          </a:p>
        </p:txBody>
      </p:sp>
      <p:cxnSp>
        <p:nvCxnSpPr>
          <p:cNvPr id="4" name="直線コネクタ 3">
            <a:extLst>
              <a:ext uri="{FF2B5EF4-FFF2-40B4-BE49-F238E27FC236}">
                <a16:creationId xmlns:a16="http://schemas.microsoft.com/office/drawing/2014/main" id="{EB8708F9-B8E5-BC66-EE54-ECFCD7A39372}"/>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24D230DA-2CD1-778B-7CC2-9129A3D1E738}"/>
              </a:ext>
            </a:extLst>
          </p:cNvPr>
          <p:cNvSpPr/>
          <p:nvPr/>
        </p:nvSpPr>
        <p:spPr>
          <a:xfrm>
            <a:off x="711200" y="2019300"/>
            <a:ext cx="10769600" cy="876300"/>
          </a:xfrm>
          <a:prstGeom prst="rect">
            <a:avLst/>
          </a:prstGeom>
          <a:solidFill>
            <a:srgbClr val="FFFFFF"/>
          </a:solidFill>
          <a:ln w="12700">
            <a:solidFill>
              <a:srgbClr val="245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3A625A8-597D-3A84-1A54-FA065124FA08}"/>
              </a:ext>
            </a:extLst>
          </p:cNvPr>
          <p:cNvSpPr/>
          <p:nvPr/>
        </p:nvSpPr>
        <p:spPr>
          <a:xfrm>
            <a:off x="711200" y="2019300"/>
            <a:ext cx="38100" cy="8763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8C05AB08-1C02-F654-D636-A9BA22AC37E1}"/>
              </a:ext>
            </a:extLst>
          </p:cNvPr>
          <p:cNvSpPr/>
          <p:nvPr/>
        </p:nvSpPr>
        <p:spPr>
          <a:xfrm>
            <a:off x="1009650" y="2235200"/>
            <a:ext cx="444500" cy="444500"/>
          </a:xfrm>
          <a:prstGeom prst="ellipse">
            <a:avLst/>
          </a:prstGeom>
          <a:noFill/>
          <a:ln w="31115"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536AFEC0-E58E-C209-9FC0-2A5C605F9B74}"/>
              </a:ext>
            </a:extLst>
          </p:cNvPr>
          <p:cNvSpPr/>
          <p:nvPr/>
        </p:nvSpPr>
        <p:spPr>
          <a:xfrm>
            <a:off x="1120775" y="2235200"/>
            <a:ext cx="222250" cy="444500"/>
          </a:xfrm>
          <a:prstGeom prst="ellipse">
            <a:avLst/>
          </a:prstGeom>
          <a:noFill/>
          <a:ln w="31115"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99FEB438-E88D-B2D0-1AAB-B3B54C44D241}"/>
              </a:ext>
            </a:extLst>
          </p:cNvPr>
          <p:cNvCxnSpPr/>
          <p:nvPr/>
        </p:nvCxnSpPr>
        <p:spPr>
          <a:xfrm>
            <a:off x="1009650" y="2457450"/>
            <a:ext cx="444500" cy="0"/>
          </a:xfrm>
          <a:prstGeom prst="line">
            <a:avLst/>
          </a:prstGeom>
          <a:ln w="31115">
            <a:solidFill>
              <a:srgbClr val="245DA8"/>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E831E4B7-E610-FF58-6BAE-121DA6682BDE}"/>
              </a:ext>
            </a:extLst>
          </p:cNvPr>
          <p:cNvSpPr txBox="1"/>
          <p:nvPr/>
        </p:nvSpPr>
        <p:spPr>
          <a:xfrm>
            <a:off x="1752600" y="2146300"/>
            <a:ext cx="3454400" cy="622300"/>
          </a:xfrm>
          <a:prstGeom prst="rect">
            <a:avLst/>
          </a:prstGeom>
          <a:noFill/>
        </p:spPr>
        <p:txBody>
          <a:bodyPr vert="horz" wrap="square" lIns="0" tIns="0" rIns="0" bIns="0" rtlCol="0" anchor="t">
            <a:noAutofit/>
          </a:bodyPr>
          <a:lstStyle/>
          <a:p>
            <a:r>
              <a:rPr kumimoji="1" lang="ja-JP" altLang="en-US" sz="2400" b="1">
                <a:solidFill>
                  <a:srgbClr val="245DA8"/>
                </a:solidFill>
                <a:latin typeface="BIZ UDPGothic" panose="020B0400000000000000" pitchFamily="50" charset="-128"/>
                <a:ea typeface="BIZ UDPGothic" panose="020B0400000000000000" pitchFamily="50" charset="-128"/>
              </a:rPr>
              <a:t>為替変動の影響</a:t>
            </a:r>
          </a:p>
        </p:txBody>
      </p:sp>
      <p:sp>
        <p:nvSpPr>
          <p:cNvPr id="11" name="テキスト ボックス 10">
            <a:extLst>
              <a:ext uri="{FF2B5EF4-FFF2-40B4-BE49-F238E27FC236}">
                <a16:creationId xmlns:a16="http://schemas.microsoft.com/office/drawing/2014/main" id="{453395AE-D529-8577-258E-16DB807C0CC3}"/>
              </a:ext>
            </a:extLst>
          </p:cNvPr>
          <p:cNvSpPr txBox="1"/>
          <p:nvPr/>
        </p:nvSpPr>
        <p:spPr>
          <a:xfrm>
            <a:off x="5562600" y="2159000"/>
            <a:ext cx="5638800" cy="6096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+3,450</a:t>
            </a:r>
            <a:r>
              <a:rPr kumimoji="1" lang="ja-JP" altLang="en-US">
                <a:solidFill>
                  <a:srgbClr val="172D4A"/>
                </a:solidFill>
                <a:latin typeface="BIZ UDPGothic" panose="020B0400000000000000" pitchFamily="50" charset="-128"/>
                <a:ea typeface="BIZ UDPGothic" panose="020B0400000000000000" pitchFamily="50" charset="-128"/>
              </a:rPr>
              <a:t>億円（押し上げ）</a:t>
            </a:r>
          </a:p>
        </p:txBody>
      </p:sp>
      <p:sp>
        <p:nvSpPr>
          <p:cNvPr id="12" name="正方形/長方形 11">
            <a:extLst>
              <a:ext uri="{FF2B5EF4-FFF2-40B4-BE49-F238E27FC236}">
                <a16:creationId xmlns:a16="http://schemas.microsoft.com/office/drawing/2014/main" id="{DA9BFA42-4512-6339-C36F-94DBA41EAD05}"/>
              </a:ext>
            </a:extLst>
          </p:cNvPr>
          <p:cNvSpPr/>
          <p:nvPr/>
        </p:nvSpPr>
        <p:spPr>
          <a:xfrm>
            <a:off x="711200" y="3022600"/>
            <a:ext cx="10769600" cy="876300"/>
          </a:xfrm>
          <a:prstGeom prst="rect">
            <a:avLst/>
          </a:prstGeom>
          <a:solidFill>
            <a:srgbClr val="FFFFFF"/>
          </a:solidFill>
          <a:ln w="12700">
            <a:solidFill>
              <a:srgbClr val="087A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F2B0682-6393-985B-D6C8-29427A34F940}"/>
              </a:ext>
            </a:extLst>
          </p:cNvPr>
          <p:cNvSpPr/>
          <p:nvPr/>
        </p:nvSpPr>
        <p:spPr>
          <a:xfrm>
            <a:off x="711200" y="3022600"/>
            <a:ext cx="38100" cy="8763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0E533B8E-A996-581D-370D-143FB1819034}"/>
              </a:ext>
            </a:extLst>
          </p:cNvPr>
          <p:cNvSpPr/>
          <p:nvPr/>
        </p:nvSpPr>
        <p:spPr>
          <a:xfrm>
            <a:off x="1031875" y="3327400"/>
            <a:ext cx="400050" cy="155575"/>
          </a:xfrm>
          <a:prstGeom prst="ellipse">
            <a:avLst/>
          </a:prstGeom>
          <a:noFill/>
          <a:ln w="31115"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B657B776-A6F1-357D-A1AC-81A147C7A2C3}"/>
              </a:ext>
            </a:extLst>
          </p:cNvPr>
          <p:cNvSpPr/>
          <p:nvPr/>
        </p:nvSpPr>
        <p:spPr>
          <a:xfrm>
            <a:off x="1031875" y="3416300"/>
            <a:ext cx="400050" cy="155575"/>
          </a:xfrm>
          <a:prstGeom prst="ellipse">
            <a:avLst/>
          </a:prstGeom>
          <a:noFill/>
          <a:ln w="31115"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BEC18A47-3CC1-EDEA-0900-0DB0381D3377}"/>
              </a:ext>
            </a:extLst>
          </p:cNvPr>
          <p:cNvSpPr/>
          <p:nvPr/>
        </p:nvSpPr>
        <p:spPr>
          <a:xfrm>
            <a:off x="1031875" y="3505200"/>
            <a:ext cx="400050" cy="155575"/>
          </a:xfrm>
          <a:prstGeom prst="ellipse">
            <a:avLst/>
          </a:prstGeom>
          <a:noFill/>
          <a:ln w="31115"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A51C565-E7FA-04CF-AE72-D2342DE8A99C}"/>
              </a:ext>
            </a:extLst>
          </p:cNvPr>
          <p:cNvSpPr txBox="1"/>
          <p:nvPr/>
        </p:nvSpPr>
        <p:spPr>
          <a:xfrm>
            <a:off x="1752600" y="3149600"/>
            <a:ext cx="3454400" cy="622300"/>
          </a:xfrm>
          <a:prstGeom prst="rect">
            <a:avLst/>
          </a:prstGeom>
          <a:noFill/>
        </p:spPr>
        <p:txBody>
          <a:bodyPr vert="horz" wrap="square" lIns="0" tIns="0" rIns="0" bIns="0" rtlCol="0" anchor="t">
            <a:noAutofit/>
          </a:bodyPr>
          <a:lstStyle/>
          <a:p>
            <a:r>
              <a:rPr kumimoji="1" lang="ja-JP" altLang="en-US" sz="2400" b="1">
                <a:solidFill>
                  <a:srgbClr val="087A72"/>
                </a:solidFill>
                <a:latin typeface="BIZ UDPGothic" panose="020B0400000000000000" pitchFamily="50" charset="-128"/>
                <a:ea typeface="BIZ UDPGothic" panose="020B0400000000000000" pitchFamily="50" charset="-128"/>
              </a:rPr>
              <a:t>諸経費増減・低減努力</a:t>
            </a:r>
          </a:p>
        </p:txBody>
      </p:sp>
      <p:sp>
        <p:nvSpPr>
          <p:cNvPr id="18" name="テキスト ボックス 17">
            <a:extLst>
              <a:ext uri="{FF2B5EF4-FFF2-40B4-BE49-F238E27FC236}">
                <a16:creationId xmlns:a16="http://schemas.microsoft.com/office/drawing/2014/main" id="{846A1316-E4AE-C008-7CA6-D954CBDD2157}"/>
              </a:ext>
            </a:extLst>
          </p:cNvPr>
          <p:cNvSpPr txBox="1"/>
          <p:nvPr/>
        </p:nvSpPr>
        <p:spPr>
          <a:xfrm>
            <a:off x="5562600" y="31623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1,900</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sp>
        <p:nvSpPr>
          <p:cNvPr id="19" name="正方形/長方形 18">
            <a:extLst>
              <a:ext uri="{FF2B5EF4-FFF2-40B4-BE49-F238E27FC236}">
                <a16:creationId xmlns:a16="http://schemas.microsoft.com/office/drawing/2014/main" id="{12F1F922-7EE2-1DF4-AE32-D79232182970}"/>
              </a:ext>
            </a:extLst>
          </p:cNvPr>
          <p:cNvSpPr/>
          <p:nvPr/>
        </p:nvSpPr>
        <p:spPr>
          <a:xfrm>
            <a:off x="711200" y="4025900"/>
            <a:ext cx="10769600" cy="876300"/>
          </a:xfrm>
          <a:prstGeom prst="rect">
            <a:avLst/>
          </a:prstGeom>
          <a:solidFill>
            <a:srgbClr val="FFFFFF"/>
          </a:solidFill>
          <a:ln w="12700">
            <a:solidFill>
              <a:srgbClr val="945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BB808F1-2C1C-8C54-9BB8-5BEA5B87B10C}"/>
              </a:ext>
            </a:extLst>
          </p:cNvPr>
          <p:cNvSpPr/>
          <p:nvPr/>
        </p:nvSpPr>
        <p:spPr>
          <a:xfrm>
            <a:off x="711200" y="4025900"/>
            <a:ext cx="38100" cy="8763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19BD93F9-DF65-1724-6049-8E3344873153}"/>
              </a:ext>
            </a:extLst>
          </p:cNvPr>
          <p:cNvSpPr txBox="1"/>
          <p:nvPr/>
        </p:nvSpPr>
        <p:spPr>
          <a:xfrm>
            <a:off x="1752600" y="4152900"/>
            <a:ext cx="3454400" cy="622300"/>
          </a:xfrm>
          <a:prstGeom prst="rect">
            <a:avLst/>
          </a:prstGeom>
          <a:noFill/>
        </p:spPr>
        <p:txBody>
          <a:bodyPr vert="horz" wrap="square" lIns="0" tIns="0" rIns="0" bIns="0" rtlCol="0" anchor="t">
            <a:noAutofit/>
          </a:bodyPr>
          <a:lstStyle/>
          <a:p>
            <a:r>
              <a:rPr kumimoji="1" lang="ja-JP" altLang="en-US" sz="2400" b="1">
                <a:solidFill>
                  <a:srgbClr val="945F1D"/>
                </a:solidFill>
                <a:latin typeface="BIZ UDPGothic" panose="020B0400000000000000" pitchFamily="50" charset="-128"/>
                <a:ea typeface="BIZ UDPGothic" panose="020B0400000000000000" pitchFamily="50" charset="-128"/>
              </a:rPr>
              <a:t>その他</a:t>
            </a:r>
          </a:p>
        </p:txBody>
      </p:sp>
      <p:sp>
        <p:nvSpPr>
          <p:cNvPr id="22" name="テキスト ボックス 21">
            <a:extLst>
              <a:ext uri="{FF2B5EF4-FFF2-40B4-BE49-F238E27FC236}">
                <a16:creationId xmlns:a16="http://schemas.microsoft.com/office/drawing/2014/main" id="{D9C1838A-87E3-C983-CB2D-5130F6E1A43F}"/>
              </a:ext>
            </a:extLst>
          </p:cNvPr>
          <p:cNvSpPr txBox="1"/>
          <p:nvPr/>
        </p:nvSpPr>
        <p:spPr>
          <a:xfrm>
            <a:off x="5562600" y="41656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2,426</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sp>
        <p:nvSpPr>
          <p:cNvPr id="23" name="正方形/長方形 22">
            <a:extLst>
              <a:ext uri="{FF2B5EF4-FFF2-40B4-BE49-F238E27FC236}">
                <a16:creationId xmlns:a16="http://schemas.microsoft.com/office/drawing/2014/main" id="{225F371C-90AC-78AC-7BAE-82B67599F9DD}"/>
              </a:ext>
            </a:extLst>
          </p:cNvPr>
          <p:cNvSpPr/>
          <p:nvPr/>
        </p:nvSpPr>
        <p:spPr>
          <a:xfrm>
            <a:off x="711200" y="5029200"/>
            <a:ext cx="10769600" cy="876300"/>
          </a:xfrm>
          <a:prstGeom prst="rect">
            <a:avLst/>
          </a:prstGeom>
          <a:solidFill>
            <a:srgbClr val="FFFFFF"/>
          </a:solidFill>
          <a:ln w="12700">
            <a:solidFill>
              <a:srgbClr val="865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29C1EF62-4D64-31D2-7355-3DE6615DD37A}"/>
              </a:ext>
            </a:extLst>
          </p:cNvPr>
          <p:cNvSpPr/>
          <p:nvPr/>
        </p:nvSpPr>
        <p:spPr>
          <a:xfrm>
            <a:off x="711200" y="5029200"/>
            <a:ext cx="38100" cy="8763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8F4D647-42DA-88DD-81F9-9A87EC69BDA6}"/>
              </a:ext>
            </a:extLst>
          </p:cNvPr>
          <p:cNvSpPr/>
          <p:nvPr/>
        </p:nvSpPr>
        <p:spPr>
          <a:xfrm>
            <a:off x="1031875" y="53340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26DA7A67-6EDA-6F82-113B-7EC4206522C8}"/>
              </a:ext>
            </a:extLst>
          </p:cNvPr>
          <p:cNvSpPr/>
          <p:nvPr/>
        </p:nvSpPr>
        <p:spPr>
          <a:xfrm>
            <a:off x="1031875" y="54229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7953C81C-4442-E296-443D-D8255FA08699}"/>
              </a:ext>
            </a:extLst>
          </p:cNvPr>
          <p:cNvSpPr/>
          <p:nvPr/>
        </p:nvSpPr>
        <p:spPr>
          <a:xfrm>
            <a:off x="1031875" y="55118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A296F55-5F88-8DDF-F8F5-F62079AD070D}"/>
              </a:ext>
            </a:extLst>
          </p:cNvPr>
          <p:cNvSpPr txBox="1"/>
          <p:nvPr/>
        </p:nvSpPr>
        <p:spPr>
          <a:xfrm>
            <a:off x="1752600" y="5156200"/>
            <a:ext cx="3454400" cy="622300"/>
          </a:xfrm>
          <a:prstGeom prst="rect">
            <a:avLst/>
          </a:prstGeom>
          <a:noFill/>
        </p:spPr>
        <p:txBody>
          <a:bodyPr vert="horz" wrap="square" lIns="0" tIns="0" rIns="0" bIns="0" rtlCol="0" anchor="t">
            <a:noAutofit/>
          </a:bodyPr>
          <a:lstStyle/>
          <a:p>
            <a:r>
              <a:rPr kumimoji="1" lang="ja-JP" altLang="en-US" sz="2400" b="1">
                <a:solidFill>
                  <a:srgbClr val="86518C"/>
                </a:solidFill>
                <a:latin typeface="BIZ UDPGothic" panose="020B0400000000000000" pitchFamily="50" charset="-128"/>
                <a:ea typeface="BIZ UDPGothic" panose="020B0400000000000000" pitchFamily="50" charset="-128"/>
              </a:rPr>
              <a:t>原価改善の努力</a:t>
            </a:r>
          </a:p>
        </p:txBody>
      </p:sp>
      <p:sp>
        <p:nvSpPr>
          <p:cNvPr id="29" name="テキスト ボックス 28">
            <a:extLst>
              <a:ext uri="{FF2B5EF4-FFF2-40B4-BE49-F238E27FC236}">
                <a16:creationId xmlns:a16="http://schemas.microsoft.com/office/drawing/2014/main" id="{51733CC0-A114-6B6A-1686-C452C7670779}"/>
              </a:ext>
            </a:extLst>
          </p:cNvPr>
          <p:cNvSpPr txBox="1"/>
          <p:nvPr/>
        </p:nvSpPr>
        <p:spPr>
          <a:xfrm>
            <a:off x="5562600" y="51689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850</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cxnSp>
        <p:nvCxnSpPr>
          <p:cNvPr id="30" name="直線コネクタ 29">
            <a:extLst>
              <a:ext uri="{FF2B5EF4-FFF2-40B4-BE49-F238E27FC236}">
                <a16:creationId xmlns:a16="http://schemas.microsoft.com/office/drawing/2014/main" id="{C09321A0-6792-15D5-5E63-0E7621B12AAF}"/>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1" name="テキスト ボックス 30">
            <a:extLst>
              <a:ext uri="{FF2B5EF4-FFF2-40B4-BE49-F238E27FC236}">
                <a16:creationId xmlns:a16="http://schemas.microsoft.com/office/drawing/2014/main" id="{2D009555-57E4-5CE6-5455-38D0F2A53D21}"/>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p.19</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32" name="テキスト ボックス 31">
            <a:extLst>
              <a:ext uri="{FF2B5EF4-FFF2-40B4-BE49-F238E27FC236}">
                <a16:creationId xmlns:a16="http://schemas.microsoft.com/office/drawing/2014/main" id="{FBD494C8-39B9-8DD0-D123-92BD0B41EE1E}"/>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3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989246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_4">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A2B7B97-C880-D712-77E4-08A2EFD68EAC}"/>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A2A22082-98DA-1796-8D5F-84B9D250056F}"/>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地域によって営業利益の増減が異なる</a:t>
            </a:r>
          </a:p>
        </p:txBody>
      </p:sp>
      <p:cxnSp>
        <p:nvCxnSpPr>
          <p:cNvPr id="4" name="直線コネクタ 3">
            <a:extLst>
              <a:ext uri="{FF2B5EF4-FFF2-40B4-BE49-F238E27FC236}">
                <a16:creationId xmlns:a16="http://schemas.microsoft.com/office/drawing/2014/main" id="{9410CB23-5010-3B28-CB2A-308E698F97C1}"/>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604B1B32-B71A-6ACA-1F8A-D9DCE060A705}"/>
              </a:ext>
            </a:extLst>
          </p:cNvPr>
          <p:cNvSpPr/>
          <p:nvPr/>
        </p:nvSpPr>
        <p:spPr>
          <a:xfrm>
            <a:off x="711200" y="20828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C6C4260-5BD3-1467-A5CA-75B331CD9E43}"/>
              </a:ext>
            </a:extLst>
          </p:cNvPr>
          <p:cNvSpPr txBox="1"/>
          <p:nvPr/>
        </p:nvSpPr>
        <p:spPr>
          <a:xfrm>
            <a:off x="838200" y="2197100"/>
            <a:ext cx="2438400" cy="419100"/>
          </a:xfrm>
          <a:prstGeom prst="rect">
            <a:avLst/>
          </a:prstGeom>
          <a:noFill/>
        </p:spPr>
        <p:txBody>
          <a:bodyPr vert="horz" wrap="square" lIns="0" tIns="0" rIns="0" bIns="0" rtlCol="0" anchor="t">
            <a:noAutofit/>
          </a:bodyPr>
          <a:lstStyle/>
          <a:p>
            <a:r>
              <a:rPr kumimoji="1" lang="ja-JP" altLang="en-US" sz="1700" b="1">
                <a:solidFill>
                  <a:srgbClr val="172D4A"/>
                </a:solidFill>
                <a:latin typeface="BIZ UDPGothic" panose="020B0400000000000000" pitchFamily="50" charset="-128"/>
                <a:ea typeface="BIZ UDPGothic" panose="020B0400000000000000" pitchFamily="50" charset="-128"/>
              </a:rPr>
              <a:t>地域</a:t>
            </a:r>
          </a:p>
        </p:txBody>
      </p:sp>
      <p:sp>
        <p:nvSpPr>
          <p:cNvPr id="7" name="テキスト ボックス 6">
            <a:extLst>
              <a:ext uri="{FF2B5EF4-FFF2-40B4-BE49-F238E27FC236}">
                <a16:creationId xmlns:a16="http://schemas.microsoft.com/office/drawing/2014/main" id="{91031564-6D68-8CA5-C4F7-4C0339ED9021}"/>
              </a:ext>
            </a:extLst>
          </p:cNvPr>
          <p:cNvSpPr txBox="1"/>
          <p:nvPr/>
        </p:nvSpPr>
        <p:spPr>
          <a:xfrm>
            <a:off x="3530600" y="2197100"/>
            <a:ext cx="2438400" cy="419100"/>
          </a:xfrm>
          <a:prstGeom prst="rect">
            <a:avLst/>
          </a:prstGeom>
          <a:noFill/>
        </p:spPr>
        <p:txBody>
          <a:bodyPr vert="horz" wrap="square" lIns="0" tIns="0" rIns="0" bIns="0" rtlCol="0" anchor="t">
            <a:noAutofit/>
          </a:bodyPr>
          <a:lstStyle/>
          <a:p>
            <a:r>
              <a:rPr kumimoji="1" lang="zh-TW" altLang="en-US" sz="1700" b="1">
                <a:solidFill>
                  <a:srgbClr val="172D4A"/>
                </a:solidFill>
                <a:latin typeface="BIZ UDPGothic" panose="020B0400000000000000" pitchFamily="50" charset="-128"/>
                <a:ea typeface="BIZ UDPGothic" panose="020B0400000000000000" pitchFamily="50" charset="-128"/>
              </a:rPr>
              <a:t>営業収益（億円）</a:t>
            </a:r>
            <a:endParaRPr kumimoji="1" lang="ja-JP" altLang="en-US" sz="1700" b="1">
              <a:solidFill>
                <a:srgbClr val="172D4A"/>
              </a:solidFill>
              <a:latin typeface="BIZ UDPGothic" panose="020B0400000000000000" pitchFamily="50" charset="-128"/>
              <a:ea typeface="BIZ UDPGothic" panose="020B0400000000000000" pitchFamily="50" charset="-128"/>
            </a:endParaRPr>
          </a:p>
        </p:txBody>
      </p:sp>
      <p:sp>
        <p:nvSpPr>
          <p:cNvPr id="8" name="テキスト ボックス 7">
            <a:extLst>
              <a:ext uri="{FF2B5EF4-FFF2-40B4-BE49-F238E27FC236}">
                <a16:creationId xmlns:a16="http://schemas.microsoft.com/office/drawing/2014/main" id="{4848D263-8896-3328-E689-BC2CBBE54E13}"/>
              </a:ext>
            </a:extLst>
          </p:cNvPr>
          <p:cNvSpPr txBox="1"/>
          <p:nvPr/>
        </p:nvSpPr>
        <p:spPr>
          <a:xfrm>
            <a:off x="6223000" y="2197100"/>
            <a:ext cx="2438400" cy="419100"/>
          </a:xfrm>
          <a:prstGeom prst="rect">
            <a:avLst/>
          </a:prstGeom>
          <a:noFill/>
        </p:spPr>
        <p:txBody>
          <a:bodyPr vert="horz" wrap="square" lIns="0" tIns="0" rIns="0" bIns="0" rtlCol="0" anchor="t">
            <a:noAutofit/>
          </a:bodyPr>
          <a:lstStyle/>
          <a:p>
            <a:r>
              <a:rPr kumimoji="1" lang="zh-TW" altLang="en-US" sz="1700" b="1">
                <a:solidFill>
                  <a:srgbClr val="172D4A"/>
                </a:solidFill>
                <a:latin typeface="BIZ UDPGothic" panose="020B0400000000000000" pitchFamily="50" charset="-128"/>
                <a:ea typeface="BIZ UDPGothic" panose="020B0400000000000000" pitchFamily="50" charset="-128"/>
              </a:rPr>
              <a:t>営業利益（億円）</a:t>
            </a:r>
            <a:endParaRPr kumimoji="1" lang="ja-JP" altLang="en-US" sz="1700" b="1">
              <a:solidFill>
                <a:srgbClr val="172D4A"/>
              </a:solidFill>
              <a:latin typeface="BIZ UDPGothic" panose="020B0400000000000000" pitchFamily="50" charset="-128"/>
              <a:ea typeface="BIZ UDPGothic" panose="020B0400000000000000" pitchFamily="50" charset="-128"/>
            </a:endParaRPr>
          </a:p>
        </p:txBody>
      </p:sp>
      <p:sp>
        <p:nvSpPr>
          <p:cNvPr id="9" name="テキスト ボックス 8">
            <a:extLst>
              <a:ext uri="{FF2B5EF4-FFF2-40B4-BE49-F238E27FC236}">
                <a16:creationId xmlns:a16="http://schemas.microsoft.com/office/drawing/2014/main" id="{CA5A6F8A-5E88-65F0-B7CD-5ADA9687EC31}"/>
              </a:ext>
            </a:extLst>
          </p:cNvPr>
          <p:cNvSpPr txBox="1"/>
          <p:nvPr/>
        </p:nvSpPr>
        <p:spPr>
          <a:xfrm>
            <a:off x="8915400" y="2197100"/>
            <a:ext cx="2438400" cy="419100"/>
          </a:xfrm>
          <a:prstGeom prst="rect">
            <a:avLst/>
          </a:prstGeom>
          <a:noFill/>
        </p:spPr>
        <p:txBody>
          <a:bodyPr vert="horz" wrap="square" lIns="0" tIns="0" rIns="0" bIns="0" rtlCol="0" anchor="t">
            <a:noAutofit/>
          </a:bodyPr>
          <a:lstStyle/>
          <a:p>
            <a:r>
              <a:rPr kumimoji="1" lang="ja-JP" altLang="en-US" sz="1700" b="1">
                <a:solidFill>
                  <a:srgbClr val="172D4A"/>
                </a:solidFill>
                <a:latin typeface="BIZ UDPGothic" panose="020B0400000000000000" pitchFamily="50" charset="-128"/>
                <a:ea typeface="BIZ UDPGothic" panose="020B0400000000000000" pitchFamily="50" charset="-128"/>
              </a:rPr>
              <a:t>営業利益の前年同期比</a:t>
            </a:r>
          </a:p>
        </p:txBody>
      </p:sp>
      <p:cxnSp>
        <p:nvCxnSpPr>
          <p:cNvPr id="10" name="直線コネクタ 9">
            <a:extLst>
              <a:ext uri="{FF2B5EF4-FFF2-40B4-BE49-F238E27FC236}">
                <a16:creationId xmlns:a16="http://schemas.microsoft.com/office/drawing/2014/main" id="{BC050E43-8CBD-43DC-C078-810D3D4B599F}"/>
              </a:ext>
            </a:extLst>
          </p:cNvPr>
          <p:cNvCxnSpPr/>
          <p:nvPr/>
        </p:nvCxnSpPr>
        <p:spPr>
          <a:xfrm>
            <a:off x="711200" y="3378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6E0CE104-3449-4051-4AFC-4AB3845D19CA}"/>
              </a:ext>
            </a:extLst>
          </p:cNvPr>
          <p:cNvSpPr txBox="1"/>
          <p:nvPr/>
        </p:nvSpPr>
        <p:spPr>
          <a:xfrm>
            <a:off x="838200" y="28448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日本</a:t>
            </a:r>
          </a:p>
        </p:txBody>
      </p:sp>
      <p:sp>
        <p:nvSpPr>
          <p:cNvPr id="12" name="テキスト ボックス 11">
            <a:extLst>
              <a:ext uri="{FF2B5EF4-FFF2-40B4-BE49-F238E27FC236}">
                <a16:creationId xmlns:a16="http://schemas.microsoft.com/office/drawing/2014/main" id="{724D94C6-5477-B684-6DDB-7EF9B992225D}"/>
              </a:ext>
            </a:extLst>
          </p:cNvPr>
          <p:cNvSpPr txBox="1"/>
          <p:nvPr/>
        </p:nvSpPr>
        <p:spPr>
          <a:xfrm>
            <a:off x="3530600" y="28448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58,245</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3" name="テキスト ボックス 12">
            <a:extLst>
              <a:ext uri="{FF2B5EF4-FFF2-40B4-BE49-F238E27FC236}">
                <a16:creationId xmlns:a16="http://schemas.microsoft.com/office/drawing/2014/main" id="{09F1D3E7-24A9-9AED-576C-3D3EAF9DE0F7}"/>
              </a:ext>
            </a:extLst>
          </p:cNvPr>
          <p:cNvSpPr txBox="1"/>
          <p:nvPr/>
        </p:nvSpPr>
        <p:spPr>
          <a:xfrm>
            <a:off x="6223000" y="28448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5,401</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4" name="テキスト ボックス 13">
            <a:extLst>
              <a:ext uri="{FF2B5EF4-FFF2-40B4-BE49-F238E27FC236}">
                <a16:creationId xmlns:a16="http://schemas.microsoft.com/office/drawing/2014/main" id="{D29092DF-65C6-F33D-6641-363B2758B01D}"/>
              </a:ext>
            </a:extLst>
          </p:cNvPr>
          <p:cNvSpPr txBox="1"/>
          <p:nvPr/>
        </p:nvSpPr>
        <p:spPr>
          <a:xfrm>
            <a:off x="8915400" y="28448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16.3%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9F6145CF-02B9-A41B-4FE9-7813B610597C}"/>
              </a:ext>
            </a:extLst>
          </p:cNvPr>
          <p:cNvSpPr/>
          <p:nvPr/>
        </p:nvSpPr>
        <p:spPr>
          <a:xfrm>
            <a:off x="711200" y="33782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E3C8664C-CDFE-1972-B5F5-26007D6ADF53}"/>
              </a:ext>
            </a:extLst>
          </p:cNvPr>
          <p:cNvCxnSpPr/>
          <p:nvPr/>
        </p:nvCxnSpPr>
        <p:spPr>
          <a:xfrm>
            <a:off x="711200" y="40259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DC454F8A-6206-D061-F30D-469BB97E2E9E}"/>
              </a:ext>
            </a:extLst>
          </p:cNvPr>
          <p:cNvSpPr txBox="1"/>
          <p:nvPr/>
        </p:nvSpPr>
        <p:spPr>
          <a:xfrm>
            <a:off x="838200" y="34925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北米</a:t>
            </a:r>
          </a:p>
        </p:txBody>
      </p:sp>
      <p:sp>
        <p:nvSpPr>
          <p:cNvPr id="18" name="テキスト ボックス 17">
            <a:extLst>
              <a:ext uri="{FF2B5EF4-FFF2-40B4-BE49-F238E27FC236}">
                <a16:creationId xmlns:a16="http://schemas.microsoft.com/office/drawing/2014/main" id="{AD4DEF6D-C697-8EDD-2950-CBE13D788FA1}"/>
              </a:ext>
            </a:extLst>
          </p:cNvPr>
          <p:cNvSpPr txBox="1"/>
          <p:nvPr/>
        </p:nvSpPr>
        <p:spPr>
          <a:xfrm>
            <a:off x="3530600" y="34925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61,057</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9" name="テキスト ボックス 18">
            <a:extLst>
              <a:ext uri="{FF2B5EF4-FFF2-40B4-BE49-F238E27FC236}">
                <a16:creationId xmlns:a16="http://schemas.microsoft.com/office/drawing/2014/main" id="{045B4609-5216-52FB-828B-864ED291115F}"/>
              </a:ext>
            </a:extLst>
          </p:cNvPr>
          <p:cNvSpPr txBox="1"/>
          <p:nvPr/>
        </p:nvSpPr>
        <p:spPr>
          <a:xfrm>
            <a:off x="6223000" y="34925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1,854</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0" name="テキスト ボックス 19">
            <a:extLst>
              <a:ext uri="{FF2B5EF4-FFF2-40B4-BE49-F238E27FC236}">
                <a16:creationId xmlns:a16="http://schemas.microsoft.com/office/drawing/2014/main" id="{D008A77F-ADE8-3DBE-8BC2-325AC8D4C8C9}"/>
              </a:ext>
            </a:extLst>
          </p:cNvPr>
          <p:cNvSpPr txBox="1"/>
          <p:nvPr/>
        </p:nvSpPr>
        <p:spPr>
          <a:xfrm>
            <a:off x="8915400" y="3492500"/>
            <a:ext cx="2438400" cy="419100"/>
          </a:xfrm>
          <a:prstGeom prst="rect">
            <a:avLst/>
          </a:prstGeom>
          <a:noFill/>
        </p:spPr>
        <p:txBody>
          <a:bodyPr vert="horz" wrap="square" lIns="0" tIns="0" rIns="0" bIns="0" rtlCol="0" anchor="t">
            <a:noAutofit/>
          </a:bodyPr>
          <a:lstStyle/>
          <a:p>
            <a:r>
              <a:rPr kumimoji="1" lang="en-US" altLang="zh-TW" sz="1700">
                <a:solidFill>
                  <a:srgbClr val="172D4A"/>
                </a:solidFill>
                <a:latin typeface="BIZ UDPGothic" panose="020B0400000000000000" pitchFamily="50" charset="-128"/>
                <a:ea typeface="BIZ UDPGothic" panose="020B0400000000000000" pitchFamily="50" charset="-128"/>
              </a:rPr>
              <a:t>+2,066</a:t>
            </a:r>
            <a:r>
              <a:rPr kumimoji="1" lang="zh-TW" altLang="en-US" sz="1700">
                <a:solidFill>
                  <a:srgbClr val="172D4A"/>
                </a:solidFill>
                <a:latin typeface="BIZ UDPGothic" panose="020B0400000000000000" pitchFamily="50" charset="-128"/>
                <a:ea typeface="BIZ UDPGothic" panose="020B0400000000000000" pitchFamily="50" charset="-128"/>
              </a:rPr>
              <a:t>億円（増益）</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21" name="直線コネクタ 20">
            <a:extLst>
              <a:ext uri="{FF2B5EF4-FFF2-40B4-BE49-F238E27FC236}">
                <a16:creationId xmlns:a16="http://schemas.microsoft.com/office/drawing/2014/main" id="{328FAC50-EFA2-43C7-9EB3-B41FEE9B8C15}"/>
              </a:ext>
            </a:extLst>
          </p:cNvPr>
          <p:cNvCxnSpPr/>
          <p:nvPr/>
        </p:nvCxnSpPr>
        <p:spPr>
          <a:xfrm>
            <a:off x="711200" y="46736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7309FB4F-130A-DDA6-19DB-E051705ED22B}"/>
              </a:ext>
            </a:extLst>
          </p:cNvPr>
          <p:cNvSpPr txBox="1"/>
          <p:nvPr/>
        </p:nvSpPr>
        <p:spPr>
          <a:xfrm>
            <a:off x="838200" y="41402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欧州</a:t>
            </a:r>
          </a:p>
        </p:txBody>
      </p:sp>
      <p:sp>
        <p:nvSpPr>
          <p:cNvPr id="23" name="テキスト ボックス 22">
            <a:extLst>
              <a:ext uri="{FF2B5EF4-FFF2-40B4-BE49-F238E27FC236}">
                <a16:creationId xmlns:a16="http://schemas.microsoft.com/office/drawing/2014/main" id="{6A5375E6-886D-A24D-E4D5-A1B654771515}"/>
              </a:ext>
            </a:extLst>
          </p:cNvPr>
          <p:cNvSpPr txBox="1"/>
          <p:nvPr/>
        </p:nvSpPr>
        <p:spPr>
          <a:xfrm>
            <a:off x="35306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18,798</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4" name="テキスト ボックス 23">
            <a:extLst>
              <a:ext uri="{FF2B5EF4-FFF2-40B4-BE49-F238E27FC236}">
                <a16:creationId xmlns:a16="http://schemas.microsoft.com/office/drawing/2014/main" id="{97B47860-13CF-6C37-8E19-FE5FC89ED0FB}"/>
              </a:ext>
            </a:extLst>
          </p:cNvPr>
          <p:cNvSpPr txBox="1"/>
          <p:nvPr/>
        </p:nvSpPr>
        <p:spPr>
          <a:xfrm>
            <a:off x="62230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1,072</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5" name="テキスト ボックス 24">
            <a:extLst>
              <a:ext uri="{FF2B5EF4-FFF2-40B4-BE49-F238E27FC236}">
                <a16:creationId xmlns:a16="http://schemas.microsoft.com/office/drawing/2014/main" id="{B0177D33-F962-310A-AFDF-2640D517BC53}"/>
              </a:ext>
            </a:extLst>
          </p:cNvPr>
          <p:cNvSpPr txBox="1"/>
          <p:nvPr/>
        </p:nvSpPr>
        <p:spPr>
          <a:xfrm>
            <a:off x="89154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+10.6%</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6" name="正方形/長方形 25">
            <a:extLst>
              <a:ext uri="{FF2B5EF4-FFF2-40B4-BE49-F238E27FC236}">
                <a16:creationId xmlns:a16="http://schemas.microsoft.com/office/drawing/2014/main" id="{4F32A50D-5474-CC5B-5FFF-AE2793F423F3}"/>
              </a:ext>
            </a:extLst>
          </p:cNvPr>
          <p:cNvSpPr/>
          <p:nvPr/>
        </p:nvSpPr>
        <p:spPr>
          <a:xfrm>
            <a:off x="711200" y="46736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FEDED9ED-69B5-F28B-6B51-74814D7C95DD}"/>
              </a:ext>
            </a:extLst>
          </p:cNvPr>
          <p:cNvCxnSpPr/>
          <p:nvPr/>
        </p:nvCxnSpPr>
        <p:spPr>
          <a:xfrm>
            <a:off x="711200" y="5321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7B607BA5-3B1D-D194-A5E2-EB7A89819DA7}"/>
              </a:ext>
            </a:extLst>
          </p:cNvPr>
          <p:cNvSpPr txBox="1"/>
          <p:nvPr/>
        </p:nvSpPr>
        <p:spPr>
          <a:xfrm>
            <a:off x="838200" y="47879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アジア</a:t>
            </a:r>
          </a:p>
        </p:txBody>
      </p:sp>
      <p:sp>
        <p:nvSpPr>
          <p:cNvPr id="29" name="テキスト ボックス 28">
            <a:extLst>
              <a:ext uri="{FF2B5EF4-FFF2-40B4-BE49-F238E27FC236}">
                <a16:creationId xmlns:a16="http://schemas.microsoft.com/office/drawing/2014/main" id="{8BEE193A-4F63-46D1-8F70-A836AB3341D8}"/>
              </a:ext>
            </a:extLst>
          </p:cNvPr>
          <p:cNvSpPr txBox="1"/>
          <p:nvPr/>
        </p:nvSpPr>
        <p:spPr>
          <a:xfrm>
            <a:off x="3530600" y="47879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23,363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0" name="テキスト ボックス 29">
            <a:extLst>
              <a:ext uri="{FF2B5EF4-FFF2-40B4-BE49-F238E27FC236}">
                <a16:creationId xmlns:a16="http://schemas.microsoft.com/office/drawing/2014/main" id="{B2EE9394-4151-DE91-F651-ABF47899BB45}"/>
              </a:ext>
            </a:extLst>
          </p:cNvPr>
          <p:cNvSpPr txBox="1"/>
          <p:nvPr/>
        </p:nvSpPr>
        <p:spPr>
          <a:xfrm>
            <a:off x="6223000" y="47879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2,083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1" name="テキスト ボックス 30">
            <a:extLst>
              <a:ext uri="{FF2B5EF4-FFF2-40B4-BE49-F238E27FC236}">
                <a16:creationId xmlns:a16="http://schemas.microsoft.com/office/drawing/2014/main" id="{5F5F0155-C290-7574-B755-9F0D048E8306}"/>
              </a:ext>
            </a:extLst>
          </p:cNvPr>
          <p:cNvSpPr txBox="1"/>
          <p:nvPr/>
        </p:nvSpPr>
        <p:spPr>
          <a:xfrm>
            <a:off x="8915400" y="47879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3.4%</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32" name="直線コネクタ 31">
            <a:extLst>
              <a:ext uri="{FF2B5EF4-FFF2-40B4-BE49-F238E27FC236}">
                <a16:creationId xmlns:a16="http://schemas.microsoft.com/office/drawing/2014/main" id="{929D490B-D6D5-D237-038B-CD2A6A1EDC5D}"/>
              </a:ext>
            </a:extLst>
          </p:cNvPr>
          <p:cNvCxnSpPr/>
          <p:nvPr/>
        </p:nvCxnSpPr>
        <p:spPr>
          <a:xfrm>
            <a:off x="711200" y="59690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171E2BFB-18B9-4D86-BB36-4BE82CCFC579}"/>
              </a:ext>
            </a:extLst>
          </p:cNvPr>
          <p:cNvSpPr txBox="1"/>
          <p:nvPr/>
        </p:nvSpPr>
        <p:spPr>
          <a:xfrm>
            <a:off x="838200" y="54356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その他の地域</a:t>
            </a:r>
          </a:p>
        </p:txBody>
      </p:sp>
      <p:sp>
        <p:nvSpPr>
          <p:cNvPr id="34" name="テキスト ボックス 33">
            <a:extLst>
              <a:ext uri="{FF2B5EF4-FFF2-40B4-BE49-F238E27FC236}">
                <a16:creationId xmlns:a16="http://schemas.microsoft.com/office/drawing/2014/main" id="{70572DEF-B043-6703-4BC2-143131A62EB0}"/>
              </a:ext>
            </a:extLst>
          </p:cNvPr>
          <p:cNvSpPr txBox="1"/>
          <p:nvPr/>
        </p:nvSpPr>
        <p:spPr>
          <a:xfrm>
            <a:off x="3530600" y="54356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12,721</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5" name="テキスト ボックス 34">
            <a:extLst>
              <a:ext uri="{FF2B5EF4-FFF2-40B4-BE49-F238E27FC236}">
                <a16:creationId xmlns:a16="http://schemas.microsoft.com/office/drawing/2014/main" id="{93109F3B-38E0-96CF-120B-4328EC734603}"/>
              </a:ext>
            </a:extLst>
          </p:cNvPr>
          <p:cNvSpPr txBox="1"/>
          <p:nvPr/>
        </p:nvSpPr>
        <p:spPr>
          <a:xfrm>
            <a:off x="6223000" y="54356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925</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6" name="テキスト ボックス 35">
            <a:extLst>
              <a:ext uri="{FF2B5EF4-FFF2-40B4-BE49-F238E27FC236}">
                <a16:creationId xmlns:a16="http://schemas.microsoft.com/office/drawing/2014/main" id="{FD12838D-F179-EF66-B4B0-817526A0CD0D}"/>
              </a:ext>
            </a:extLst>
          </p:cNvPr>
          <p:cNvSpPr txBox="1"/>
          <p:nvPr/>
        </p:nvSpPr>
        <p:spPr>
          <a:xfrm>
            <a:off x="8915400" y="54356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1.6%</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37" name="直線コネクタ 36">
            <a:extLst>
              <a:ext uri="{FF2B5EF4-FFF2-40B4-BE49-F238E27FC236}">
                <a16:creationId xmlns:a16="http://schemas.microsoft.com/office/drawing/2014/main" id="{524859ED-A935-C206-A2EB-3AF6DFDFA923}"/>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98C463C4-7494-50D2-1DF5-FC97EEF86F16}"/>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39" name="テキスト ボックス 38">
            <a:extLst>
              <a:ext uri="{FF2B5EF4-FFF2-40B4-BE49-F238E27FC236}">
                <a16:creationId xmlns:a16="http://schemas.microsoft.com/office/drawing/2014/main" id="{D33F9E24-66F0-4F65-CCE0-EDC5972694DF}"/>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4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162281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_5">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8B5E36A-64C7-0A97-0AC2-E40CB7D85453}"/>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06899DC7-B45C-3D2F-3BE1-BAF8846EF50F}"/>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資産・資本・現金は前期末比で減少</a:t>
            </a:r>
          </a:p>
        </p:txBody>
      </p:sp>
      <p:cxnSp>
        <p:nvCxnSpPr>
          <p:cNvPr id="4" name="直線コネクタ 3">
            <a:extLst>
              <a:ext uri="{FF2B5EF4-FFF2-40B4-BE49-F238E27FC236}">
                <a16:creationId xmlns:a16="http://schemas.microsoft.com/office/drawing/2014/main" id="{A57EF734-1F53-795D-A2CE-36CF6B1D4369}"/>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D2D6EBEA-F4B9-3F2D-2583-9581316AE434}"/>
              </a:ext>
            </a:extLst>
          </p:cNvPr>
          <p:cNvSpPr/>
          <p:nvPr/>
        </p:nvSpPr>
        <p:spPr>
          <a:xfrm>
            <a:off x="711200" y="2019300"/>
            <a:ext cx="5232400" cy="18796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9E0B512-0D50-AB97-EF4C-D3E1CCCF7149}"/>
              </a:ext>
            </a:extLst>
          </p:cNvPr>
          <p:cNvSpPr/>
          <p:nvPr/>
        </p:nvSpPr>
        <p:spPr>
          <a:xfrm>
            <a:off x="711200" y="2019300"/>
            <a:ext cx="38100" cy="18796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507A1821-53BB-09AD-0CD5-BA4DC5B5005C}"/>
              </a:ext>
            </a:extLst>
          </p:cNvPr>
          <p:cNvSpPr txBox="1"/>
          <p:nvPr/>
        </p:nvSpPr>
        <p:spPr>
          <a:xfrm>
            <a:off x="965200" y="2184400"/>
            <a:ext cx="4724400" cy="457200"/>
          </a:xfrm>
          <a:prstGeom prst="rect">
            <a:avLst/>
          </a:prstGeom>
          <a:noFill/>
        </p:spPr>
        <p:txBody>
          <a:bodyPr vert="horz" wrap="square" lIns="0" tIns="0" rIns="0" bIns="0" rtlCol="0" anchor="t">
            <a:noAutofit/>
          </a:bodyPr>
          <a:lstStyle/>
          <a:p>
            <a:r>
              <a:rPr kumimoji="1" lang="ja-JP" altLang="en-US" sz="2200" b="1">
                <a:solidFill>
                  <a:srgbClr val="245DA8"/>
                </a:solidFill>
                <a:latin typeface="BIZ UDPGothic" panose="020B0400000000000000" pitchFamily="50" charset="-128"/>
                <a:ea typeface="BIZ UDPGothic" panose="020B0400000000000000" pitchFamily="50" charset="-128"/>
              </a:rPr>
              <a:t>資産合計</a:t>
            </a:r>
          </a:p>
        </p:txBody>
      </p:sp>
      <p:sp>
        <p:nvSpPr>
          <p:cNvPr id="8" name="テキスト ボックス 7">
            <a:extLst>
              <a:ext uri="{FF2B5EF4-FFF2-40B4-BE49-F238E27FC236}">
                <a16:creationId xmlns:a16="http://schemas.microsoft.com/office/drawing/2014/main" id="{5B317D7C-37CE-284F-4689-41A7177E3359}"/>
              </a:ext>
            </a:extLst>
          </p:cNvPr>
          <p:cNvSpPr txBox="1"/>
          <p:nvPr/>
        </p:nvSpPr>
        <p:spPr>
          <a:xfrm>
            <a:off x="965200" y="2705100"/>
            <a:ext cx="4724400" cy="736600"/>
          </a:xfrm>
          <a:prstGeom prst="rect">
            <a:avLst/>
          </a:prstGeom>
          <a:noFill/>
        </p:spPr>
        <p:txBody>
          <a:bodyPr vert="horz" wrap="none" lIns="0" tIns="0" rIns="0" bIns="0" rtlCol="0" anchor="t">
            <a:noAutofit/>
          </a:bodyPr>
          <a:lstStyle/>
          <a:p>
            <a:r>
              <a:rPr kumimoji="1" lang="en-US" altLang="ja-JP" sz="4000" b="1">
                <a:solidFill>
                  <a:srgbClr val="245DA8"/>
                </a:solidFill>
                <a:latin typeface="Arial" panose="020B0604020202020204" pitchFamily="34" charset="0"/>
                <a:ea typeface="BIZ UDPGothic" panose="020B0400000000000000" pitchFamily="50" charset="-128"/>
              </a:rPr>
              <a:t>102</a:t>
            </a:r>
            <a:r>
              <a:rPr kumimoji="1" lang="ja-JP" altLang="en-US" sz="4000" b="1">
                <a:solidFill>
                  <a:srgbClr val="245DA8"/>
                </a:solidFill>
                <a:latin typeface="Arial" panose="020B0604020202020204" pitchFamily="34" charset="0"/>
                <a:ea typeface="BIZ UDPGothic" panose="020B0400000000000000" pitchFamily="50" charset="-128"/>
              </a:rPr>
              <a:t>兆</a:t>
            </a:r>
            <a:r>
              <a:rPr kumimoji="1" lang="en-US" altLang="ja-JP" sz="4000" b="1">
                <a:solidFill>
                  <a:srgbClr val="245DA8"/>
                </a:solidFill>
                <a:latin typeface="Arial" panose="020B0604020202020204" pitchFamily="34" charset="0"/>
                <a:ea typeface="BIZ UDPGothic" panose="020B0400000000000000" pitchFamily="50" charset="-128"/>
              </a:rPr>
              <a:t>6,351</a:t>
            </a:r>
            <a:r>
              <a:rPr kumimoji="1" lang="ja-JP" altLang="en-US" sz="4000" b="1">
                <a:solidFill>
                  <a:srgbClr val="245DA8"/>
                </a:solidFill>
                <a:latin typeface="Arial" panose="020B0604020202020204" pitchFamily="34" charset="0"/>
                <a:ea typeface="BIZ UDPGothic" panose="020B0400000000000000" pitchFamily="50" charset="-128"/>
              </a:rPr>
              <a:t>億円</a:t>
            </a:r>
          </a:p>
        </p:txBody>
      </p:sp>
      <p:sp>
        <p:nvSpPr>
          <p:cNvPr id="9" name="テキスト ボックス 8">
            <a:extLst>
              <a:ext uri="{FF2B5EF4-FFF2-40B4-BE49-F238E27FC236}">
                <a16:creationId xmlns:a16="http://schemas.microsoft.com/office/drawing/2014/main" id="{1E0F36EB-4347-A50A-5793-424612A19A0F}"/>
              </a:ext>
            </a:extLst>
          </p:cNvPr>
          <p:cNvSpPr txBox="1"/>
          <p:nvPr/>
        </p:nvSpPr>
        <p:spPr>
          <a:xfrm>
            <a:off x="9652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2.7%</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0" name="正方形/長方形 9">
            <a:extLst>
              <a:ext uri="{FF2B5EF4-FFF2-40B4-BE49-F238E27FC236}">
                <a16:creationId xmlns:a16="http://schemas.microsoft.com/office/drawing/2014/main" id="{E0807B54-57C9-B180-4FEA-B39AC021AD16}"/>
              </a:ext>
            </a:extLst>
          </p:cNvPr>
          <p:cNvSpPr/>
          <p:nvPr/>
        </p:nvSpPr>
        <p:spPr>
          <a:xfrm>
            <a:off x="6248400" y="2019300"/>
            <a:ext cx="5232400" cy="18796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9E9AE28-D450-BEA8-EAE2-1224BA23D664}"/>
              </a:ext>
            </a:extLst>
          </p:cNvPr>
          <p:cNvSpPr/>
          <p:nvPr/>
        </p:nvSpPr>
        <p:spPr>
          <a:xfrm>
            <a:off x="6248400" y="2019300"/>
            <a:ext cx="38100" cy="18796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8B7E8BFB-B8E1-F6B9-E8FD-6FAF708B5203}"/>
              </a:ext>
            </a:extLst>
          </p:cNvPr>
          <p:cNvSpPr txBox="1"/>
          <p:nvPr/>
        </p:nvSpPr>
        <p:spPr>
          <a:xfrm>
            <a:off x="6502400" y="2184400"/>
            <a:ext cx="4724400" cy="457200"/>
          </a:xfrm>
          <a:prstGeom prst="rect">
            <a:avLst/>
          </a:prstGeom>
          <a:noFill/>
        </p:spPr>
        <p:txBody>
          <a:bodyPr vert="horz" wrap="square" lIns="0" tIns="0" rIns="0" bIns="0" rtlCol="0" anchor="t">
            <a:noAutofit/>
          </a:bodyPr>
          <a:lstStyle/>
          <a:p>
            <a:r>
              <a:rPr kumimoji="1" lang="ja-JP" altLang="en-US" sz="2200" b="1">
                <a:solidFill>
                  <a:srgbClr val="087A72"/>
                </a:solidFill>
                <a:latin typeface="BIZ UDPGothic" panose="020B0400000000000000" pitchFamily="50" charset="-128"/>
                <a:ea typeface="BIZ UDPGothic" panose="020B0400000000000000" pitchFamily="50" charset="-128"/>
              </a:rPr>
              <a:t>資本合計</a:t>
            </a:r>
          </a:p>
        </p:txBody>
      </p:sp>
      <p:sp>
        <p:nvSpPr>
          <p:cNvPr id="13" name="テキスト ボックス 12">
            <a:extLst>
              <a:ext uri="{FF2B5EF4-FFF2-40B4-BE49-F238E27FC236}">
                <a16:creationId xmlns:a16="http://schemas.microsoft.com/office/drawing/2014/main" id="{97BE737D-9F64-626C-F089-F6560E8813CC}"/>
              </a:ext>
            </a:extLst>
          </p:cNvPr>
          <p:cNvSpPr txBox="1"/>
          <p:nvPr/>
        </p:nvSpPr>
        <p:spPr>
          <a:xfrm>
            <a:off x="6502400" y="2705100"/>
            <a:ext cx="4724400" cy="736600"/>
          </a:xfrm>
          <a:prstGeom prst="rect">
            <a:avLst/>
          </a:prstGeom>
          <a:noFill/>
        </p:spPr>
        <p:txBody>
          <a:bodyPr vert="horz" wrap="none" lIns="0" tIns="0" rIns="0" bIns="0" rtlCol="0" anchor="t">
            <a:noAutofit/>
          </a:bodyPr>
          <a:lstStyle/>
          <a:p>
            <a:r>
              <a:rPr kumimoji="1" lang="en-US" altLang="ja-JP" sz="4000" b="1">
                <a:solidFill>
                  <a:srgbClr val="087A72"/>
                </a:solidFill>
                <a:latin typeface="Arial" panose="020B0604020202020204" pitchFamily="34" charset="0"/>
                <a:ea typeface="BIZ UDPGothic" panose="020B0400000000000000" pitchFamily="50" charset="-128"/>
              </a:rPr>
              <a:t>38</a:t>
            </a:r>
            <a:r>
              <a:rPr kumimoji="1" lang="ja-JP" altLang="en-US" sz="4000" b="1">
                <a:solidFill>
                  <a:srgbClr val="087A72"/>
                </a:solidFill>
                <a:latin typeface="Arial" panose="020B0604020202020204" pitchFamily="34" charset="0"/>
                <a:ea typeface="BIZ UDPGothic" panose="020B0400000000000000" pitchFamily="50" charset="-128"/>
              </a:rPr>
              <a:t>兆</a:t>
            </a:r>
            <a:r>
              <a:rPr kumimoji="1" lang="en-US" altLang="ja-JP" sz="4000" b="1">
                <a:solidFill>
                  <a:srgbClr val="087A72"/>
                </a:solidFill>
                <a:latin typeface="Arial" panose="020B0604020202020204" pitchFamily="34" charset="0"/>
                <a:ea typeface="BIZ UDPGothic" panose="020B0400000000000000" pitchFamily="50" charset="-128"/>
              </a:rPr>
              <a:t>2,289</a:t>
            </a:r>
            <a:r>
              <a:rPr kumimoji="1" lang="ja-JP" altLang="en-US" sz="4000" b="1">
                <a:solidFill>
                  <a:srgbClr val="087A72"/>
                </a:solidFill>
                <a:latin typeface="Arial" panose="020B0604020202020204" pitchFamily="34" charset="0"/>
                <a:ea typeface="BIZ UDPGothic" panose="020B0400000000000000" pitchFamily="50" charset="-128"/>
              </a:rPr>
              <a:t>億円</a:t>
            </a:r>
          </a:p>
        </p:txBody>
      </p:sp>
      <p:sp>
        <p:nvSpPr>
          <p:cNvPr id="14" name="テキスト ボックス 13">
            <a:extLst>
              <a:ext uri="{FF2B5EF4-FFF2-40B4-BE49-F238E27FC236}">
                <a16:creationId xmlns:a16="http://schemas.microsoft.com/office/drawing/2014/main" id="{1A66495F-197E-DFB8-8E77-84658D2F332F}"/>
              </a:ext>
            </a:extLst>
          </p:cNvPr>
          <p:cNvSpPr txBox="1"/>
          <p:nvPr/>
        </p:nvSpPr>
        <p:spPr>
          <a:xfrm>
            <a:off x="65024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6.8%</a:t>
            </a:r>
            <a:r>
              <a:rPr kumimoji="1" lang="ja-JP" altLang="en-US">
                <a:solidFill>
                  <a:srgbClr val="172D4A"/>
                </a:solidFill>
                <a:latin typeface="BIZ UDPGothic" panose="020B0400000000000000" pitchFamily="50" charset="-128"/>
                <a:ea typeface="BIZ UDPGothic" panose="020B0400000000000000" pitchFamily="50" charset="-128"/>
              </a:rPr>
              <a:t>、持分比率</a:t>
            </a:r>
            <a:r>
              <a:rPr kumimoji="1" lang="en-US" altLang="ja-JP">
                <a:solidFill>
                  <a:srgbClr val="172D4A"/>
                </a:solidFill>
                <a:latin typeface="BIZ UDPGothic" panose="020B0400000000000000" pitchFamily="50" charset="-128"/>
                <a:ea typeface="BIZ UDPGothic" panose="020B0400000000000000" pitchFamily="50" charset="-128"/>
              </a:rPr>
              <a:t>36.4%</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0FB0C437-E653-8583-5848-E1EA06FE9838}"/>
              </a:ext>
            </a:extLst>
          </p:cNvPr>
          <p:cNvSpPr/>
          <p:nvPr/>
        </p:nvSpPr>
        <p:spPr>
          <a:xfrm>
            <a:off x="711200" y="4025900"/>
            <a:ext cx="5232400" cy="18796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8FEAAAA2-9F49-9218-D936-E72D1C881F8D}"/>
              </a:ext>
            </a:extLst>
          </p:cNvPr>
          <p:cNvSpPr/>
          <p:nvPr/>
        </p:nvSpPr>
        <p:spPr>
          <a:xfrm>
            <a:off x="711200" y="4025900"/>
            <a:ext cx="38100" cy="18796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3E57D60-F2FD-9FDB-59B5-861CB18B60F5}"/>
              </a:ext>
            </a:extLst>
          </p:cNvPr>
          <p:cNvSpPr txBox="1"/>
          <p:nvPr/>
        </p:nvSpPr>
        <p:spPr>
          <a:xfrm>
            <a:off x="965200" y="4191000"/>
            <a:ext cx="4724400" cy="457200"/>
          </a:xfrm>
          <a:prstGeom prst="rect">
            <a:avLst/>
          </a:prstGeom>
          <a:noFill/>
        </p:spPr>
        <p:txBody>
          <a:bodyPr vert="horz" wrap="square" lIns="0" tIns="0" rIns="0" bIns="0" rtlCol="0" anchor="t">
            <a:noAutofit/>
          </a:bodyPr>
          <a:lstStyle/>
          <a:p>
            <a:r>
              <a:rPr kumimoji="1" lang="ja-JP" altLang="en-US" sz="2200" b="1">
                <a:solidFill>
                  <a:srgbClr val="945F1D"/>
                </a:solidFill>
                <a:latin typeface="BIZ UDPGothic" panose="020B0400000000000000" pitchFamily="50" charset="-128"/>
                <a:ea typeface="BIZ UDPGothic" panose="020B0400000000000000" pitchFamily="50" charset="-128"/>
              </a:rPr>
              <a:t>現金及び現金同等物</a:t>
            </a:r>
          </a:p>
        </p:txBody>
      </p:sp>
      <p:sp>
        <p:nvSpPr>
          <p:cNvPr id="18" name="テキスト ボックス 17">
            <a:extLst>
              <a:ext uri="{FF2B5EF4-FFF2-40B4-BE49-F238E27FC236}">
                <a16:creationId xmlns:a16="http://schemas.microsoft.com/office/drawing/2014/main" id="{35DBB581-677A-CFE9-1B3F-621106AAF712}"/>
              </a:ext>
            </a:extLst>
          </p:cNvPr>
          <p:cNvSpPr txBox="1"/>
          <p:nvPr/>
        </p:nvSpPr>
        <p:spPr>
          <a:xfrm>
            <a:off x="965200" y="4711700"/>
            <a:ext cx="4724400" cy="736600"/>
          </a:xfrm>
          <a:prstGeom prst="rect">
            <a:avLst/>
          </a:prstGeom>
          <a:noFill/>
        </p:spPr>
        <p:txBody>
          <a:bodyPr vert="horz" wrap="none" lIns="0" tIns="0" rIns="0" bIns="0" rtlCol="0" anchor="t">
            <a:noAutofit/>
          </a:bodyPr>
          <a:lstStyle/>
          <a:p>
            <a:r>
              <a:rPr kumimoji="1" lang="en-US" altLang="ja-JP" sz="4000" b="1">
                <a:solidFill>
                  <a:srgbClr val="945F1D"/>
                </a:solidFill>
                <a:latin typeface="Arial" panose="020B0604020202020204" pitchFamily="34" charset="0"/>
                <a:ea typeface="BIZ UDPGothic" panose="020B0400000000000000" pitchFamily="50" charset="-128"/>
              </a:rPr>
              <a:t>10</a:t>
            </a:r>
            <a:r>
              <a:rPr kumimoji="1" lang="ja-JP" altLang="en-US" sz="4000" b="1">
                <a:solidFill>
                  <a:srgbClr val="945F1D"/>
                </a:solidFill>
                <a:latin typeface="Arial" panose="020B0604020202020204" pitchFamily="34" charset="0"/>
                <a:ea typeface="BIZ UDPGothic" panose="020B0400000000000000" pitchFamily="50" charset="-128"/>
              </a:rPr>
              <a:t>兆</a:t>
            </a:r>
            <a:r>
              <a:rPr kumimoji="1" lang="en-US" altLang="ja-JP" sz="4000" b="1">
                <a:solidFill>
                  <a:srgbClr val="945F1D"/>
                </a:solidFill>
                <a:latin typeface="Arial" panose="020B0604020202020204" pitchFamily="34" charset="0"/>
                <a:ea typeface="BIZ UDPGothic" panose="020B0400000000000000" pitchFamily="50" charset="-128"/>
              </a:rPr>
              <a:t>3,430</a:t>
            </a:r>
            <a:r>
              <a:rPr kumimoji="1" lang="ja-JP" altLang="en-US" sz="4000" b="1">
                <a:solidFill>
                  <a:srgbClr val="945F1D"/>
                </a:solidFill>
                <a:latin typeface="Arial" panose="020B0604020202020204" pitchFamily="34" charset="0"/>
                <a:ea typeface="BIZ UDPGothic" panose="020B0400000000000000" pitchFamily="50" charset="-128"/>
              </a:rPr>
              <a:t>億円</a:t>
            </a:r>
          </a:p>
        </p:txBody>
      </p:sp>
      <p:sp>
        <p:nvSpPr>
          <p:cNvPr id="19" name="テキスト ボックス 18">
            <a:extLst>
              <a:ext uri="{FF2B5EF4-FFF2-40B4-BE49-F238E27FC236}">
                <a16:creationId xmlns:a16="http://schemas.microsoft.com/office/drawing/2014/main" id="{491D068E-E0C0-3DF9-A157-14367520C7CA}"/>
              </a:ext>
            </a:extLst>
          </p:cNvPr>
          <p:cNvSpPr txBox="1"/>
          <p:nvPr/>
        </p:nvSpPr>
        <p:spPr>
          <a:xfrm>
            <a:off x="9652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18.3%</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20" name="正方形/長方形 19">
            <a:extLst>
              <a:ext uri="{FF2B5EF4-FFF2-40B4-BE49-F238E27FC236}">
                <a16:creationId xmlns:a16="http://schemas.microsoft.com/office/drawing/2014/main" id="{31528A73-E423-3F9A-EF5F-15197D7F8B8F}"/>
              </a:ext>
            </a:extLst>
          </p:cNvPr>
          <p:cNvSpPr/>
          <p:nvPr/>
        </p:nvSpPr>
        <p:spPr>
          <a:xfrm>
            <a:off x="6248400" y="4025900"/>
            <a:ext cx="5232400" cy="18796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E454106-05CD-5429-D9C7-577AC37CA326}"/>
              </a:ext>
            </a:extLst>
          </p:cNvPr>
          <p:cNvSpPr/>
          <p:nvPr/>
        </p:nvSpPr>
        <p:spPr>
          <a:xfrm>
            <a:off x="6248400" y="4025900"/>
            <a:ext cx="38100" cy="18796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1F060506-12EC-2E50-A94D-5FAF82573DE1}"/>
              </a:ext>
            </a:extLst>
          </p:cNvPr>
          <p:cNvSpPr txBox="1"/>
          <p:nvPr/>
        </p:nvSpPr>
        <p:spPr>
          <a:xfrm>
            <a:off x="6502400" y="4191000"/>
            <a:ext cx="4724400" cy="457200"/>
          </a:xfrm>
          <a:prstGeom prst="rect">
            <a:avLst/>
          </a:prstGeom>
          <a:noFill/>
        </p:spPr>
        <p:txBody>
          <a:bodyPr vert="horz" wrap="square" lIns="0" tIns="0" rIns="0" bIns="0" rtlCol="0" anchor="t">
            <a:noAutofit/>
          </a:bodyPr>
          <a:lstStyle/>
          <a:p>
            <a:r>
              <a:rPr kumimoji="1" lang="ja-JP" altLang="en-US" sz="2200" b="1">
                <a:solidFill>
                  <a:srgbClr val="86518C"/>
                </a:solidFill>
                <a:latin typeface="BIZ UDPGothic" panose="020B0400000000000000" pitchFamily="50" charset="-128"/>
                <a:ea typeface="BIZ UDPGothic" panose="020B0400000000000000" pitchFamily="50" charset="-128"/>
              </a:rPr>
              <a:t>財務活動</a:t>
            </a:r>
            <a:r>
              <a:rPr kumimoji="1" lang="en-US" altLang="ja-JP" sz="2200" b="1">
                <a:solidFill>
                  <a:srgbClr val="86518C"/>
                </a:solidFill>
                <a:latin typeface="BIZ UDPGothic" panose="020B0400000000000000" pitchFamily="50" charset="-128"/>
                <a:ea typeface="BIZ UDPGothic" panose="020B0400000000000000" pitchFamily="50" charset="-128"/>
              </a:rPr>
              <a:t>CF</a:t>
            </a:r>
            <a:endParaRPr kumimoji="1" lang="ja-JP" altLang="en-US" sz="2200" b="1">
              <a:solidFill>
                <a:srgbClr val="86518C"/>
              </a:solidFill>
              <a:latin typeface="BIZ UDPGothic" panose="020B0400000000000000" pitchFamily="50" charset="-128"/>
              <a:ea typeface="BIZ UDPGothic" panose="020B0400000000000000" pitchFamily="50" charset="-128"/>
            </a:endParaRPr>
          </a:p>
        </p:txBody>
      </p:sp>
      <p:sp>
        <p:nvSpPr>
          <p:cNvPr id="23" name="テキスト ボックス 22">
            <a:extLst>
              <a:ext uri="{FF2B5EF4-FFF2-40B4-BE49-F238E27FC236}">
                <a16:creationId xmlns:a16="http://schemas.microsoft.com/office/drawing/2014/main" id="{BE7CBBBF-6B1A-0775-F8C5-DEAF919D9ECD}"/>
              </a:ext>
            </a:extLst>
          </p:cNvPr>
          <p:cNvSpPr txBox="1"/>
          <p:nvPr/>
        </p:nvSpPr>
        <p:spPr>
          <a:xfrm>
            <a:off x="6502400" y="4711700"/>
            <a:ext cx="4724400" cy="736600"/>
          </a:xfrm>
          <a:prstGeom prst="rect">
            <a:avLst/>
          </a:prstGeom>
          <a:noFill/>
        </p:spPr>
        <p:txBody>
          <a:bodyPr vert="horz" wrap="none" lIns="0" tIns="0" rIns="0" bIns="0" rtlCol="0" anchor="t">
            <a:noAutofit/>
          </a:bodyPr>
          <a:lstStyle/>
          <a:p>
            <a:r>
              <a:rPr kumimoji="1" lang="ja-JP" altLang="en-US" sz="4000" b="1">
                <a:solidFill>
                  <a:srgbClr val="86518C"/>
                </a:solidFill>
                <a:latin typeface="Arial" panose="020B0604020202020204" pitchFamily="34" charset="0"/>
                <a:ea typeface="BIZ UDPGothic" panose="020B0400000000000000" pitchFamily="50" charset="-128"/>
              </a:rPr>
              <a:t>△</a:t>
            </a:r>
            <a:r>
              <a:rPr kumimoji="1" lang="en-US" altLang="ja-JP" sz="4000" b="1">
                <a:solidFill>
                  <a:srgbClr val="86518C"/>
                </a:solidFill>
                <a:latin typeface="Arial" panose="020B0604020202020204" pitchFamily="34" charset="0"/>
                <a:ea typeface="BIZ UDPGothic" panose="020B0400000000000000" pitchFamily="50" charset="-128"/>
              </a:rPr>
              <a:t>4</a:t>
            </a:r>
            <a:r>
              <a:rPr kumimoji="1" lang="ja-JP" altLang="en-US" sz="4000" b="1">
                <a:solidFill>
                  <a:srgbClr val="86518C"/>
                </a:solidFill>
                <a:latin typeface="Arial" panose="020B0604020202020204" pitchFamily="34" charset="0"/>
                <a:ea typeface="BIZ UDPGothic" panose="020B0400000000000000" pitchFamily="50" charset="-128"/>
              </a:rPr>
              <a:t>兆</a:t>
            </a:r>
            <a:r>
              <a:rPr kumimoji="1" lang="en-US" altLang="ja-JP" sz="4000" b="1">
                <a:solidFill>
                  <a:srgbClr val="86518C"/>
                </a:solidFill>
                <a:latin typeface="Arial" panose="020B0604020202020204" pitchFamily="34" charset="0"/>
                <a:ea typeface="BIZ UDPGothic" panose="020B0400000000000000" pitchFamily="50" charset="-128"/>
              </a:rPr>
              <a:t>3,391</a:t>
            </a:r>
            <a:r>
              <a:rPr kumimoji="1" lang="ja-JP" altLang="en-US" sz="4000" b="1">
                <a:solidFill>
                  <a:srgbClr val="86518C"/>
                </a:solidFill>
                <a:latin typeface="Arial" panose="020B0604020202020204" pitchFamily="34" charset="0"/>
                <a:ea typeface="BIZ UDPGothic" panose="020B0400000000000000" pitchFamily="50" charset="-128"/>
              </a:rPr>
              <a:t>億円</a:t>
            </a:r>
          </a:p>
        </p:txBody>
      </p:sp>
      <p:sp>
        <p:nvSpPr>
          <p:cNvPr id="24" name="テキスト ボックス 23">
            <a:extLst>
              <a:ext uri="{FF2B5EF4-FFF2-40B4-BE49-F238E27FC236}">
                <a16:creationId xmlns:a16="http://schemas.microsoft.com/office/drawing/2014/main" id="{880B4B11-0C33-2AEE-F49F-C7E6C059B88F}"/>
              </a:ext>
            </a:extLst>
          </p:cNvPr>
          <p:cNvSpPr txBox="1"/>
          <p:nvPr/>
        </p:nvSpPr>
        <p:spPr>
          <a:xfrm>
            <a:off x="65024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自己株式取得</a:t>
            </a:r>
            <a:r>
              <a:rPr kumimoji="1" lang="en-US" altLang="ja-JP">
                <a:solidFill>
                  <a:srgbClr val="172D4A"/>
                </a:solidFill>
                <a:latin typeface="BIZ UDPGothic" panose="020B0400000000000000" pitchFamily="50" charset="-128"/>
                <a:ea typeface="BIZ UDPGothic" panose="020B0400000000000000" pitchFamily="50" charset="-128"/>
              </a:rPr>
              <a:t>3</a:t>
            </a:r>
            <a:r>
              <a:rPr kumimoji="1" lang="ja-JP" altLang="en-US">
                <a:solidFill>
                  <a:srgbClr val="172D4A"/>
                </a:solidFill>
                <a:latin typeface="BIZ UDPGothic" panose="020B0400000000000000" pitchFamily="50" charset="-128"/>
                <a:ea typeface="BIZ UDPGothic" panose="020B0400000000000000" pitchFamily="50" charset="-128"/>
              </a:rPr>
              <a:t>兆</a:t>
            </a:r>
            <a:r>
              <a:rPr kumimoji="1" lang="en-US" altLang="ja-JP">
                <a:solidFill>
                  <a:srgbClr val="172D4A"/>
                </a:solidFill>
                <a:latin typeface="BIZ UDPGothic" panose="020B0400000000000000" pitchFamily="50" charset="-128"/>
                <a:ea typeface="BIZ UDPGothic" panose="020B0400000000000000" pitchFamily="50" charset="-128"/>
              </a:rPr>
              <a:t>6,569</a:t>
            </a:r>
            <a:r>
              <a:rPr kumimoji="1" lang="ja-JP" altLang="en-US">
                <a:solidFill>
                  <a:srgbClr val="172D4A"/>
                </a:solidFill>
                <a:latin typeface="BIZ UDPGothic" panose="020B0400000000000000" pitchFamily="50" charset="-128"/>
                <a:ea typeface="BIZ UDPGothic" panose="020B0400000000000000" pitchFamily="50" charset="-128"/>
              </a:rPr>
              <a:t>億円が主因</a:t>
            </a:r>
          </a:p>
        </p:txBody>
      </p:sp>
      <p:cxnSp>
        <p:nvCxnSpPr>
          <p:cNvPr id="25" name="直線コネクタ 24">
            <a:extLst>
              <a:ext uri="{FF2B5EF4-FFF2-40B4-BE49-F238E27FC236}">
                <a16:creationId xmlns:a16="http://schemas.microsoft.com/office/drawing/2014/main" id="{DA19BE84-D7C7-31CD-4590-A521E3D673C6}"/>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C37885B3-9850-7559-C1C2-358E5D66C9B5}"/>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p.7 / 2027_1q_summary_jp.pdf p.13</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27" name="テキスト ボックス 26">
            <a:extLst>
              <a:ext uri="{FF2B5EF4-FFF2-40B4-BE49-F238E27FC236}">
                <a16:creationId xmlns:a16="http://schemas.microsoft.com/office/drawing/2014/main" id="{A41B03FA-B603-3E5C-5378-0B881EB2C84D}"/>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5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122397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E_6">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642D0FA-2D5C-E63C-C9B4-5AA2F2BA4758}"/>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4919B1E8-97BF-65A1-A965-20C2C2B0361A}"/>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本業の費用吸収力と</a:t>
            </a:r>
            <a:r>
              <a:rPr kumimoji="1" lang="en-US" altLang="ja-JP" sz="3400" b="1">
                <a:solidFill>
                  <a:srgbClr val="172D4A"/>
                </a:solidFill>
                <a:latin typeface="BIZ UDPGothic" panose="020B0400000000000000" pitchFamily="50" charset="-128"/>
                <a:ea typeface="BIZ UDPGothic" panose="020B0400000000000000" pitchFamily="50" charset="-128"/>
              </a:rPr>
              <a:t>CF</a:t>
            </a:r>
            <a:r>
              <a:rPr kumimoji="1" lang="ja-JP" altLang="en-US" sz="3400" b="1">
                <a:solidFill>
                  <a:srgbClr val="172D4A"/>
                </a:solidFill>
                <a:latin typeface="BIZ UDPGothic" panose="020B0400000000000000" pitchFamily="50" charset="-128"/>
                <a:ea typeface="BIZ UDPGothic" panose="020B0400000000000000" pitchFamily="50" charset="-128"/>
              </a:rPr>
              <a:t>創出力を継続確認</a:t>
            </a:r>
          </a:p>
        </p:txBody>
      </p:sp>
      <p:cxnSp>
        <p:nvCxnSpPr>
          <p:cNvPr id="4" name="直線コネクタ 3">
            <a:extLst>
              <a:ext uri="{FF2B5EF4-FFF2-40B4-BE49-F238E27FC236}">
                <a16:creationId xmlns:a16="http://schemas.microsoft.com/office/drawing/2014/main" id="{089ED4BD-82B6-3CF4-BFDA-BFF899C389AD}"/>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A75C6DBD-D95C-1DC1-149E-0ABE25751803}"/>
              </a:ext>
            </a:extLst>
          </p:cNvPr>
          <p:cNvSpPr/>
          <p:nvPr/>
        </p:nvSpPr>
        <p:spPr>
          <a:xfrm>
            <a:off x="711200" y="2019300"/>
            <a:ext cx="5232400" cy="19304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F47DF46-5D4B-9B98-B15E-709CA8911D78}"/>
              </a:ext>
            </a:extLst>
          </p:cNvPr>
          <p:cNvSpPr/>
          <p:nvPr/>
        </p:nvSpPr>
        <p:spPr>
          <a:xfrm>
            <a:off x="711200" y="2019300"/>
            <a:ext cx="38100" cy="19304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0BAC20A5-E195-D13E-31B4-DA276D967A33}"/>
              </a:ext>
            </a:extLst>
          </p:cNvPr>
          <p:cNvSpPr/>
          <p:nvPr/>
        </p:nvSpPr>
        <p:spPr>
          <a:xfrm>
            <a:off x="1016000" y="26162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FA1C9F57-AB8F-325C-A89E-1BD3B065C4BB}"/>
              </a:ext>
            </a:extLst>
          </p:cNvPr>
          <p:cNvSpPr/>
          <p:nvPr/>
        </p:nvSpPr>
        <p:spPr>
          <a:xfrm>
            <a:off x="1016000" y="27178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BBA3CA24-A33B-ADDA-2780-6DBF0A19FE3A}"/>
              </a:ext>
            </a:extLst>
          </p:cNvPr>
          <p:cNvSpPr/>
          <p:nvPr/>
        </p:nvSpPr>
        <p:spPr>
          <a:xfrm>
            <a:off x="1016000" y="28194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154C261E-FDA0-BA0F-C88A-68DC1726FA07}"/>
              </a:ext>
            </a:extLst>
          </p:cNvPr>
          <p:cNvSpPr txBox="1"/>
          <p:nvPr/>
        </p:nvSpPr>
        <p:spPr>
          <a:xfrm>
            <a:off x="1803400" y="2197100"/>
            <a:ext cx="3886200" cy="876300"/>
          </a:xfrm>
          <a:prstGeom prst="rect">
            <a:avLst/>
          </a:prstGeom>
          <a:noFill/>
        </p:spPr>
        <p:txBody>
          <a:bodyPr vert="horz" wrap="square" lIns="0" tIns="0" rIns="0" bIns="0" rtlCol="0" anchor="t">
            <a:noAutofit/>
          </a:bodyPr>
          <a:lstStyle/>
          <a:p>
            <a:r>
              <a:rPr kumimoji="1" lang="zh-TW" altLang="en-US" sz="2600" b="1">
                <a:solidFill>
                  <a:srgbClr val="245DA8"/>
                </a:solidFill>
                <a:latin typeface="BIZ UDPGothic" panose="020B0400000000000000" pitchFamily="50" charset="-128"/>
                <a:ea typeface="BIZ UDPGothic" panose="020B0400000000000000" pitchFamily="50" charset="-128"/>
              </a:rPr>
              <a:t>自動車事業利益</a:t>
            </a:r>
            <a:endParaRPr kumimoji="1" lang="ja-JP" altLang="en-US" sz="2600" b="1">
              <a:solidFill>
                <a:srgbClr val="245DA8"/>
              </a:solidFill>
              <a:latin typeface="BIZ UDPGothic" panose="020B0400000000000000" pitchFamily="50" charset="-128"/>
              <a:ea typeface="BIZ UDPGothic" panose="020B0400000000000000" pitchFamily="50" charset="-128"/>
            </a:endParaRPr>
          </a:p>
        </p:txBody>
      </p:sp>
      <p:sp>
        <p:nvSpPr>
          <p:cNvPr id="11" name="テキスト ボックス 10">
            <a:extLst>
              <a:ext uri="{FF2B5EF4-FFF2-40B4-BE49-F238E27FC236}">
                <a16:creationId xmlns:a16="http://schemas.microsoft.com/office/drawing/2014/main" id="{31F41A16-BAD2-7E31-5A8D-2CA29D12194A}"/>
              </a:ext>
            </a:extLst>
          </p:cNvPr>
          <p:cNvSpPr txBox="1"/>
          <p:nvPr/>
        </p:nvSpPr>
        <p:spPr>
          <a:xfrm>
            <a:off x="1803400" y="3136900"/>
            <a:ext cx="3886200" cy="6604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諸経費増で△</a:t>
            </a:r>
            <a:r>
              <a:rPr kumimoji="1" lang="en-US" altLang="ja-JP">
                <a:solidFill>
                  <a:srgbClr val="172D4A"/>
                </a:solidFill>
                <a:latin typeface="BIZ UDPGothic" panose="020B0400000000000000" pitchFamily="50" charset="-128"/>
                <a:ea typeface="BIZ UDPGothic" panose="020B0400000000000000" pitchFamily="50" charset="-128"/>
              </a:rPr>
              <a:t>21.0%</a:t>
            </a:r>
            <a:r>
              <a:rPr kumimoji="1" lang="ja-JP" altLang="en-US">
                <a:solidFill>
                  <a:srgbClr val="172D4A"/>
                </a:solidFill>
                <a:latin typeface="BIZ UDPGothic" panose="020B0400000000000000" pitchFamily="50" charset="-128"/>
                <a:ea typeface="BIZ UDPGothic" panose="020B0400000000000000" pitchFamily="50" charset="-128"/>
              </a:rPr>
              <a:t>減益</a:t>
            </a:r>
          </a:p>
        </p:txBody>
      </p:sp>
      <p:sp>
        <p:nvSpPr>
          <p:cNvPr id="12" name="正方形/長方形 11">
            <a:extLst>
              <a:ext uri="{FF2B5EF4-FFF2-40B4-BE49-F238E27FC236}">
                <a16:creationId xmlns:a16="http://schemas.microsoft.com/office/drawing/2014/main" id="{1A3B2FC5-A0DE-2629-544F-BDC40E0CF4D1}"/>
              </a:ext>
            </a:extLst>
          </p:cNvPr>
          <p:cNvSpPr/>
          <p:nvPr/>
        </p:nvSpPr>
        <p:spPr>
          <a:xfrm>
            <a:off x="6248400" y="2019300"/>
            <a:ext cx="5232400" cy="19304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2317B1D-8A3A-9963-FC04-0822F003C8CD}"/>
              </a:ext>
            </a:extLst>
          </p:cNvPr>
          <p:cNvSpPr/>
          <p:nvPr/>
        </p:nvSpPr>
        <p:spPr>
          <a:xfrm>
            <a:off x="6248400" y="2019300"/>
            <a:ext cx="38100" cy="19304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321F38E0-7642-68FA-BBFF-134FDAAAC4C0}"/>
              </a:ext>
            </a:extLst>
          </p:cNvPr>
          <p:cNvSpPr/>
          <p:nvPr/>
        </p:nvSpPr>
        <p:spPr>
          <a:xfrm>
            <a:off x="6527800" y="2514600"/>
            <a:ext cx="508000" cy="508000"/>
          </a:xfrm>
          <a:prstGeom prst="ellipse">
            <a:avLst/>
          </a:prstGeom>
          <a:noFill/>
          <a:ln w="35560"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4B4D3DC4-837B-9007-5163-3FA05F52BAF6}"/>
              </a:ext>
            </a:extLst>
          </p:cNvPr>
          <p:cNvSpPr/>
          <p:nvPr/>
        </p:nvSpPr>
        <p:spPr>
          <a:xfrm>
            <a:off x="6654800" y="2514600"/>
            <a:ext cx="254000" cy="508000"/>
          </a:xfrm>
          <a:prstGeom prst="ellipse">
            <a:avLst/>
          </a:prstGeom>
          <a:noFill/>
          <a:ln w="35560"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FA809C60-AAF9-8851-104D-DF0A7A6D4D3C}"/>
              </a:ext>
            </a:extLst>
          </p:cNvPr>
          <p:cNvCxnSpPr/>
          <p:nvPr/>
        </p:nvCxnSpPr>
        <p:spPr>
          <a:xfrm>
            <a:off x="6527800" y="2768600"/>
            <a:ext cx="508000" cy="0"/>
          </a:xfrm>
          <a:prstGeom prst="line">
            <a:avLst/>
          </a:prstGeom>
          <a:ln w="35560">
            <a:solidFill>
              <a:srgbClr val="087A72"/>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37325F71-626E-CF0B-E5C4-B96712DAF247}"/>
              </a:ext>
            </a:extLst>
          </p:cNvPr>
          <p:cNvSpPr txBox="1"/>
          <p:nvPr/>
        </p:nvSpPr>
        <p:spPr>
          <a:xfrm>
            <a:off x="7340600" y="2197100"/>
            <a:ext cx="3886200" cy="876300"/>
          </a:xfrm>
          <a:prstGeom prst="rect">
            <a:avLst/>
          </a:prstGeom>
          <a:noFill/>
        </p:spPr>
        <p:txBody>
          <a:bodyPr vert="horz" wrap="square" lIns="0" tIns="0" rIns="0" bIns="0" rtlCol="0" anchor="t">
            <a:noAutofit/>
          </a:bodyPr>
          <a:lstStyle/>
          <a:p>
            <a:r>
              <a:rPr kumimoji="1" lang="ja-JP" altLang="en-US" sz="2600" b="1">
                <a:solidFill>
                  <a:srgbClr val="087A72"/>
                </a:solidFill>
                <a:latin typeface="BIZ UDPGothic" panose="020B0400000000000000" pitchFamily="50" charset="-128"/>
                <a:ea typeface="BIZ UDPGothic" panose="020B0400000000000000" pitchFamily="50" charset="-128"/>
              </a:rPr>
              <a:t>日本・アジア減益</a:t>
            </a:r>
          </a:p>
        </p:txBody>
      </p:sp>
      <p:sp>
        <p:nvSpPr>
          <p:cNvPr id="18" name="テキスト ボックス 17">
            <a:extLst>
              <a:ext uri="{FF2B5EF4-FFF2-40B4-BE49-F238E27FC236}">
                <a16:creationId xmlns:a16="http://schemas.microsoft.com/office/drawing/2014/main" id="{683027E0-0BDA-5A58-D6E4-B28EFCC96328}"/>
              </a:ext>
            </a:extLst>
          </p:cNvPr>
          <p:cNvSpPr txBox="1"/>
          <p:nvPr/>
        </p:nvSpPr>
        <p:spPr>
          <a:xfrm>
            <a:off x="7340600" y="3136900"/>
            <a:ext cx="3886200" cy="6604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諸経費増加等が要因と記載</a:t>
            </a:r>
          </a:p>
        </p:txBody>
      </p:sp>
      <p:sp>
        <p:nvSpPr>
          <p:cNvPr id="19" name="正方形/長方形 18">
            <a:extLst>
              <a:ext uri="{FF2B5EF4-FFF2-40B4-BE49-F238E27FC236}">
                <a16:creationId xmlns:a16="http://schemas.microsoft.com/office/drawing/2014/main" id="{DDF175BD-AEFE-490E-0D3D-A1C4D211C46D}"/>
              </a:ext>
            </a:extLst>
          </p:cNvPr>
          <p:cNvSpPr/>
          <p:nvPr/>
        </p:nvSpPr>
        <p:spPr>
          <a:xfrm>
            <a:off x="711200" y="4076700"/>
            <a:ext cx="5232400" cy="19304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06300D31-EB8C-6679-7C61-F5B2340F7535}"/>
              </a:ext>
            </a:extLst>
          </p:cNvPr>
          <p:cNvSpPr/>
          <p:nvPr/>
        </p:nvSpPr>
        <p:spPr>
          <a:xfrm>
            <a:off x="711200" y="4076700"/>
            <a:ext cx="38100" cy="19304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D3E8A1D1-F1F5-DADE-0B79-45E0C9F21485}"/>
              </a:ext>
            </a:extLst>
          </p:cNvPr>
          <p:cNvSpPr/>
          <p:nvPr/>
        </p:nvSpPr>
        <p:spPr>
          <a:xfrm>
            <a:off x="1016000" y="46736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242130FB-7101-59D4-A667-B65AAC718401}"/>
              </a:ext>
            </a:extLst>
          </p:cNvPr>
          <p:cNvSpPr/>
          <p:nvPr/>
        </p:nvSpPr>
        <p:spPr>
          <a:xfrm>
            <a:off x="1016000" y="47752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5335C322-8065-3C05-9843-87544CEA294E}"/>
              </a:ext>
            </a:extLst>
          </p:cNvPr>
          <p:cNvSpPr/>
          <p:nvPr/>
        </p:nvSpPr>
        <p:spPr>
          <a:xfrm>
            <a:off x="1016000" y="48768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DFE9EE63-422C-76A2-C25A-C66716D9182C}"/>
              </a:ext>
            </a:extLst>
          </p:cNvPr>
          <p:cNvSpPr txBox="1"/>
          <p:nvPr/>
        </p:nvSpPr>
        <p:spPr>
          <a:xfrm>
            <a:off x="1803400" y="4254500"/>
            <a:ext cx="3886200" cy="876300"/>
          </a:xfrm>
          <a:prstGeom prst="rect">
            <a:avLst/>
          </a:prstGeom>
          <a:noFill/>
        </p:spPr>
        <p:txBody>
          <a:bodyPr vert="horz" wrap="square" lIns="0" tIns="0" rIns="0" bIns="0" rtlCol="0" anchor="t">
            <a:noAutofit/>
          </a:bodyPr>
          <a:lstStyle/>
          <a:p>
            <a:r>
              <a:rPr kumimoji="1" lang="ja-JP" altLang="en-US" sz="2600" b="1">
                <a:solidFill>
                  <a:srgbClr val="945F1D"/>
                </a:solidFill>
                <a:latin typeface="BIZ UDPGothic" panose="020B0400000000000000" pitchFamily="50" charset="-128"/>
                <a:ea typeface="BIZ UDPGothic" panose="020B0400000000000000" pitchFamily="50" charset="-128"/>
              </a:rPr>
              <a:t>自己株式取得</a:t>
            </a:r>
          </a:p>
        </p:txBody>
      </p:sp>
      <p:sp>
        <p:nvSpPr>
          <p:cNvPr id="25" name="テキスト ボックス 24">
            <a:extLst>
              <a:ext uri="{FF2B5EF4-FFF2-40B4-BE49-F238E27FC236}">
                <a16:creationId xmlns:a16="http://schemas.microsoft.com/office/drawing/2014/main" id="{0168C445-BFEE-445A-CC54-6F9C013A793D}"/>
              </a:ext>
            </a:extLst>
          </p:cNvPr>
          <p:cNvSpPr txBox="1"/>
          <p:nvPr/>
        </p:nvSpPr>
        <p:spPr>
          <a:xfrm>
            <a:off x="1803400" y="5194300"/>
            <a:ext cx="3886200" cy="6604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3,657</a:t>
            </a:r>
            <a:r>
              <a:rPr kumimoji="1" lang="ja-JP" altLang="en-US">
                <a:solidFill>
                  <a:srgbClr val="172D4A"/>
                </a:solidFill>
                <a:latin typeface="BIZ UDPGothic" panose="020B0400000000000000" pitchFamily="50" charset="-128"/>
                <a:ea typeface="BIZ UDPGothic" panose="020B0400000000000000" pitchFamily="50" charset="-128"/>
              </a:rPr>
              <a:t>億円で資本減少</a:t>
            </a:r>
          </a:p>
        </p:txBody>
      </p:sp>
      <p:sp>
        <p:nvSpPr>
          <p:cNvPr id="26" name="正方形/長方形 25">
            <a:extLst>
              <a:ext uri="{FF2B5EF4-FFF2-40B4-BE49-F238E27FC236}">
                <a16:creationId xmlns:a16="http://schemas.microsoft.com/office/drawing/2014/main" id="{01EC33E8-4FB0-F284-44FF-5146864622AE}"/>
              </a:ext>
            </a:extLst>
          </p:cNvPr>
          <p:cNvSpPr/>
          <p:nvPr/>
        </p:nvSpPr>
        <p:spPr>
          <a:xfrm>
            <a:off x="6248400" y="4076700"/>
            <a:ext cx="5232400" cy="19304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B6658E3F-CEA5-DFCE-D7DD-66BA8689F143}"/>
              </a:ext>
            </a:extLst>
          </p:cNvPr>
          <p:cNvSpPr/>
          <p:nvPr/>
        </p:nvSpPr>
        <p:spPr>
          <a:xfrm>
            <a:off x="6248400" y="4076700"/>
            <a:ext cx="38100" cy="19304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45684041-5DAB-E03C-35C9-4C97F7BF6778}"/>
              </a:ext>
            </a:extLst>
          </p:cNvPr>
          <p:cNvSpPr/>
          <p:nvPr/>
        </p:nvSpPr>
        <p:spPr>
          <a:xfrm>
            <a:off x="6553200" y="46736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9A477DC9-979D-CA42-D4F2-14E18883F184}"/>
              </a:ext>
            </a:extLst>
          </p:cNvPr>
          <p:cNvSpPr/>
          <p:nvPr/>
        </p:nvSpPr>
        <p:spPr>
          <a:xfrm>
            <a:off x="6553200" y="47752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36AD23E8-B3DB-4885-6D9D-928BB20993C2}"/>
              </a:ext>
            </a:extLst>
          </p:cNvPr>
          <p:cNvSpPr/>
          <p:nvPr/>
        </p:nvSpPr>
        <p:spPr>
          <a:xfrm>
            <a:off x="6553200" y="48768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8CCEE12E-B6B5-62D9-B1C6-008C1DE377CE}"/>
              </a:ext>
            </a:extLst>
          </p:cNvPr>
          <p:cNvSpPr txBox="1"/>
          <p:nvPr/>
        </p:nvSpPr>
        <p:spPr>
          <a:xfrm>
            <a:off x="7340600" y="4254500"/>
            <a:ext cx="3886200" cy="876300"/>
          </a:xfrm>
          <a:prstGeom prst="rect">
            <a:avLst/>
          </a:prstGeom>
          <a:noFill/>
        </p:spPr>
        <p:txBody>
          <a:bodyPr vert="horz" wrap="square" lIns="0" tIns="0" rIns="0" bIns="0" rtlCol="0" anchor="t">
            <a:noAutofit/>
          </a:bodyPr>
          <a:lstStyle/>
          <a:p>
            <a:r>
              <a:rPr kumimoji="1" lang="ja-JP" altLang="en-US" sz="2600" b="1">
                <a:solidFill>
                  <a:srgbClr val="86518C"/>
                </a:solidFill>
                <a:latin typeface="BIZ UDPGothic" panose="020B0400000000000000" pitchFamily="50" charset="-128"/>
                <a:ea typeface="BIZ UDPGothic" panose="020B0400000000000000" pitchFamily="50" charset="-128"/>
              </a:rPr>
              <a:t>営業</a:t>
            </a:r>
            <a:r>
              <a:rPr kumimoji="1" lang="en-US" altLang="ja-JP" sz="2600" b="1">
                <a:solidFill>
                  <a:srgbClr val="86518C"/>
                </a:solidFill>
                <a:latin typeface="BIZ UDPGothic" panose="020B0400000000000000" pitchFamily="50" charset="-128"/>
                <a:ea typeface="BIZ UDPGothic" panose="020B0400000000000000" pitchFamily="50" charset="-128"/>
              </a:rPr>
              <a:t>CF</a:t>
            </a:r>
            <a:r>
              <a:rPr kumimoji="1" lang="ja-JP" altLang="en-US" sz="2600" b="1">
                <a:solidFill>
                  <a:srgbClr val="86518C"/>
                </a:solidFill>
                <a:latin typeface="BIZ UDPGothic" panose="020B0400000000000000" pitchFamily="50" charset="-128"/>
                <a:ea typeface="BIZ UDPGothic" panose="020B0400000000000000" pitchFamily="50" charset="-128"/>
              </a:rPr>
              <a:t>減少</a:t>
            </a:r>
          </a:p>
        </p:txBody>
      </p:sp>
      <p:sp>
        <p:nvSpPr>
          <p:cNvPr id="32" name="テキスト ボックス 31">
            <a:extLst>
              <a:ext uri="{FF2B5EF4-FFF2-40B4-BE49-F238E27FC236}">
                <a16:creationId xmlns:a16="http://schemas.microsoft.com/office/drawing/2014/main" id="{37B4CF2A-74F5-6A2A-045C-616353599986}"/>
              </a:ext>
            </a:extLst>
          </p:cNvPr>
          <p:cNvSpPr txBox="1"/>
          <p:nvPr/>
        </p:nvSpPr>
        <p:spPr>
          <a:xfrm>
            <a:off x="7340600" y="5194300"/>
            <a:ext cx="3886200" cy="6604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5,365</a:t>
            </a:r>
            <a:r>
              <a:rPr kumimoji="1" lang="ja-JP" altLang="en-US">
                <a:solidFill>
                  <a:srgbClr val="172D4A"/>
                </a:solidFill>
                <a:latin typeface="BIZ UDPGothic" panose="020B0400000000000000" pitchFamily="50" charset="-128"/>
                <a:ea typeface="BIZ UDPGothic" panose="020B0400000000000000" pitchFamily="50" charset="-128"/>
              </a:rPr>
              <a:t>億円へ急減</a:t>
            </a:r>
          </a:p>
        </p:txBody>
      </p:sp>
      <p:cxnSp>
        <p:nvCxnSpPr>
          <p:cNvPr id="33" name="直線コネクタ 32">
            <a:extLst>
              <a:ext uri="{FF2B5EF4-FFF2-40B4-BE49-F238E27FC236}">
                <a16:creationId xmlns:a16="http://schemas.microsoft.com/office/drawing/2014/main" id="{63335FBE-86F1-AAD9-743A-2E3A59103CBE}"/>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3B21A38F-A7F0-A84B-563C-98AAF9E081B0}"/>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p.13</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35" name="テキスト ボックス 34">
            <a:extLst>
              <a:ext uri="{FF2B5EF4-FFF2-40B4-BE49-F238E27FC236}">
                <a16:creationId xmlns:a16="http://schemas.microsoft.com/office/drawing/2014/main" id="{A06B21B8-F2BF-6C75-3301-6986D66B61B5}"/>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6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4120166884"/>
      </p:ext>
    </p:extLst>
  </p:cSld>
  <p:clrMapOvr>
    <a:masterClrMapping/>
  </p:clrMapOvr>
</p:sld>
</file>

<file path=ppt/theme/theme1.xml><?xml version="1.0" encoding="utf-8"?>
<a:theme xmlns:a="http://schemas.openxmlformats.org/drawingml/2006/main" name="Office テーマ">
  <a:themeElements>
    <a:clrScheme name="Office">
      <a:dk1>
        <a:srgbClr val="172D4A"/>
      </a:dk1>
      <a:lt1>
        <a:sysClr val="window" lastClr="FFFFFF"/>
      </a:lt1>
      <a:dk2>
        <a:srgbClr val="0E2841"/>
      </a:dk2>
      <a:lt2>
        <a:srgbClr val="E8E8E8"/>
      </a:lt2>
      <a:accent1>
        <a:srgbClr val="245DA8"/>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2316</Words>
  <Application>Microsoft Office PowerPoint</Application>
  <PresentationFormat>ユーザー設定</PresentationFormat>
  <Paragraphs>95</Paragraphs>
  <Slides>6</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BIZ UDPGothic</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Designer Extention</dc:creator>
  <cp:lastModifiedBy>Designer Extention</cp:lastModifiedBy>
  <cp:revision>1</cp:revision>
  <dcterms:created xsi:type="dcterms:W3CDTF">2026-10-01T06:22:41Z</dcterms:created>
  <dcterms:modified xsi:type="dcterms:W3CDTF">2026-10-01T06:22:41Z</dcterms:modified>
</cp:coreProperties>
</file>