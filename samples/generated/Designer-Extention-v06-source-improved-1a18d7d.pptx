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942"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E90C55-789F-4393-811A-3142BEC37F93}" type="datetimeFigureOut">
              <a:rPr kumimoji="1" lang="ja-JP" altLang="en-US" smtClean="0"/>
              <a:t>2026/10/1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B89A60-969C-46E0-9516-B53F8900D677}" type="slidenum">
              <a:rPr kumimoji="1" lang="ja-JP" altLang="en-US" smtClean="0"/>
              <a:t>‹#›</a:t>
            </a:fld>
            <a:endParaRPr kumimoji="1" lang="ja-JP" altLang="en-US"/>
          </a:p>
        </p:txBody>
      </p:sp>
    </p:spTree>
    <p:extLst>
      <p:ext uri="{BB962C8B-B14F-4D97-AF65-F5344CB8AC3E}">
        <p14:creationId xmlns:p14="http://schemas.microsoft.com/office/powerpoint/2010/main" val="218731884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トヨタ自動車株式会社</a:t>
            </a:r>
            <a:r>
              <a:rPr kumimoji="1" lang="en-US" altLang="ja-JP"/>
              <a:t>(</a:t>
            </a:r>
            <a:r>
              <a:rPr kumimoji="1" lang="ja-JP" altLang="en-US"/>
              <a:t>証券コード</a:t>
            </a:r>
            <a:r>
              <a:rPr kumimoji="1" lang="en-US" altLang="ja-JP"/>
              <a:t>7203)</a:t>
            </a:r>
            <a:r>
              <a:rPr kumimoji="1" lang="ja-JP" altLang="en-US"/>
              <a:t>の第</a:t>
            </a:r>
            <a:r>
              <a:rPr kumimoji="1" lang="en-US" altLang="ja-JP"/>
              <a:t>1</a:t>
            </a:r>
            <a:r>
              <a:rPr kumimoji="1" lang="ja-JP" altLang="en-US"/>
              <a:t>四半期決算短信に基づく要旨。数値は百万円未満四捨五入の開示値をそのまま使用。日野自動車および連結子会社</a:t>
            </a:r>
            <a:r>
              <a:rPr kumimoji="1" lang="en-US" altLang="ja-JP"/>
              <a:t>70</a:t>
            </a:r>
            <a:r>
              <a:rPr kumimoji="1" lang="ja-JP" altLang="en-US"/>
              <a:t>社が当第</a:t>
            </a:r>
            <a:r>
              <a:rPr kumimoji="1" lang="en-US" altLang="ja-JP"/>
              <a:t>1</a:t>
            </a:r>
            <a:r>
              <a:rPr kumimoji="1" lang="ja-JP" altLang="en-US"/>
              <a:t>四半期より連結範囲から除外されており、前年同期との比較には留意が必要。
出典</a:t>
            </a:r>
            <a:r>
              <a:rPr kumimoji="1" lang="en-US" altLang="ja-JP"/>
              <a:t>:
2027_1q_summary_jp.pdf p.2
2027</a:t>
            </a:r>
            <a:r>
              <a:rPr kumimoji="1" lang="ja-JP" altLang="en-US"/>
              <a:t>年３月期第１四半期決算短信</a:t>
            </a:r>
            <a:r>
              <a:rPr kumimoji="1" lang="en-US" altLang="ja-JP"/>
              <a:t>〔</a:t>
            </a:r>
            <a:r>
              <a:rPr kumimoji="1" lang="ja-JP" altLang="en-US"/>
              <a:t>ＩＦＲＳ</a:t>
            </a:r>
            <a:r>
              <a:rPr kumimoji="1" lang="en-US" altLang="ja-JP"/>
              <a:t>〕</a:t>
            </a:r>
            <a:r>
              <a:rPr kumimoji="1" lang="ja-JP" altLang="en-US"/>
              <a:t>（連結）</a:t>
            </a:r>
            <a:r>
              <a:rPr kumimoji="1" lang="en-US" altLang="ja-JP"/>
              <a:t>2026</a:t>
            </a:r>
            <a:r>
              <a:rPr kumimoji="1" lang="ja-JP" altLang="en-US"/>
              <a:t>年８月４日
内容</a:t>
            </a:r>
            <a:r>
              <a:rPr kumimoji="1" lang="en-US" altLang="ja-JP"/>
              <a:t>:
2027</a:t>
            </a:r>
            <a:r>
              <a:rPr kumimoji="1" lang="ja-JP" altLang="en-US"/>
              <a:t>年</a:t>
            </a:r>
            <a:r>
              <a:rPr kumimoji="1" lang="en-US" altLang="ja-JP"/>
              <a:t>3</a:t>
            </a:r>
            <a:r>
              <a:rPr kumimoji="1" lang="ja-JP" altLang="en-US"/>
              <a:t>月期 第</a:t>
            </a:r>
            <a:r>
              <a:rPr kumimoji="1" lang="en-US" altLang="ja-JP"/>
              <a:t>1</a:t>
            </a:r>
            <a:r>
              <a:rPr kumimoji="1" lang="ja-JP" altLang="en-US"/>
              <a:t>四半期 決算要旨</a:t>
            </a:r>
            <a:r>
              <a:rPr kumimoji="1" lang="en-US" altLang="ja-JP"/>
              <a:t>(IFRS</a:t>
            </a:r>
            <a:r>
              <a:rPr kumimoji="1" lang="ja-JP" altLang="en-US"/>
              <a:t>連結</a:t>
            </a:r>
            <a:r>
              <a:rPr kumimoji="1" lang="en-US" altLang="ja-JP"/>
              <a:t>)
</a:t>
            </a:r>
            <a:r>
              <a:rPr kumimoji="1" lang="ja-JP" altLang="en-US"/>
              <a:t>対象期間</a:t>
            </a:r>
            <a:r>
              <a:rPr kumimoji="1" lang="en-US" altLang="ja-JP"/>
              <a:t>:2026</a:t>
            </a:r>
            <a:r>
              <a:rPr kumimoji="1" lang="ja-JP" altLang="en-US"/>
              <a:t>年</a:t>
            </a:r>
            <a:r>
              <a:rPr kumimoji="1" lang="en-US" altLang="ja-JP"/>
              <a:t>4</a:t>
            </a:r>
            <a:r>
              <a:rPr kumimoji="1" lang="ja-JP" altLang="en-US"/>
              <a:t>月</a:t>
            </a:r>
            <a:r>
              <a:rPr kumimoji="1" lang="en-US" altLang="ja-JP"/>
              <a:t>1</a:t>
            </a:r>
            <a:r>
              <a:rPr kumimoji="1" lang="ja-JP" altLang="en-US"/>
              <a:t>日</a:t>
            </a:r>
            <a:r>
              <a:rPr kumimoji="1" lang="en-US" altLang="ja-JP"/>
              <a:t>〜2026</a:t>
            </a:r>
            <a:r>
              <a:rPr kumimoji="1" lang="ja-JP" altLang="en-US"/>
              <a:t>年</a:t>
            </a:r>
            <a:r>
              <a:rPr kumimoji="1" lang="en-US" altLang="ja-JP"/>
              <a:t>6</a:t>
            </a:r>
            <a:r>
              <a:rPr kumimoji="1" lang="ja-JP" altLang="en-US"/>
              <a:t>月</a:t>
            </a:r>
            <a:r>
              <a:rPr kumimoji="1" lang="en-US" altLang="ja-JP"/>
              <a:t>30</a:t>
            </a:r>
            <a:r>
              <a:rPr kumimoji="1" lang="ja-JP" altLang="en-US"/>
              <a:t>日。</a:t>
            </a:r>
            <a:r>
              <a:rPr kumimoji="1" lang="en-US" altLang="ja-JP"/>
              <a:t>2026</a:t>
            </a:r>
            <a:r>
              <a:rPr kumimoji="1" lang="ja-JP" altLang="en-US"/>
              <a:t>年</a:t>
            </a:r>
            <a:r>
              <a:rPr kumimoji="1" lang="en-US" altLang="ja-JP"/>
              <a:t>8</a:t>
            </a:r>
            <a:r>
              <a:rPr kumimoji="1" lang="ja-JP" altLang="en-US"/>
              <a:t>月</a:t>
            </a:r>
            <a:r>
              <a:rPr kumimoji="1" lang="en-US" altLang="ja-JP"/>
              <a:t>4</a:t>
            </a:r>
            <a:r>
              <a:rPr kumimoji="1" lang="ja-JP" altLang="en-US"/>
              <a:t>日公表の決算短信をもとに作成。
対象期間 </a:t>
            </a:r>
            <a:r>
              <a:rPr kumimoji="1" lang="en-US" altLang="ja-JP"/>
              <a:t>— 2026</a:t>
            </a:r>
            <a:r>
              <a:rPr kumimoji="1" lang="ja-JP" altLang="en-US"/>
              <a:t>年</a:t>
            </a:r>
            <a:r>
              <a:rPr kumimoji="1" lang="en-US" altLang="ja-JP"/>
              <a:t>4</a:t>
            </a:r>
            <a:r>
              <a:rPr kumimoji="1" lang="ja-JP" altLang="en-US"/>
              <a:t>月</a:t>
            </a:r>
            <a:r>
              <a:rPr kumimoji="1" lang="en-US" altLang="ja-JP"/>
              <a:t>1</a:t>
            </a:r>
            <a:r>
              <a:rPr kumimoji="1" lang="ja-JP" altLang="en-US"/>
              <a:t>日</a:t>
            </a:r>
            <a:r>
              <a:rPr kumimoji="1" lang="en-US" altLang="ja-JP"/>
              <a:t>〜2026</a:t>
            </a:r>
            <a:r>
              <a:rPr kumimoji="1" lang="ja-JP" altLang="en-US"/>
              <a:t>年</a:t>
            </a:r>
            <a:r>
              <a:rPr kumimoji="1" lang="en-US" altLang="ja-JP"/>
              <a:t>6</a:t>
            </a:r>
            <a:r>
              <a:rPr kumimoji="1" lang="ja-JP" altLang="en-US"/>
              <a:t>月</a:t>
            </a:r>
            <a:r>
              <a:rPr kumimoji="1" lang="en-US" altLang="ja-JP"/>
              <a:t>30</a:t>
            </a:r>
            <a:r>
              <a:rPr kumimoji="1" lang="ja-JP" altLang="en-US"/>
              <a:t>日
開示区分 </a:t>
            </a:r>
            <a:r>
              <a:rPr kumimoji="1" lang="en-US" altLang="ja-JP"/>
              <a:t>— IFRS</a:t>
            </a:r>
            <a:r>
              <a:rPr kumimoji="1" lang="ja-JP" altLang="en-US"/>
              <a:t>連結決算短信</a:t>
            </a:r>
            <a:r>
              <a:rPr kumimoji="1" lang="en-US" altLang="ja-JP"/>
              <a:t>(2026</a:t>
            </a:r>
            <a:r>
              <a:rPr kumimoji="1" lang="ja-JP" altLang="en-US"/>
              <a:t>年</a:t>
            </a:r>
            <a:r>
              <a:rPr kumimoji="1" lang="en-US" altLang="ja-JP"/>
              <a:t>8</a:t>
            </a:r>
            <a:r>
              <a:rPr kumimoji="1" lang="ja-JP" altLang="en-US"/>
              <a:t>月</a:t>
            </a:r>
            <a:r>
              <a:rPr kumimoji="1" lang="en-US" altLang="ja-JP"/>
              <a:t>4</a:t>
            </a:r>
            <a:r>
              <a:rPr kumimoji="1" lang="ja-JP" altLang="en-US"/>
              <a:t>日公表</a:t>
            </a:r>
            <a:r>
              <a:rPr kumimoji="1" lang="en-US" altLang="ja-JP"/>
              <a:t>)
</a:t>
            </a:r>
            <a:r>
              <a:rPr kumimoji="1" lang="ja-JP" altLang="en-US"/>
              <a:t>添付</a:t>
            </a:r>
            <a:r>
              <a:rPr kumimoji="1" lang="en-US" altLang="ja-JP"/>
              <a:t>PPTX</a:t>
            </a:r>
            <a:r>
              <a:rPr kumimoji="1" lang="ja-JP" altLang="en-US"/>
              <a:t>の表示内容を使った配置の改善例。原文の数値・比較条件を保持。元</a:t>
            </a:r>
            <a:r>
              <a:rPr kumimoji="1" lang="en-US" altLang="ja-JP"/>
              <a:t>PDF</a:t>
            </a:r>
            <a:r>
              <a:rPr kumimoji="1" lang="ja-JP" altLang="en-US"/>
              <a:t>の再検証は行っていません。
出典</a:t>
            </a:r>
            <a:r>
              <a:rPr kumimoji="1" lang="en-US" altLang="ja-JP"/>
              <a:t>:
2027_1q_summary_jp.pdf p.2
</a:t>
            </a:r>
            <a:r>
              <a:rPr kumimoji="1" lang="ja-JP" altLang="en-US"/>
              <a:t>内容</a:t>
            </a:r>
            <a:r>
              <a:rPr kumimoji="1" lang="en-US" altLang="ja-JP"/>
              <a:t>:
IFRS</a:t>
            </a:r>
            <a:r>
              <a:rPr kumimoji="1" lang="ja-JP" altLang="en-US"/>
              <a:t>連結 </a:t>
            </a:r>
            <a:r>
              <a:rPr kumimoji="1" lang="en-US" altLang="ja-JP"/>
              <a:t>/ </a:t>
            </a:r>
            <a:r>
              <a:rPr kumimoji="1" lang="ja-JP" altLang="en-US"/>
              <a:t>添付資料の配置改善例</a:t>
            </a:r>
          </a:p>
        </p:txBody>
      </p:sp>
      <p:sp>
        <p:nvSpPr>
          <p:cNvPr id="4" name="スライド番号プレースホルダー 3"/>
          <p:cNvSpPr>
            <a:spLocks noGrp="1"/>
          </p:cNvSpPr>
          <p:nvPr>
            <p:ph type="sldNum" sz="quarter" idx="5"/>
          </p:nvPr>
        </p:nvSpPr>
        <p:spPr/>
        <p:txBody>
          <a:bodyPr/>
          <a:lstStyle/>
          <a:p>
            <a:fld id="{C9B89A60-969C-46E0-9516-B53F8900D677}" type="slidenum">
              <a:rPr kumimoji="1" lang="ja-JP" altLang="en-US" smtClean="0"/>
              <a:t>1</a:t>
            </a:fld>
            <a:endParaRPr kumimoji="1" lang="ja-JP" altLang="en-US"/>
          </a:p>
        </p:txBody>
      </p:sp>
    </p:spTree>
    <p:extLst>
      <p:ext uri="{BB962C8B-B14F-4D97-AF65-F5344CB8AC3E}">
        <p14:creationId xmlns:p14="http://schemas.microsoft.com/office/powerpoint/2010/main" val="35346449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販売台数は日本</a:t>
            </a:r>
            <a:r>
              <a:rPr kumimoji="1" lang="en-US" altLang="ja-JP"/>
              <a:t>+8.9%</a:t>
            </a:r>
            <a:r>
              <a:rPr kumimoji="1" lang="ja-JP" altLang="en-US"/>
              <a:t>、海外△</a:t>
            </a:r>
            <a:r>
              <a:rPr kumimoji="1" lang="en-US" altLang="ja-JP"/>
              <a:t>3.1%</a:t>
            </a:r>
            <a:r>
              <a:rPr kumimoji="1" lang="ja-JP" altLang="en-US"/>
              <a:t>で合計△</a:t>
            </a:r>
            <a:r>
              <a:rPr kumimoji="1" lang="en-US" altLang="ja-JP"/>
              <a:t>0.7%(239</a:t>
            </a:r>
            <a:r>
              <a:rPr kumimoji="1" lang="ja-JP" altLang="en-US"/>
              <a:t>万</a:t>
            </a:r>
            <a:r>
              <a:rPr kumimoji="1" lang="en-US" altLang="ja-JP"/>
              <a:t>5</a:t>
            </a:r>
            <a:r>
              <a:rPr kumimoji="1" lang="ja-JP" altLang="en-US"/>
              <a:t>千台</a:t>
            </a:r>
            <a:r>
              <a:rPr kumimoji="1" lang="en-US" altLang="ja-JP"/>
              <a:t>)</a:t>
            </a:r>
            <a:r>
              <a:rPr kumimoji="1" lang="ja-JP" altLang="en-US"/>
              <a:t>。営業利益の増減要因は次スライドで詳述。基本的・希薄化後ともに</a:t>
            </a:r>
            <a:r>
              <a:rPr kumimoji="1" lang="en-US" altLang="ja-JP"/>
              <a:t>1</a:t>
            </a:r>
            <a:r>
              <a:rPr kumimoji="1" lang="ja-JP" altLang="en-US"/>
              <a:t>株当たり利益は</a:t>
            </a:r>
            <a:r>
              <a:rPr kumimoji="1" lang="en-US" altLang="ja-JP"/>
              <a:t>120.69</a:t>
            </a:r>
            <a:r>
              <a:rPr kumimoji="1" lang="ja-JP" altLang="en-US"/>
              <a:t>円。
出典</a:t>
            </a:r>
            <a:r>
              <a:rPr kumimoji="1" lang="en-US" altLang="ja-JP"/>
              <a:t>:
2027_1q_summary_jp.pdf p.5
</a:t>
            </a:r>
            <a:r>
              <a:rPr kumimoji="1" lang="ja-JP" altLang="en-US"/>
              <a:t>営業収益 </a:t>
            </a:r>
            <a:r>
              <a:rPr kumimoji="1" lang="en-US" altLang="ja-JP"/>
              <a:t>13</a:t>
            </a:r>
            <a:r>
              <a:rPr kumimoji="1" lang="ja-JP" altLang="en-US"/>
              <a:t>兆</a:t>
            </a:r>
            <a:r>
              <a:rPr kumimoji="1" lang="en-US" altLang="ja-JP"/>
              <a:t>5,254</a:t>
            </a:r>
            <a:r>
              <a:rPr kumimoji="1" lang="ja-JP" altLang="en-US"/>
              <a:t>億円
</a:t>
            </a:r>
            <a:r>
              <a:rPr kumimoji="1" lang="en-US" altLang="ja-JP"/>
              <a:t>2027_1q_summary_jp.pdf p.2
1 , 0 6 3 , 4 7 3 △ 8 . 8
</a:t>
            </a:r>
            <a:r>
              <a:rPr kumimoji="1" lang="ja-JP" altLang="en-US"/>
              <a:t>内容</a:t>
            </a:r>
            <a:r>
              <a:rPr kumimoji="1" lang="en-US" altLang="ja-JP"/>
              <a:t>:
</a:t>
            </a:r>
            <a:r>
              <a:rPr kumimoji="1" lang="ja-JP" altLang="en-US"/>
              <a:t>税引前・当期利益は大幅増益、一方で営業利益は前年同期比で減益
営業外の収益増加</a:t>
            </a:r>
            <a:r>
              <a:rPr kumimoji="1" lang="en-US" altLang="ja-JP"/>
              <a:t>(</a:t>
            </a:r>
            <a:r>
              <a:rPr kumimoji="1" lang="ja-JP" altLang="en-US"/>
              <a:t>為替差損益の改善等</a:t>
            </a:r>
            <a:r>
              <a:rPr kumimoji="1" lang="en-US" altLang="ja-JP"/>
              <a:t>)</a:t>
            </a:r>
            <a:r>
              <a:rPr kumimoji="1" lang="ja-JP" altLang="en-US"/>
              <a:t>が牽引し、税引前利益・親会社帰属利益は大きく伸長した。
営業収益 </a:t>
            </a:r>
            <a:r>
              <a:rPr kumimoji="1" lang="en-US" altLang="ja-JP"/>
              <a:t>— 13</a:t>
            </a:r>
            <a:r>
              <a:rPr kumimoji="1" lang="ja-JP" altLang="en-US"/>
              <a:t>兆</a:t>
            </a:r>
            <a:r>
              <a:rPr kumimoji="1" lang="en-US" altLang="ja-JP"/>
              <a:t>5,254</a:t>
            </a:r>
            <a:r>
              <a:rPr kumimoji="1" lang="ja-JP" altLang="en-US"/>
              <a:t>億円 </a:t>
            </a:r>
            <a:r>
              <a:rPr kumimoji="1" lang="en-US" altLang="ja-JP"/>
              <a:t>— </a:t>
            </a:r>
            <a:r>
              <a:rPr kumimoji="1" lang="ja-JP" altLang="en-US"/>
              <a:t>前年同期比</a:t>
            </a:r>
            <a:r>
              <a:rPr kumimoji="1" lang="en-US" altLang="ja-JP"/>
              <a:t>+10.4%
</a:t>
            </a:r>
            <a:r>
              <a:rPr kumimoji="1" lang="ja-JP" altLang="en-US"/>
              <a:t>営業利益 </a:t>
            </a:r>
            <a:r>
              <a:rPr kumimoji="1" lang="en-US" altLang="ja-JP"/>
              <a:t>— 1</a:t>
            </a:r>
            <a:r>
              <a:rPr kumimoji="1" lang="ja-JP" altLang="en-US"/>
              <a:t>兆</a:t>
            </a:r>
            <a:r>
              <a:rPr kumimoji="1" lang="en-US" altLang="ja-JP"/>
              <a:t>634</a:t>
            </a:r>
            <a:r>
              <a:rPr kumimoji="1" lang="ja-JP" altLang="en-US"/>
              <a:t>億円 </a:t>
            </a:r>
            <a:r>
              <a:rPr kumimoji="1" lang="en-US" altLang="ja-JP"/>
              <a:t>— </a:t>
            </a:r>
            <a:r>
              <a:rPr kumimoji="1" lang="ja-JP" altLang="en-US"/>
              <a:t>前年同期比△</a:t>
            </a:r>
            <a:r>
              <a:rPr kumimoji="1" lang="en-US" altLang="ja-JP"/>
              <a:t>8.8%
</a:t>
            </a:r>
            <a:r>
              <a:rPr kumimoji="1" lang="ja-JP" altLang="en-US"/>
              <a:t>税引前四半期利益 </a:t>
            </a:r>
            <a:r>
              <a:rPr kumimoji="1" lang="en-US" altLang="ja-JP"/>
              <a:t>— 1</a:t>
            </a:r>
            <a:r>
              <a:rPr kumimoji="1" lang="ja-JP" altLang="en-US"/>
              <a:t>兆</a:t>
            </a:r>
            <a:r>
              <a:rPr kumimoji="1" lang="en-US" altLang="ja-JP"/>
              <a:t>9,638</a:t>
            </a:r>
            <a:r>
              <a:rPr kumimoji="1" lang="ja-JP" altLang="en-US"/>
              <a:t>億円 </a:t>
            </a:r>
            <a:r>
              <a:rPr kumimoji="1" lang="en-US" altLang="ja-JP"/>
              <a:t>— </a:t>
            </a:r>
            <a:r>
              <a:rPr kumimoji="1" lang="ja-JP" altLang="en-US"/>
              <a:t>前年同期比</a:t>
            </a:r>
            <a:r>
              <a:rPr kumimoji="1" lang="en-US" altLang="ja-JP"/>
              <a:t>+56.8%(</a:t>
            </a:r>
            <a:r>
              <a:rPr kumimoji="1" lang="ja-JP" altLang="en-US"/>
              <a:t>営業外収益増</a:t>
            </a:r>
            <a:r>
              <a:rPr kumimoji="1" lang="en-US" altLang="ja-JP"/>
              <a:t>)
</a:t>
            </a:r>
            <a:r>
              <a:rPr kumimoji="1" lang="ja-JP" altLang="en-US"/>
              <a:t>親会社帰属四半期利益 </a:t>
            </a:r>
            <a:r>
              <a:rPr kumimoji="1" lang="en-US" altLang="ja-JP"/>
              <a:t>— 1</a:t>
            </a:r>
            <a:r>
              <a:rPr kumimoji="1" lang="ja-JP" altLang="en-US"/>
              <a:t>兆</a:t>
            </a:r>
            <a:r>
              <a:rPr kumimoji="1" lang="en-US" altLang="ja-JP"/>
              <a:t>4,770</a:t>
            </a:r>
            <a:r>
              <a:rPr kumimoji="1" lang="ja-JP" altLang="en-US"/>
              <a:t>億円 </a:t>
            </a:r>
            <a:r>
              <a:rPr kumimoji="1" lang="en-US" altLang="ja-JP"/>
              <a:t>— </a:t>
            </a:r>
            <a:r>
              <a:rPr kumimoji="1" lang="ja-JP" altLang="en-US"/>
              <a:t>前年同期比</a:t>
            </a:r>
            <a:r>
              <a:rPr kumimoji="1" lang="en-US" altLang="ja-JP"/>
              <a:t>+75.6%</a:t>
            </a:r>
            <a:r>
              <a:rPr kumimoji="1" lang="ja-JP" altLang="en-US"/>
              <a:t>、</a:t>
            </a:r>
            <a:r>
              <a:rPr kumimoji="1" lang="en-US" altLang="ja-JP"/>
              <a:t>EPS120.69</a:t>
            </a:r>
            <a:r>
              <a:rPr kumimoji="1" lang="ja-JP" altLang="en-US"/>
              <a:t>円
添付</a:t>
            </a:r>
            <a:r>
              <a:rPr kumimoji="1" lang="en-US" altLang="ja-JP"/>
              <a:t>PPTX</a:t>
            </a:r>
            <a:r>
              <a:rPr kumimoji="1" lang="ja-JP" altLang="en-US"/>
              <a:t>の表示内容を使った配置の改善例。原文の数値・比較条件を保持。元</a:t>
            </a:r>
            <a:r>
              <a:rPr kumimoji="1" lang="en-US" altLang="ja-JP"/>
              <a:t>PDF</a:t>
            </a:r>
            <a:r>
              <a:rPr kumimoji="1" lang="ja-JP" altLang="en-US"/>
              <a:t>の再検証は行っていません。
出典</a:t>
            </a:r>
            <a:r>
              <a:rPr kumimoji="1" lang="en-US" altLang="ja-JP"/>
              <a:t>:
2027_1q_summary_jp.pdf p.5
2027_1q_summary_jp.pdf p.2
</a:t>
            </a:r>
            <a:r>
              <a:rPr kumimoji="1" lang="ja-JP" altLang="en-US"/>
              <a:t>内容</a:t>
            </a:r>
            <a:r>
              <a:rPr kumimoji="1" lang="en-US" altLang="ja-JP"/>
              <a:t>:
</a:t>
            </a:r>
            <a:r>
              <a:rPr kumimoji="1" lang="ja-JP" altLang="en-US"/>
              <a:t>営業収益 </a:t>
            </a:r>
            <a:r>
              <a:rPr kumimoji="1" lang="en-US" altLang="ja-JP"/>
              <a:t>— 13</a:t>
            </a:r>
            <a:r>
              <a:rPr kumimoji="1" lang="ja-JP" altLang="en-US"/>
              <a:t>兆</a:t>
            </a:r>
            <a:r>
              <a:rPr kumimoji="1" lang="en-US" altLang="ja-JP"/>
              <a:t>5,254</a:t>
            </a:r>
            <a:r>
              <a:rPr kumimoji="1" lang="ja-JP" altLang="en-US"/>
              <a:t>億円 </a:t>
            </a:r>
            <a:r>
              <a:rPr kumimoji="1" lang="en-US" altLang="ja-JP"/>
              <a:t>— </a:t>
            </a:r>
            <a:r>
              <a:rPr kumimoji="1" lang="ja-JP" altLang="en-US"/>
              <a:t>前年同期比</a:t>
            </a:r>
            <a:r>
              <a:rPr kumimoji="1" lang="en-US" altLang="ja-JP"/>
              <a:t>+10.4%
</a:t>
            </a:r>
            <a:r>
              <a:rPr kumimoji="1" lang="ja-JP" altLang="en-US"/>
              <a:t>営業利益 </a:t>
            </a:r>
            <a:r>
              <a:rPr kumimoji="1" lang="en-US" altLang="ja-JP"/>
              <a:t>— 1</a:t>
            </a:r>
            <a:r>
              <a:rPr kumimoji="1" lang="ja-JP" altLang="en-US"/>
              <a:t>兆</a:t>
            </a:r>
            <a:r>
              <a:rPr kumimoji="1" lang="en-US" altLang="ja-JP"/>
              <a:t>634</a:t>
            </a:r>
            <a:r>
              <a:rPr kumimoji="1" lang="ja-JP" altLang="en-US"/>
              <a:t>億円 </a:t>
            </a:r>
            <a:r>
              <a:rPr kumimoji="1" lang="en-US" altLang="ja-JP"/>
              <a:t>— </a:t>
            </a:r>
            <a:r>
              <a:rPr kumimoji="1" lang="ja-JP" altLang="en-US"/>
              <a:t>前年同期比△</a:t>
            </a:r>
            <a:r>
              <a:rPr kumimoji="1" lang="en-US" altLang="ja-JP"/>
              <a:t>8.8%
</a:t>
            </a:r>
            <a:r>
              <a:rPr kumimoji="1" lang="ja-JP" altLang="en-US"/>
              <a:t>税引前四半期利益 </a:t>
            </a:r>
            <a:r>
              <a:rPr kumimoji="1" lang="en-US" altLang="ja-JP"/>
              <a:t>— 1</a:t>
            </a:r>
            <a:r>
              <a:rPr kumimoji="1" lang="ja-JP" altLang="en-US"/>
              <a:t>兆</a:t>
            </a:r>
            <a:r>
              <a:rPr kumimoji="1" lang="en-US" altLang="ja-JP"/>
              <a:t>9,638</a:t>
            </a:r>
            <a:r>
              <a:rPr kumimoji="1" lang="ja-JP" altLang="en-US"/>
              <a:t>億円 </a:t>
            </a:r>
            <a:r>
              <a:rPr kumimoji="1" lang="en-US" altLang="ja-JP"/>
              <a:t>— </a:t>
            </a:r>
            <a:r>
              <a:rPr kumimoji="1" lang="ja-JP" altLang="en-US"/>
              <a:t>前年同期比</a:t>
            </a:r>
            <a:r>
              <a:rPr kumimoji="1" lang="en-US" altLang="ja-JP"/>
              <a:t>+56.8%</a:t>
            </a:r>
            <a:r>
              <a:rPr kumimoji="1" lang="ja-JP" altLang="en-US"/>
              <a:t>（営業外収益増）
親会社帰属四半期利益 </a:t>
            </a:r>
            <a:r>
              <a:rPr kumimoji="1" lang="en-US" altLang="ja-JP"/>
              <a:t>— 1</a:t>
            </a:r>
            <a:r>
              <a:rPr kumimoji="1" lang="ja-JP" altLang="en-US"/>
              <a:t>兆</a:t>
            </a:r>
            <a:r>
              <a:rPr kumimoji="1" lang="en-US" altLang="ja-JP"/>
              <a:t>4,770</a:t>
            </a:r>
            <a:r>
              <a:rPr kumimoji="1" lang="ja-JP" altLang="en-US"/>
              <a:t>億円 </a:t>
            </a:r>
            <a:r>
              <a:rPr kumimoji="1" lang="en-US" altLang="ja-JP"/>
              <a:t>— </a:t>
            </a:r>
            <a:r>
              <a:rPr kumimoji="1" lang="ja-JP" altLang="en-US"/>
              <a:t>前年同期比</a:t>
            </a:r>
            <a:r>
              <a:rPr kumimoji="1" lang="en-US" altLang="ja-JP"/>
              <a:t>+75.6%</a:t>
            </a:r>
            <a:r>
              <a:rPr kumimoji="1" lang="ja-JP" altLang="en-US"/>
              <a:t>、</a:t>
            </a:r>
            <a:r>
              <a:rPr kumimoji="1" lang="en-US" altLang="ja-JP"/>
              <a:t>EPS120.69</a:t>
            </a:r>
            <a:r>
              <a:rPr kumimoji="1" lang="ja-JP" altLang="en-US"/>
              <a:t>円</a:t>
            </a:r>
          </a:p>
        </p:txBody>
      </p:sp>
      <p:sp>
        <p:nvSpPr>
          <p:cNvPr id="4" name="スライド番号プレースホルダー 3"/>
          <p:cNvSpPr>
            <a:spLocks noGrp="1"/>
          </p:cNvSpPr>
          <p:nvPr>
            <p:ph type="sldNum" sz="quarter" idx="5"/>
          </p:nvPr>
        </p:nvSpPr>
        <p:spPr/>
        <p:txBody>
          <a:bodyPr/>
          <a:lstStyle/>
          <a:p>
            <a:fld id="{C9B89A60-969C-46E0-9516-B53F8900D677}" type="slidenum">
              <a:rPr kumimoji="1" lang="ja-JP" altLang="en-US" smtClean="0"/>
              <a:t>2</a:t>
            </a:fld>
            <a:endParaRPr kumimoji="1" lang="ja-JP" altLang="en-US"/>
          </a:p>
        </p:txBody>
      </p:sp>
    </p:spTree>
    <p:extLst>
      <p:ext uri="{BB962C8B-B14F-4D97-AF65-F5344CB8AC3E}">
        <p14:creationId xmlns:p14="http://schemas.microsoft.com/office/powerpoint/2010/main" val="41597512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資料に明記された増減要因のみを掲載</a:t>
            </a:r>
            <a:r>
              <a:rPr kumimoji="1" lang="en-US" altLang="ja-JP"/>
              <a:t>(</a:t>
            </a:r>
            <a:r>
              <a:rPr kumimoji="1" lang="ja-JP" altLang="en-US"/>
              <a:t>営業面の努力</a:t>
            </a:r>
            <a:r>
              <a:rPr kumimoji="1" lang="en-US" altLang="ja-JP"/>
              <a:t>+700</a:t>
            </a:r>
            <a:r>
              <a:rPr kumimoji="1" lang="ja-JP" altLang="en-US"/>
              <a:t>億円は紙面の都合で割愛、詳細は原本</a:t>
            </a:r>
            <a:r>
              <a:rPr kumimoji="1" lang="en-US" altLang="ja-JP"/>
              <a:t>p.5</a:t>
            </a:r>
            <a:r>
              <a:rPr kumimoji="1" lang="ja-JP" altLang="en-US"/>
              <a:t>・</a:t>
            </a:r>
            <a:r>
              <a:rPr kumimoji="1" lang="en-US" altLang="ja-JP"/>
              <a:t>p.19</a:t>
            </a:r>
            <a:r>
              <a:rPr kumimoji="1" lang="ja-JP" altLang="en-US"/>
              <a:t>参照</a:t>
            </a:r>
            <a:r>
              <a:rPr kumimoji="1" lang="en-US" altLang="ja-JP"/>
              <a:t>)</a:t>
            </a:r>
            <a:r>
              <a:rPr kumimoji="1" lang="ja-JP" altLang="en-US"/>
              <a:t>。要因は会社が開示した区分であり、因果関係の推定や新たな集計は行っていない。
出典</a:t>
            </a:r>
            <a:r>
              <a:rPr kumimoji="1" lang="en-US" altLang="ja-JP"/>
              <a:t>:
2027_1q_summary_jp.pdf p.5
</a:t>
            </a:r>
            <a:r>
              <a:rPr kumimoji="1" lang="ja-JP" altLang="en-US"/>
              <a:t>為替変動の影響 </a:t>
            </a:r>
            <a:r>
              <a:rPr kumimoji="1" lang="en-US" altLang="ja-JP"/>
              <a:t>3,450</a:t>
            </a:r>
            <a:r>
              <a:rPr kumimoji="1" lang="ja-JP" altLang="en-US"/>
              <a:t>億円
</a:t>
            </a:r>
            <a:r>
              <a:rPr kumimoji="1" lang="en-US" altLang="ja-JP"/>
              <a:t>2027_1q_summary_jp.pdf p.19
</a:t>
            </a:r>
            <a:r>
              <a:rPr kumimoji="1" lang="ja-JP" altLang="en-US"/>
              <a:t>諸経費の増減・低減努力 </a:t>
            </a:r>
            <a:r>
              <a:rPr kumimoji="1" lang="en-US" altLang="ja-JP"/>
              <a:t>-1,900
</a:t>
            </a:r>
            <a:r>
              <a:rPr kumimoji="1" lang="ja-JP" altLang="en-US"/>
              <a:t>内容</a:t>
            </a:r>
            <a:r>
              <a:rPr kumimoji="1" lang="en-US" altLang="ja-JP"/>
              <a:t>:
</a:t>
            </a:r>
            <a:r>
              <a:rPr kumimoji="1" lang="ja-JP" altLang="en-US"/>
              <a:t>営業利益 前年同期比△</a:t>
            </a:r>
            <a:r>
              <a:rPr kumimoji="1" lang="en-US" altLang="ja-JP"/>
              <a:t>1,026</a:t>
            </a:r>
            <a:r>
              <a:rPr kumimoji="1" lang="ja-JP" altLang="en-US"/>
              <a:t>億円</a:t>
            </a:r>
            <a:r>
              <a:rPr kumimoji="1" lang="en-US" altLang="ja-JP"/>
              <a:t>(△8.8%)</a:t>
            </a:r>
            <a:r>
              <a:rPr kumimoji="1" lang="ja-JP" altLang="en-US"/>
              <a:t>の減益
為替は押し上げ要因だが、諸経費・その他・原価改善の各要因が押し下げ、全体では減益となった。
為替変動の影響 </a:t>
            </a:r>
            <a:r>
              <a:rPr kumimoji="1" lang="en-US" altLang="ja-JP"/>
              <a:t>— +3,450</a:t>
            </a:r>
            <a:r>
              <a:rPr kumimoji="1" lang="ja-JP" altLang="en-US"/>
              <a:t>億円</a:t>
            </a:r>
            <a:r>
              <a:rPr kumimoji="1" lang="en-US" altLang="ja-JP"/>
              <a:t>(</a:t>
            </a:r>
            <a:r>
              <a:rPr kumimoji="1" lang="ja-JP" altLang="en-US"/>
              <a:t>押し上げ</a:t>
            </a:r>
            <a:r>
              <a:rPr kumimoji="1" lang="en-US" altLang="ja-JP"/>
              <a:t>)
</a:t>
            </a:r>
            <a:r>
              <a:rPr kumimoji="1" lang="ja-JP" altLang="en-US"/>
              <a:t>諸経費増減・低減努力 </a:t>
            </a:r>
            <a:r>
              <a:rPr kumimoji="1" lang="en-US" altLang="ja-JP"/>
              <a:t>— △1,900</a:t>
            </a:r>
            <a:r>
              <a:rPr kumimoji="1" lang="ja-JP" altLang="en-US"/>
              <a:t>億円</a:t>
            </a:r>
            <a:r>
              <a:rPr kumimoji="1" lang="en-US" altLang="ja-JP"/>
              <a:t>(</a:t>
            </a:r>
            <a:r>
              <a:rPr kumimoji="1" lang="ja-JP" altLang="en-US"/>
              <a:t>押し下げ</a:t>
            </a:r>
            <a:r>
              <a:rPr kumimoji="1" lang="en-US" altLang="ja-JP"/>
              <a:t>)
</a:t>
            </a:r>
            <a:r>
              <a:rPr kumimoji="1" lang="ja-JP" altLang="en-US"/>
              <a:t>その他 </a:t>
            </a:r>
            <a:r>
              <a:rPr kumimoji="1" lang="en-US" altLang="ja-JP"/>
              <a:t>— △2,426</a:t>
            </a:r>
            <a:r>
              <a:rPr kumimoji="1" lang="ja-JP" altLang="en-US"/>
              <a:t>億円</a:t>
            </a:r>
            <a:r>
              <a:rPr kumimoji="1" lang="en-US" altLang="ja-JP"/>
              <a:t>(</a:t>
            </a:r>
            <a:r>
              <a:rPr kumimoji="1" lang="ja-JP" altLang="en-US"/>
              <a:t>押し下げ</a:t>
            </a:r>
            <a:r>
              <a:rPr kumimoji="1" lang="en-US" altLang="ja-JP"/>
              <a:t>)
</a:t>
            </a:r>
            <a:r>
              <a:rPr kumimoji="1" lang="ja-JP" altLang="en-US"/>
              <a:t>原価改善の努力 </a:t>
            </a:r>
            <a:r>
              <a:rPr kumimoji="1" lang="en-US" altLang="ja-JP"/>
              <a:t>— △850</a:t>
            </a:r>
            <a:r>
              <a:rPr kumimoji="1" lang="ja-JP" altLang="en-US"/>
              <a:t>億円</a:t>
            </a:r>
            <a:r>
              <a:rPr kumimoji="1" lang="en-US" altLang="ja-JP"/>
              <a:t>(</a:t>
            </a:r>
            <a:r>
              <a:rPr kumimoji="1" lang="ja-JP" altLang="en-US"/>
              <a:t>押し下げ</a:t>
            </a:r>
            <a:r>
              <a:rPr kumimoji="1" lang="en-US" altLang="ja-JP"/>
              <a:t>)
</a:t>
            </a:r>
            <a:r>
              <a:rPr kumimoji="1" lang="ja-JP" altLang="en-US"/>
              <a:t>添付</a:t>
            </a:r>
            <a:r>
              <a:rPr kumimoji="1" lang="en-US" altLang="ja-JP"/>
              <a:t>PPTX</a:t>
            </a:r>
            <a:r>
              <a:rPr kumimoji="1" lang="ja-JP" altLang="en-US"/>
              <a:t>の表示内容を使った配置の改善例。原文の数値・比較条件を保持。元</a:t>
            </a:r>
            <a:r>
              <a:rPr kumimoji="1" lang="en-US" altLang="ja-JP"/>
              <a:t>PDF</a:t>
            </a:r>
            <a:r>
              <a:rPr kumimoji="1" lang="ja-JP" altLang="en-US"/>
              <a:t>の再検証は行っていません。
出典</a:t>
            </a:r>
            <a:r>
              <a:rPr kumimoji="1" lang="en-US" altLang="ja-JP"/>
              <a:t>:
2027_1q_summary_jp.pdf p.5
2027_1q_summary_jp.pdf p.19
</a:t>
            </a:r>
            <a:r>
              <a:rPr kumimoji="1" lang="ja-JP" altLang="en-US"/>
              <a:t>内容</a:t>
            </a:r>
            <a:r>
              <a:rPr kumimoji="1" lang="en-US" altLang="ja-JP"/>
              <a:t>:
</a:t>
            </a:r>
            <a:r>
              <a:rPr kumimoji="1" lang="ja-JP" altLang="en-US"/>
              <a:t>為替変動の影響 </a:t>
            </a:r>
            <a:r>
              <a:rPr kumimoji="1" lang="en-US" altLang="ja-JP"/>
              <a:t>— +3,450</a:t>
            </a:r>
            <a:r>
              <a:rPr kumimoji="1" lang="ja-JP" altLang="en-US"/>
              <a:t>億円（押し上げ）
諸経費増減・低減努力 </a:t>
            </a:r>
            <a:r>
              <a:rPr kumimoji="1" lang="en-US" altLang="ja-JP"/>
              <a:t>— △1,900</a:t>
            </a:r>
            <a:r>
              <a:rPr kumimoji="1" lang="ja-JP" altLang="en-US"/>
              <a:t>億円（押し下げ）
その他 </a:t>
            </a:r>
            <a:r>
              <a:rPr kumimoji="1" lang="en-US" altLang="ja-JP"/>
              <a:t>— △2,426</a:t>
            </a:r>
            <a:r>
              <a:rPr kumimoji="1" lang="ja-JP" altLang="en-US"/>
              <a:t>億円（押し下げ）
原価改善の努力 </a:t>
            </a:r>
            <a:r>
              <a:rPr kumimoji="1" lang="en-US" altLang="ja-JP"/>
              <a:t>— △850</a:t>
            </a:r>
            <a:r>
              <a:rPr kumimoji="1" lang="ja-JP" altLang="en-US"/>
              <a:t>億円（押し下げ）</a:t>
            </a:r>
          </a:p>
        </p:txBody>
      </p:sp>
      <p:sp>
        <p:nvSpPr>
          <p:cNvPr id="4" name="スライド番号プレースホルダー 3"/>
          <p:cNvSpPr>
            <a:spLocks noGrp="1"/>
          </p:cNvSpPr>
          <p:nvPr>
            <p:ph type="sldNum" sz="quarter" idx="5"/>
          </p:nvPr>
        </p:nvSpPr>
        <p:spPr/>
        <p:txBody>
          <a:bodyPr/>
          <a:lstStyle/>
          <a:p>
            <a:fld id="{C9B89A60-969C-46E0-9516-B53F8900D677}" type="slidenum">
              <a:rPr kumimoji="1" lang="ja-JP" altLang="en-US" smtClean="0"/>
              <a:t>3</a:t>
            </a:fld>
            <a:endParaRPr kumimoji="1" lang="ja-JP" altLang="en-US"/>
          </a:p>
        </p:txBody>
      </p:sp>
    </p:spTree>
    <p:extLst>
      <p:ext uri="{BB962C8B-B14F-4D97-AF65-F5344CB8AC3E}">
        <p14:creationId xmlns:p14="http://schemas.microsoft.com/office/powerpoint/2010/main" val="38872726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その他の地域は中南米・オセアニア・アフリカ・中東。北米は前年同期が赤字相当のため</a:t>
            </a:r>
            <a:r>
              <a:rPr kumimoji="1" lang="en-US" altLang="ja-JP"/>
              <a:t>%</a:t>
            </a:r>
            <a:r>
              <a:rPr kumimoji="1" lang="ja-JP" altLang="en-US"/>
              <a:t>表示がなく、資料は増減額</a:t>
            </a:r>
            <a:r>
              <a:rPr kumimoji="1" lang="en-US" altLang="ja-JP"/>
              <a:t>(+2,066</a:t>
            </a:r>
            <a:r>
              <a:rPr kumimoji="1" lang="ja-JP" altLang="en-US"/>
              <a:t>億円</a:t>
            </a:r>
            <a:r>
              <a:rPr kumimoji="1" lang="en-US" altLang="ja-JP"/>
              <a:t>)</a:t>
            </a:r>
            <a:r>
              <a:rPr kumimoji="1" lang="ja-JP" altLang="en-US"/>
              <a:t>のみを開示。</a:t>
            </a:r>
            <a:r>
              <a:rPr kumimoji="1" lang="en-US" altLang="ja-JP"/>
              <a:t>PDF</a:t>
            </a:r>
            <a:r>
              <a:rPr kumimoji="1" lang="ja-JP" altLang="en-US"/>
              <a:t>の表読み順が変わる場合があるため、数値対応は原本</a:t>
            </a:r>
            <a:r>
              <a:rPr kumimoji="1" lang="en-US" altLang="ja-JP"/>
              <a:t>p.6</a:t>
            </a:r>
            <a:r>
              <a:rPr kumimoji="1" lang="ja-JP" altLang="en-US"/>
              <a:t>で要確認。
出典</a:t>
            </a:r>
            <a:r>
              <a:rPr kumimoji="1" lang="en-US" altLang="ja-JP"/>
              <a:t>:
2027_1q_summary_jp.pdf p.6
</a:t>
            </a:r>
            <a:r>
              <a:rPr kumimoji="1" lang="ja-JP" altLang="en-US"/>
              <a:t>営業収益は６兆</a:t>
            </a:r>
            <a:r>
              <a:rPr kumimoji="1" lang="en-US" altLang="ja-JP"/>
              <a:t>1,057</a:t>
            </a:r>
            <a:r>
              <a:rPr kumimoji="1" lang="ja-JP" altLang="en-US"/>
              <a:t>億円と、前年同四半期連結累計期間に比べて</a:t>
            </a:r>
            <a:r>
              <a:rPr kumimoji="1" lang="en-US" altLang="ja-JP"/>
              <a:t>7,915</a:t>
            </a:r>
            <a:r>
              <a:rPr kumimoji="1" lang="ja-JP" altLang="en-US"/>
              <a:t>億円（</a:t>
            </a:r>
            <a:r>
              <a:rPr kumimoji="1" lang="en-US" altLang="ja-JP"/>
              <a:t>14.9</a:t>
            </a:r>
            <a:r>
              <a:rPr kumimoji="1" lang="ja-JP" altLang="en-US"/>
              <a:t>％）の増収となり、営業利益は</a:t>
            </a:r>
            <a:r>
              <a:rPr kumimoji="1" lang="en-US" altLang="ja-JP"/>
              <a:t>1,854</a:t>
            </a:r>
            <a:r>
              <a:rPr kumimoji="1" lang="ja-JP" altLang="en-US"/>
              <a:t>億円と、前年同四半期連結累計期間に比べて</a:t>
            </a:r>
            <a:r>
              <a:rPr kumimoji="1" lang="en-US" altLang="ja-JP"/>
              <a:t>2,066</a:t>
            </a:r>
            <a:r>
              <a:rPr kumimoji="1" lang="ja-JP" altLang="en-US"/>
              <a:t>億円の増益となりました
内容</a:t>
            </a:r>
            <a:r>
              <a:rPr kumimoji="1" lang="en-US" altLang="ja-JP"/>
              <a:t>:
</a:t>
            </a:r>
            <a:r>
              <a:rPr kumimoji="1" lang="ja-JP" altLang="en-US"/>
              <a:t>北米の営業利益は前年同期比</a:t>
            </a:r>
            <a:r>
              <a:rPr kumimoji="1" lang="en-US" altLang="ja-JP"/>
              <a:t>+2,066</a:t>
            </a:r>
            <a:r>
              <a:rPr kumimoji="1" lang="ja-JP" altLang="en-US"/>
              <a:t>億円改善、日本・アジアは諸経費増で減益
所在地別では北米・欧州が増益、日本・アジア・その他地域は諸経費の増加等により減益となった。
添付</a:t>
            </a:r>
            <a:r>
              <a:rPr kumimoji="1" lang="en-US" altLang="ja-JP"/>
              <a:t>PPTX</a:t>
            </a:r>
            <a:r>
              <a:rPr kumimoji="1" lang="ja-JP" altLang="en-US"/>
              <a:t>の表示内容を使った配置の改善例。原文の数値・比較条件を保持。元</a:t>
            </a:r>
            <a:r>
              <a:rPr kumimoji="1" lang="en-US" altLang="ja-JP"/>
              <a:t>PDF</a:t>
            </a:r>
            <a:r>
              <a:rPr kumimoji="1" lang="ja-JP" altLang="en-US"/>
              <a:t>の再検証は行っていません。
出典</a:t>
            </a:r>
            <a:r>
              <a:rPr kumimoji="1" lang="en-US" altLang="ja-JP"/>
              <a:t>:
2027_1q_summary_jp.pdf p.6
</a:t>
            </a:r>
            <a:r>
              <a:rPr kumimoji="1" lang="ja-JP" altLang="en-US"/>
              <a:t>内容</a:t>
            </a:r>
            <a:r>
              <a:rPr kumimoji="1" lang="en-US" altLang="ja-JP"/>
              <a:t>:
</a:t>
            </a:r>
            <a:endParaRPr kumimoji="1" lang="ja-JP" altLang="en-US"/>
          </a:p>
        </p:txBody>
      </p:sp>
      <p:sp>
        <p:nvSpPr>
          <p:cNvPr id="4" name="スライド番号プレースホルダー 3"/>
          <p:cNvSpPr>
            <a:spLocks noGrp="1"/>
          </p:cNvSpPr>
          <p:nvPr>
            <p:ph type="sldNum" sz="quarter" idx="5"/>
          </p:nvPr>
        </p:nvSpPr>
        <p:spPr/>
        <p:txBody>
          <a:bodyPr/>
          <a:lstStyle/>
          <a:p>
            <a:fld id="{C9B89A60-969C-46E0-9516-B53F8900D677}" type="slidenum">
              <a:rPr kumimoji="1" lang="ja-JP" altLang="en-US" smtClean="0"/>
              <a:t>4</a:t>
            </a:fld>
            <a:endParaRPr kumimoji="1" lang="ja-JP" altLang="en-US"/>
          </a:p>
        </p:txBody>
      </p:sp>
    </p:spTree>
    <p:extLst>
      <p:ext uri="{BB962C8B-B14F-4D97-AF65-F5344CB8AC3E}">
        <p14:creationId xmlns:p14="http://schemas.microsoft.com/office/powerpoint/2010/main" val="3716838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親会社所有者帰属持分比率は前期末</a:t>
            </a:r>
            <a:r>
              <a:rPr kumimoji="1" lang="en-US" altLang="ja-JP"/>
              <a:t>37.8%</a:t>
            </a:r>
            <a:r>
              <a:rPr kumimoji="1" lang="ja-JP" altLang="en-US"/>
              <a:t>から</a:t>
            </a:r>
            <a:r>
              <a:rPr kumimoji="1" lang="en-US" altLang="ja-JP"/>
              <a:t>36.4%</a:t>
            </a:r>
            <a:r>
              <a:rPr kumimoji="1" lang="ja-JP" altLang="en-US"/>
              <a:t>へ低下。営業活動</a:t>
            </a:r>
            <a:r>
              <a:rPr kumimoji="1" lang="en-US" altLang="ja-JP"/>
              <a:t>CF</a:t>
            </a:r>
            <a:r>
              <a:rPr kumimoji="1" lang="ja-JP" altLang="en-US"/>
              <a:t>は</a:t>
            </a:r>
            <a:r>
              <a:rPr kumimoji="1" lang="en-US" altLang="ja-JP"/>
              <a:t>5,365</a:t>
            </a:r>
            <a:r>
              <a:rPr kumimoji="1" lang="ja-JP" altLang="en-US"/>
              <a:t>億円</a:t>
            </a:r>
            <a:r>
              <a:rPr kumimoji="1" lang="en-US" altLang="ja-JP"/>
              <a:t>(</a:t>
            </a:r>
            <a:r>
              <a:rPr kumimoji="1" lang="ja-JP" altLang="en-US"/>
              <a:t>前年同期</a:t>
            </a:r>
            <a:r>
              <a:rPr kumimoji="1" lang="en-US" altLang="ja-JP"/>
              <a:t>1</a:t>
            </a:r>
            <a:r>
              <a:rPr kumimoji="1" lang="ja-JP" altLang="en-US"/>
              <a:t>兆</a:t>
            </a:r>
            <a:r>
              <a:rPr kumimoji="1" lang="en-US" altLang="ja-JP"/>
              <a:t>8,764</a:t>
            </a:r>
            <a:r>
              <a:rPr kumimoji="1" lang="ja-JP" altLang="en-US"/>
              <a:t>億円</a:t>
            </a:r>
            <a:r>
              <a:rPr kumimoji="1" lang="en-US" altLang="ja-JP"/>
              <a:t>)</a:t>
            </a:r>
            <a:r>
              <a:rPr kumimoji="1" lang="ja-JP" altLang="en-US"/>
              <a:t>、投資活動</a:t>
            </a:r>
            <a:r>
              <a:rPr kumimoji="1" lang="en-US" altLang="ja-JP"/>
              <a:t>CF</a:t>
            </a:r>
            <a:r>
              <a:rPr kumimoji="1" lang="ja-JP" altLang="en-US"/>
              <a:t>は</a:t>
            </a:r>
            <a:r>
              <a:rPr kumimoji="1" lang="en-US" altLang="ja-JP"/>
              <a:t>+1</a:t>
            </a:r>
            <a:r>
              <a:rPr kumimoji="1" lang="ja-JP" altLang="en-US"/>
              <a:t>兆</a:t>
            </a:r>
            <a:r>
              <a:rPr kumimoji="1" lang="en-US" altLang="ja-JP"/>
              <a:t>4,274</a:t>
            </a:r>
            <a:r>
              <a:rPr kumimoji="1" lang="ja-JP" altLang="en-US"/>
              <a:t>億円</a:t>
            </a:r>
            <a:r>
              <a:rPr kumimoji="1" lang="en-US" altLang="ja-JP"/>
              <a:t>(</a:t>
            </a:r>
            <a:r>
              <a:rPr kumimoji="1" lang="ja-JP" altLang="en-US"/>
              <a:t>資金増加</a:t>
            </a:r>
            <a:r>
              <a:rPr kumimoji="1" lang="en-US" altLang="ja-JP"/>
              <a:t>)</a:t>
            </a:r>
            <a:r>
              <a:rPr kumimoji="1" lang="ja-JP" altLang="en-US"/>
              <a:t>。自己株式取得額は補足資料</a:t>
            </a:r>
            <a:r>
              <a:rPr kumimoji="1" lang="en-US" altLang="ja-JP"/>
              <a:t>(p.19)</a:t>
            </a:r>
            <a:r>
              <a:rPr kumimoji="1" lang="ja-JP" altLang="en-US"/>
              <a:t>の決議ベース数値。
出典</a:t>
            </a:r>
            <a:r>
              <a:rPr kumimoji="1" lang="en-US" altLang="ja-JP"/>
              <a:t>:
2027_1q_summary_jp.pdf p.7
</a:t>
            </a:r>
            <a:r>
              <a:rPr kumimoji="1" lang="ja-JP" altLang="en-US"/>
              <a:t>総資産は</a:t>
            </a:r>
            <a:r>
              <a:rPr kumimoji="1" lang="en-US" altLang="ja-JP"/>
              <a:t>102</a:t>
            </a:r>
            <a:r>
              <a:rPr kumimoji="1" lang="ja-JP" altLang="en-US"/>
              <a:t>兆</a:t>
            </a:r>
            <a:r>
              <a:rPr kumimoji="1" lang="en-US" altLang="ja-JP"/>
              <a:t>6,351</a:t>
            </a:r>
            <a:r>
              <a:rPr kumimoji="1" lang="ja-JP" altLang="en-US"/>
              <a:t>億円と、前連結会計年度末に比べて２兆</a:t>
            </a:r>
            <a:r>
              <a:rPr kumimoji="1" lang="en-US" altLang="ja-JP"/>
              <a:t>8,872</a:t>
            </a:r>
            <a:r>
              <a:rPr kumimoji="1" lang="ja-JP" altLang="en-US"/>
              <a:t>億円（</a:t>
            </a:r>
            <a:r>
              <a:rPr kumimoji="1" lang="en-US" altLang="ja-JP"/>
              <a:t>2.7</a:t>
            </a:r>
            <a:r>
              <a:rPr kumimoji="1" lang="ja-JP" altLang="en-US"/>
              <a:t>％）の減少となりました
</a:t>
            </a:r>
            <a:r>
              <a:rPr kumimoji="1" lang="en-US" altLang="ja-JP"/>
              <a:t>2027_1q_summary_jp.pdf p.13
</a:t>
            </a:r>
            <a:r>
              <a:rPr kumimoji="1" lang="ja-JP" altLang="en-US"/>
              <a:t>自己株式の取得（△） △</a:t>
            </a:r>
            <a:r>
              <a:rPr kumimoji="1" lang="en-US" altLang="ja-JP"/>
              <a:t>39,953 △3,656,884
</a:t>
            </a:r>
            <a:r>
              <a:rPr kumimoji="1" lang="ja-JP" altLang="en-US"/>
              <a:t>内容</a:t>
            </a:r>
            <a:r>
              <a:rPr kumimoji="1" lang="en-US" altLang="ja-JP"/>
              <a:t>:
</a:t>
            </a:r>
            <a:r>
              <a:rPr kumimoji="1" lang="ja-JP" altLang="en-US"/>
              <a:t>資産・資本・現金はいずれも前期末比で減少、自己株式取得が財務</a:t>
            </a:r>
            <a:r>
              <a:rPr kumimoji="1" lang="en-US" altLang="ja-JP"/>
              <a:t>CF</a:t>
            </a:r>
            <a:r>
              <a:rPr kumimoji="1" lang="ja-JP" altLang="en-US"/>
              <a:t>減少の主因
自己株式取得</a:t>
            </a:r>
            <a:r>
              <a:rPr kumimoji="1" lang="en-US" altLang="ja-JP"/>
              <a:t>3</a:t>
            </a:r>
            <a:r>
              <a:rPr kumimoji="1" lang="ja-JP" altLang="en-US"/>
              <a:t>兆</a:t>
            </a:r>
            <a:r>
              <a:rPr kumimoji="1" lang="en-US" altLang="ja-JP"/>
              <a:t>6,569</a:t>
            </a:r>
            <a:r>
              <a:rPr kumimoji="1" lang="ja-JP" altLang="en-US"/>
              <a:t>億円の実施により、資本および現金が前期末比で大きく減少した。
資産合計 </a:t>
            </a:r>
            <a:r>
              <a:rPr kumimoji="1" lang="en-US" altLang="ja-JP"/>
              <a:t>— 102</a:t>
            </a:r>
            <a:r>
              <a:rPr kumimoji="1" lang="ja-JP" altLang="en-US"/>
              <a:t>兆</a:t>
            </a:r>
            <a:r>
              <a:rPr kumimoji="1" lang="en-US" altLang="ja-JP"/>
              <a:t>6,351</a:t>
            </a:r>
            <a:r>
              <a:rPr kumimoji="1" lang="ja-JP" altLang="en-US"/>
              <a:t>億円 </a:t>
            </a:r>
            <a:r>
              <a:rPr kumimoji="1" lang="en-US" altLang="ja-JP"/>
              <a:t>— </a:t>
            </a:r>
            <a:r>
              <a:rPr kumimoji="1" lang="ja-JP" altLang="en-US"/>
              <a:t>前期末比△</a:t>
            </a:r>
            <a:r>
              <a:rPr kumimoji="1" lang="en-US" altLang="ja-JP"/>
              <a:t>2.7%
</a:t>
            </a:r>
            <a:r>
              <a:rPr kumimoji="1" lang="ja-JP" altLang="en-US"/>
              <a:t>資本合計 </a:t>
            </a:r>
            <a:r>
              <a:rPr kumimoji="1" lang="en-US" altLang="ja-JP"/>
              <a:t>— 38</a:t>
            </a:r>
            <a:r>
              <a:rPr kumimoji="1" lang="ja-JP" altLang="en-US"/>
              <a:t>兆</a:t>
            </a:r>
            <a:r>
              <a:rPr kumimoji="1" lang="en-US" altLang="ja-JP"/>
              <a:t>2,289</a:t>
            </a:r>
            <a:r>
              <a:rPr kumimoji="1" lang="ja-JP" altLang="en-US"/>
              <a:t>億円 </a:t>
            </a:r>
            <a:r>
              <a:rPr kumimoji="1" lang="en-US" altLang="ja-JP"/>
              <a:t>— </a:t>
            </a:r>
            <a:r>
              <a:rPr kumimoji="1" lang="ja-JP" altLang="en-US"/>
              <a:t>前期末比△</a:t>
            </a:r>
            <a:r>
              <a:rPr kumimoji="1" lang="en-US" altLang="ja-JP"/>
              <a:t>6.8%</a:t>
            </a:r>
            <a:r>
              <a:rPr kumimoji="1" lang="ja-JP" altLang="en-US"/>
              <a:t>、持分比率</a:t>
            </a:r>
            <a:r>
              <a:rPr kumimoji="1" lang="en-US" altLang="ja-JP"/>
              <a:t>36.4%
</a:t>
            </a:r>
            <a:r>
              <a:rPr kumimoji="1" lang="ja-JP" altLang="en-US"/>
              <a:t>現金及び現金同等物 </a:t>
            </a:r>
            <a:r>
              <a:rPr kumimoji="1" lang="en-US" altLang="ja-JP"/>
              <a:t>— 10</a:t>
            </a:r>
            <a:r>
              <a:rPr kumimoji="1" lang="ja-JP" altLang="en-US"/>
              <a:t>兆</a:t>
            </a:r>
            <a:r>
              <a:rPr kumimoji="1" lang="en-US" altLang="ja-JP"/>
              <a:t>3,430</a:t>
            </a:r>
            <a:r>
              <a:rPr kumimoji="1" lang="ja-JP" altLang="en-US"/>
              <a:t>億円 </a:t>
            </a:r>
            <a:r>
              <a:rPr kumimoji="1" lang="en-US" altLang="ja-JP"/>
              <a:t>— </a:t>
            </a:r>
            <a:r>
              <a:rPr kumimoji="1" lang="ja-JP" altLang="en-US"/>
              <a:t>前期末比△</a:t>
            </a:r>
            <a:r>
              <a:rPr kumimoji="1" lang="en-US" altLang="ja-JP"/>
              <a:t>18.3%
</a:t>
            </a:r>
            <a:r>
              <a:rPr kumimoji="1" lang="ja-JP" altLang="en-US"/>
              <a:t>財務活動</a:t>
            </a:r>
            <a:r>
              <a:rPr kumimoji="1" lang="en-US" altLang="ja-JP"/>
              <a:t>CF — △4</a:t>
            </a:r>
            <a:r>
              <a:rPr kumimoji="1" lang="ja-JP" altLang="en-US"/>
              <a:t>兆</a:t>
            </a:r>
            <a:r>
              <a:rPr kumimoji="1" lang="en-US" altLang="ja-JP"/>
              <a:t>3,391</a:t>
            </a:r>
            <a:r>
              <a:rPr kumimoji="1" lang="ja-JP" altLang="en-US"/>
              <a:t>億円 </a:t>
            </a:r>
            <a:r>
              <a:rPr kumimoji="1" lang="en-US" altLang="ja-JP"/>
              <a:t>— </a:t>
            </a:r>
            <a:r>
              <a:rPr kumimoji="1" lang="ja-JP" altLang="en-US"/>
              <a:t>自己株式取得</a:t>
            </a:r>
            <a:r>
              <a:rPr kumimoji="1" lang="en-US" altLang="ja-JP"/>
              <a:t>3</a:t>
            </a:r>
            <a:r>
              <a:rPr kumimoji="1" lang="ja-JP" altLang="en-US"/>
              <a:t>兆</a:t>
            </a:r>
            <a:r>
              <a:rPr kumimoji="1" lang="en-US" altLang="ja-JP"/>
              <a:t>6,569</a:t>
            </a:r>
            <a:r>
              <a:rPr kumimoji="1" lang="ja-JP" altLang="en-US"/>
              <a:t>億円が主因
添付</a:t>
            </a:r>
            <a:r>
              <a:rPr kumimoji="1" lang="en-US" altLang="ja-JP"/>
              <a:t>PPTX</a:t>
            </a:r>
            <a:r>
              <a:rPr kumimoji="1" lang="ja-JP" altLang="en-US"/>
              <a:t>の表示内容を使った配置の改善例。原文の数値・比較条件を保持。元</a:t>
            </a:r>
            <a:r>
              <a:rPr kumimoji="1" lang="en-US" altLang="ja-JP"/>
              <a:t>PDF</a:t>
            </a:r>
            <a:r>
              <a:rPr kumimoji="1" lang="ja-JP" altLang="en-US"/>
              <a:t>の再検証は行っていません。
出典</a:t>
            </a:r>
            <a:r>
              <a:rPr kumimoji="1" lang="en-US" altLang="ja-JP"/>
              <a:t>:
2027_1q_summary_jp.pdf p.7
2027_1q_summary_jp.pdf p.13
</a:t>
            </a:r>
            <a:r>
              <a:rPr kumimoji="1" lang="ja-JP" altLang="en-US"/>
              <a:t>内容</a:t>
            </a:r>
            <a:r>
              <a:rPr kumimoji="1" lang="en-US" altLang="ja-JP"/>
              <a:t>:
</a:t>
            </a:r>
            <a:r>
              <a:rPr kumimoji="1" lang="ja-JP" altLang="en-US"/>
              <a:t>資産合計 </a:t>
            </a:r>
            <a:r>
              <a:rPr kumimoji="1" lang="en-US" altLang="ja-JP"/>
              <a:t>— 102</a:t>
            </a:r>
            <a:r>
              <a:rPr kumimoji="1" lang="ja-JP" altLang="en-US"/>
              <a:t>兆</a:t>
            </a:r>
            <a:r>
              <a:rPr kumimoji="1" lang="en-US" altLang="ja-JP"/>
              <a:t>6,351</a:t>
            </a:r>
            <a:r>
              <a:rPr kumimoji="1" lang="ja-JP" altLang="en-US"/>
              <a:t>億円 </a:t>
            </a:r>
            <a:r>
              <a:rPr kumimoji="1" lang="en-US" altLang="ja-JP"/>
              <a:t>— </a:t>
            </a:r>
            <a:r>
              <a:rPr kumimoji="1" lang="ja-JP" altLang="en-US"/>
              <a:t>前期末比△</a:t>
            </a:r>
            <a:r>
              <a:rPr kumimoji="1" lang="en-US" altLang="ja-JP"/>
              <a:t>2.7%
</a:t>
            </a:r>
            <a:r>
              <a:rPr kumimoji="1" lang="ja-JP" altLang="en-US"/>
              <a:t>資本合計 </a:t>
            </a:r>
            <a:r>
              <a:rPr kumimoji="1" lang="en-US" altLang="ja-JP"/>
              <a:t>— 38</a:t>
            </a:r>
            <a:r>
              <a:rPr kumimoji="1" lang="ja-JP" altLang="en-US"/>
              <a:t>兆</a:t>
            </a:r>
            <a:r>
              <a:rPr kumimoji="1" lang="en-US" altLang="ja-JP"/>
              <a:t>2,289</a:t>
            </a:r>
            <a:r>
              <a:rPr kumimoji="1" lang="ja-JP" altLang="en-US"/>
              <a:t>億円 </a:t>
            </a:r>
            <a:r>
              <a:rPr kumimoji="1" lang="en-US" altLang="ja-JP"/>
              <a:t>— </a:t>
            </a:r>
            <a:r>
              <a:rPr kumimoji="1" lang="ja-JP" altLang="en-US"/>
              <a:t>前期末比△</a:t>
            </a:r>
            <a:r>
              <a:rPr kumimoji="1" lang="en-US" altLang="ja-JP"/>
              <a:t>6.8%</a:t>
            </a:r>
            <a:r>
              <a:rPr kumimoji="1" lang="ja-JP" altLang="en-US"/>
              <a:t>、持分比率</a:t>
            </a:r>
            <a:r>
              <a:rPr kumimoji="1" lang="en-US" altLang="ja-JP"/>
              <a:t>36.4%
</a:t>
            </a:r>
            <a:r>
              <a:rPr kumimoji="1" lang="ja-JP" altLang="en-US"/>
              <a:t>現金及び現金同等物 </a:t>
            </a:r>
            <a:r>
              <a:rPr kumimoji="1" lang="en-US" altLang="ja-JP"/>
              <a:t>— 10</a:t>
            </a:r>
            <a:r>
              <a:rPr kumimoji="1" lang="ja-JP" altLang="en-US"/>
              <a:t>兆</a:t>
            </a:r>
            <a:r>
              <a:rPr kumimoji="1" lang="en-US" altLang="ja-JP"/>
              <a:t>3,430</a:t>
            </a:r>
            <a:r>
              <a:rPr kumimoji="1" lang="ja-JP" altLang="en-US"/>
              <a:t>億円 </a:t>
            </a:r>
            <a:r>
              <a:rPr kumimoji="1" lang="en-US" altLang="ja-JP"/>
              <a:t>— </a:t>
            </a:r>
            <a:r>
              <a:rPr kumimoji="1" lang="ja-JP" altLang="en-US"/>
              <a:t>前期末比△</a:t>
            </a:r>
            <a:r>
              <a:rPr kumimoji="1" lang="en-US" altLang="ja-JP"/>
              <a:t>18.3%
</a:t>
            </a:r>
            <a:r>
              <a:rPr kumimoji="1" lang="ja-JP" altLang="en-US"/>
              <a:t>財務活動</a:t>
            </a:r>
            <a:r>
              <a:rPr kumimoji="1" lang="en-US" altLang="ja-JP"/>
              <a:t>CF — △4</a:t>
            </a:r>
            <a:r>
              <a:rPr kumimoji="1" lang="ja-JP" altLang="en-US"/>
              <a:t>兆</a:t>
            </a:r>
            <a:r>
              <a:rPr kumimoji="1" lang="en-US" altLang="ja-JP"/>
              <a:t>3,391</a:t>
            </a:r>
            <a:r>
              <a:rPr kumimoji="1" lang="ja-JP" altLang="en-US"/>
              <a:t>億円 </a:t>
            </a:r>
            <a:r>
              <a:rPr kumimoji="1" lang="en-US" altLang="ja-JP"/>
              <a:t>— </a:t>
            </a:r>
            <a:r>
              <a:rPr kumimoji="1" lang="ja-JP" altLang="en-US"/>
              <a:t>自己株式取得</a:t>
            </a:r>
            <a:r>
              <a:rPr kumimoji="1" lang="en-US" altLang="ja-JP"/>
              <a:t>3</a:t>
            </a:r>
            <a:r>
              <a:rPr kumimoji="1" lang="ja-JP" altLang="en-US"/>
              <a:t>兆</a:t>
            </a:r>
            <a:r>
              <a:rPr kumimoji="1" lang="en-US" altLang="ja-JP"/>
              <a:t>6,569</a:t>
            </a:r>
            <a:r>
              <a:rPr kumimoji="1" lang="ja-JP" altLang="en-US"/>
              <a:t>億円が主因</a:t>
            </a:r>
          </a:p>
        </p:txBody>
      </p:sp>
      <p:sp>
        <p:nvSpPr>
          <p:cNvPr id="4" name="スライド番号プレースホルダー 3"/>
          <p:cNvSpPr>
            <a:spLocks noGrp="1"/>
          </p:cNvSpPr>
          <p:nvPr>
            <p:ph type="sldNum" sz="quarter" idx="5"/>
          </p:nvPr>
        </p:nvSpPr>
        <p:spPr/>
        <p:txBody>
          <a:bodyPr/>
          <a:lstStyle/>
          <a:p>
            <a:fld id="{C9B89A60-969C-46E0-9516-B53F8900D677}" type="slidenum">
              <a:rPr kumimoji="1" lang="ja-JP" altLang="en-US" smtClean="0"/>
              <a:t>5</a:t>
            </a:fld>
            <a:endParaRPr kumimoji="1" lang="ja-JP" altLang="en-US"/>
          </a:p>
        </p:txBody>
      </p:sp>
    </p:spTree>
    <p:extLst>
      <p:ext uri="{BB962C8B-B14F-4D97-AF65-F5344CB8AC3E}">
        <p14:creationId xmlns:p14="http://schemas.microsoft.com/office/powerpoint/2010/main" val="21004007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本スライドの論点は資料中に明記された増減要因に基づく確認事項であり、断定的な経営課題の指摘ではない。自動車事業の営業利益は</a:t>
            </a:r>
            <a:r>
              <a:rPr kumimoji="1" lang="en-US" altLang="ja-JP"/>
              <a:t>7,199</a:t>
            </a:r>
            <a:r>
              <a:rPr kumimoji="1" lang="ja-JP" altLang="en-US"/>
              <a:t>億円</a:t>
            </a:r>
            <a:r>
              <a:rPr kumimoji="1" lang="en-US" altLang="ja-JP"/>
              <a:t>(</a:t>
            </a:r>
            <a:r>
              <a:rPr kumimoji="1" lang="ja-JP" altLang="en-US"/>
              <a:t>前年同期比△</a:t>
            </a:r>
            <a:r>
              <a:rPr kumimoji="1" lang="en-US" altLang="ja-JP"/>
              <a:t>1,914</a:t>
            </a:r>
            <a:r>
              <a:rPr kumimoji="1" lang="ja-JP" altLang="en-US"/>
              <a:t>億円、△</a:t>
            </a:r>
            <a:r>
              <a:rPr kumimoji="1" lang="en-US" altLang="ja-JP"/>
              <a:t>21.0%)</a:t>
            </a:r>
            <a:r>
              <a:rPr kumimoji="1" lang="ja-JP" altLang="en-US"/>
              <a:t>。営業活動によるキャッシュ・フローは前年同期</a:t>
            </a:r>
            <a:r>
              <a:rPr kumimoji="1" lang="en-US" altLang="ja-JP"/>
              <a:t>1</a:t>
            </a:r>
            <a:r>
              <a:rPr kumimoji="1" lang="ja-JP" altLang="en-US"/>
              <a:t>兆</a:t>
            </a:r>
            <a:r>
              <a:rPr kumimoji="1" lang="en-US" altLang="ja-JP"/>
              <a:t>8,764</a:t>
            </a:r>
            <a:r>
              <a:rPr kumimoji="1" lang="ja-JP" altLang="en-US"/>
              <a:t>億円から</a:t>
            </a:r>
            <a:r>
              <a:rPr kumimoji="1" lang="en-US" altLang="ja-JP"/>
              <a:t>5,365</a:t>
            </a:r>
            <a:r>
              <a:rPr kumimoji="1" lang="ja-JP" altLang="en-US"/>
              <a:t>億円へ減少</a:t>
            </a:r>
            <a:r>
              <a:rPr kumimoji="1" lang="en-US" altLang="ja-JP"/>
              <a:t>(△1</a:t>
            </a:r>
            <a:r>
              <a:rPr kumimoji="1" lang="ja-JP" altLang="en-US"/>
              <a:t>兆</a:t>
            </a:r>
            <a:r>
              <a:rPr kumimoji="1" lang="en-US" altLang="ja-JP"/>
              <a:t>3,399</a:t>
            </a:r>
            <a:r>
              <a:rPr kumimoji="1" lang="ja-JP" altLang="en-US"/>
              <a:t>億円</a:t>
            </a:r>
            <a:r>
              <a:rPr kumimoji="1" lang="en-US" altLang="ja-JP"/>
              <a:t>)</a:t>
            </a:r>
            <a:r>
              <a:rPr kumimoji="1" lang="ja-JP" altLang="en-US"/>
              <a:t>。日野自動車の連結除外</a:t>
            </a:r>
            <a:r>
              <a:rPr kumimoji="1" lang="en-US" altLang="ja-JP"/>
              <a:t>(</a:t>
            </a:r>
            <a:r>
              <a:rPr kumimoji="1" lang="ja-JP" altLang="en-US"/>
              <a:t>前年同期実績を含む）の影響で単純比較には留意が必要。
出典</a:t>
            </a:r>
            <a:r>
              <a:rPr kumimoji="1" lang="en-US" altLang="ja-JP"/>
              <a:t>:
2027_1q_summary_jp.pdf p.5
</a:t>
            </a:r>
            <a:r>
              <a:rPr kumimoji="1" lang="ja-JP" altLang="en-US"/>
              <a:t>営業利益は</a:t>
            </a:r>
            <a:r>
              <a:rPr kumimoji="1" lang="en-US" altLang="ja-JP"/>
              <a:t>7,199</a:t>
            </a:r>
            <a:r>
              <a:rPr kumimoji="1" lang="ja-JP" altLang="en-US"/>
              <a:t>億円と、前年同四半期連結累計期間に比べて</a:t>
            </a:r>
            <a:r>
              <a:rPr kumimoji="1" lang="en-US" altLang="ja-JP"/>
              <a:t>1,914</a:t>
            </a:r>
            <a:r>
              <a:rPr kumimoji="1" lang="ja-JP" altLang="en-US"/>
              <a:t>億円（</a:t>
            </a:r>
            <a:r>
              <a:rPr kumimoji="1" lang="en-US" altLang="ja-JP"/>
              <a:t>21.0</a:t>
            </a:r>
            <a:r>
              <a:rPr kumimoji="1" lang="ja-JP" altLang="en-US"/>
              <a:t>％）の減益となりました
</a:t>
            </a:r>
            <a:r>
              <a:rPr kumimoji="1" lang="en-US" altLang="ja-JP"/>
              <a:t>2027_1q_summary_jp.pdf p.13
</a:t>
            </a:r>
            <a:r>
              <a:rPr kumimoji="1" lang="ja-JP" altLang="en-US"/>
              <a:t>営業活動によるキャッシュ・フロー </a:t>
            </a:r>
            <a:r>
              <a:rPr kumimoji="1" lang="en-US" altLang="ja-JP"/>
              <a:t>1,876,481 536,551
</a:t>
            </a:r>
            <a:r>
              <a:rPr kumimoji="1" lang="ja-JP" altLang="en-US"/>
              <a:t>内容</a:t>
            </a:r>
            <a:r>
              <a:rPr kumimoji="1" lang="en-US" altLang="ja-JP"/>
              <a:t>:
</a:t>
            </a:r>
            <a:r>
              <a:rPr kumimoji="1" lang="ja-JP" altLang="en-US"/>
              <a:t>営業外要因主導の増益、本業の費用吸収力と</a:t>
            </a:r>
            <a:r>
              <a:rPr kumimoji="1" lang="en-US" altLang="ja-JP"/>
              <a:t>CF</a:t>
            </a:r>
            <a:r>
              <a:rPr kumimoji="1" lang="ja-JP" altLang="en-US"/>
              <a:t>創出力の持続性を継続確認したい
税引前・親会社帰属利益の大幅増は営業外収益の改善が寄与しており、本業の収益性と資金創出力は資料の開示範囲で確認を要する。
自動車事業利益 </a:t>
            </a:r>
            <a:r>
              <a:rPr kumimoji="1" lang="en-US" altLang="ja-JP"/>
              <a:t>— </a:t>
            </a:r>
            <a:r>
              <a:rPr kumimoji="1" lang="ja-JP" altLang="en-US"/>
              <a:t>諸経費増で△</a:t>
            </a:r>
            <a:r>
              <a:rPr kumimoji="1" lang="en-US" altLang="ja-JP"/>
              <a:t>21.0%</a:t>
            </a:r>
            <a:r>
              <a:rPr kumimoji="1" lang="ja-JP" altLang="en-US"/>
              <a:t>減益
日本・アジア減益 </a:t>
            </a:r>
            <a:r>
              <a:rPr kumimoji="1" lang="en-US" altLang="ja-JP"/>
              <a:t>— </a:t>
            </a:r>
            <a:r>
              <a:rPr kumimoji="1" lang="ja-JP" altLang="en-US"/>
              <a:t>諸経費増加等が要因と記載
自己株式取得 </a:t>
            </a:r>
            <a:r>
              <a:rPr kumimoji="1" lang="en-US" altLang="ja-JP"/>
              <a:t>— 3,657</a:t>
            </a:r>
            <a:r>
              <a:rPr kumimoji="1" lang="ja-JP" altLang="en-US"/>
              <a:t>億円で資本減少
営業</a:t>
            </a:r>
            <a:r>
              <a:rPr kumimoji="1" lang="en-US" altLang="ja-JP"/>
              <a:t>CF</a:t>
            </a:r>
            <a:r>
              <a:rPr kumimoji="1" lang="ja-JP" altLang="en-US"/>
              <a:t>減少 </a:t>
            </a:r>
            <a:r>
              <a:rPr kumimoji="1" lang="en-US" altLang="ja-JP"/>
              <a:t>— 5,365</a:t>
            </a:r>
            <a:r>
              <a:rPr kumimoji="1" lang="ja-JP" altLang="en-US"/>
              <a:t>億円へ急減
添付</a:t>
            </a:r>
            <a:r>
              <a:rPr kumimoji="1" lang="en-US" altLang="ja-JP"/>
              <a:t>PPTX</a:t>
            </a:r>
            <a:r>
              <a:rPr kumimoji="1" lang="ja-JP" altLang="en-US"/>
              <a:t>の表示内容を使った配置の改善例。原文の数値・比較条件を保持。元</a:t>
            </a:r>
            <a:r>
              <a:rPr kumimoji="1" lang="en-US" altLang="ja-JP"/>
              <a:t>PDF</a:t>
            </a:r>
            <a:r>
              <a:rPr kumimoji="1" lang="ja-JP" altLang="en-US"/>
              <a:t>の再検証は行っていません。
出典</a:t>
            </a:r>
            <a:r>
              <a:rPr kumimoji="1" lang="en-US" altLang="ja-JP"/>
              <a:t>:
2027_1q_summary_jp.pdf p.5
2027_1q_summary_jp.pdf p.13
</a:t>
            </a:r>
            <a:r>
              <a:rPr kumimoji="1" lang="ja-JP" altLang="en-US"/>
              <a:t>内容</a:t>
            </a:r>
            <a:r>
              <a:rPr kumimoji="1" lang="en-US" altLang="ja-JP"/>
              <a:t>:
</a:t>
            </a:r>
            <a:r>
              <a:rPr kumimoji="1" lang="ja-JP" altLang="en-US"/>
              <a:t>自動車事業利益 </a:t>
            </a:r>
            <a:r>
              <a:rPr kumimoji="1" lang="en-US" altLang="ja-JP"/>
              <a:t>— </a:t>
            </a:r>
            <a:r>
              <a:rPr kumimoji="1" lang="ja-JP" altLang="en-US"/>
              <a:t>諸経費増で△</a:t>
            </a:r>
            <a:r>
              <a:rPr kumimoji="1" lang="en-US" altLang="ja-JP"/>
              <a:t>21.0%</a:t>
            </a:r>
            <a:r>
              <a:rPr kumimoji="1" lang="ja-JP" altLang="en-US"/>
              <a:t>減益
日本・アジア減益 </a:t>
            </a:r>
            <a:r>
              <a:rPr kumimoji="1" lang="en-US" altLang="ja-JP"/>
              <a:t>— </a:t>
            </a:r>
            <a:r>
              <a:rPr kumimoji="1" lang="ja-JP" altLang="en-US"/>
              <a:t>諸経費増加等が要因と記載
自己株式取得 </a:t>
            </a:r>
            <a:r>
              <a:rPr kumimoji="1" lang="en-US" altLang="ja-JP"/>
              <a:t>— 3,657</a:t>
            </a:r>
            <a:r>
              <a:rPr kumimoji="1" lang="ja-JP" altLang="en-US"/>
              <a:t>億円で資本減少
営業</a:t>
            </a:r>
            <a:r>
              <a:rPr kumimoji="1" lang="en-US" altLang="ja-JP"/>
              <a:t>CF</a:t>
            </a:r>
            <a:r>
              <a:rPr kumimoji="1" lang="ja-JP" altLang="en-US"/>
              <a:t>減少 </a:t>
            </a:r>
            <a:r>
              <a:rPr kumimoji="1" lang="en-US" altLang="ja-JP"/>
              <a:t>— 5,365</a:t>
            </a:r>
            <a:r>
              <a:rPr kumimoji="1" lang="ja-JP" altLang="en-US"/>
              <a:t>億円へ急減</a:t>
            </a:r>
          </a:p>
        </p:txBody>
      </p:sp>
      <p:sp>
        <p:nvSpPr>
          <p:cNvPr id="4" name="スライド番号プレースホルダー 3"/>
          <p:cNvSpPr>
            <a:spLocks noGrp="1"/>
          </p:cNvSpPr>
          <p:nvPr>
            <p:ph type="sldNum" sz="quarter" idx="5"/>
          </p:nvPr>
        </p:nvSpPr>
        <p:spPr/>
        <p:txBody>
          <a:bodyPr/>
          <a:lstStyle/>
          <a:p>
            <a:fld id="{C9B89A60-969C-46E0-9516-B53F8900D677}" type="slidenum">
              <a:rPr kumimoji="1" lang="ja-JP" altLang="en-US" smtClean="0"/>
              <a:t>6</a:t>
            </a:fld>
            <a:endParaRPr kumimoji="1" lang="ja-JP" altLang="en-US"/>
          </a:p>
        </p:txBody>
      </p:sp>
    </p:spTree>
    <p:extLst>
      <p:ext uri="{BB962C8B-B14F-4D97-AF65-F5344CB8AC3E}">
        <p14:creationId xmlns:p14="http://schemas.microsoft.com/office/powerpoint/2010/main" val="1115173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479400D-D7C8-BC17-2328-E7BCD6A3BA5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1892F6D-8CF4-E819-92CC-4BAFCEBD94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2D6372AD-4BE5-EA1A-6FC6-B93E7F5D355E}"/>
              </a:ext>
            </a:extLst>
          </p:cNvPr>
          <p:cNvSpPr>
            <a:spLocks noGrp="1"/>
          </p:cNvSpPr>
          <p:nvPr>
            <p:ph type="dt" sz="half" idx="10"/>
          </p:nvPr>
        </p:nvSpPr>
        <p:spPr/>
        <p:txBody>
          <a:bodyPr/>
          <a:lstStyle/>
          <a:p>
            <a:fld id="{8519D6EC-0ECE-4369-B48D-09D5EDD686DD}" type="datetimeFigureOut">
              <a:rPr kumimoji="1" lang="ja-JP" altLang="en-US" smtClean="0"/>
              <a:t>2026/10/1</a:t>
            </a:fld>
            <a:endParaRPr kumimoji="1" lang="ja-JP" altLang="en-US"/>
          </a:p>
        </p:txBody>
      </p:sp>
      <p:sp>
        <p:nvSpPr>
          <p:cNvPr id="5" name="フッター プレースホルダー 4">
            <a:extLst>
              <a:ext uri="{FF2B5EF4-FFF2-40B4-BE49-F238E27FC236}">
                <a16:creationId xmlns:a16="http://schemas.microsoft.com/office/drawing/2014/main" id="{73334E7D-3275-68C3-8370-21C267AEEFA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732C649-CA5B-3CDE-6831-3BCEFC513C19}"/>
              </a:ext>
            </a:extLst>
          </p:cNvPr>
          <p:cNvSpPr>
            <a:spLocks noGrp="1"/>
          </p:cNvSpPr>
          <p:nvPr>
            <p:ph type="sldNum" sz="quarter" idx="12"/>
          </p:nvPr>
        </p:nvSpPr>
        <p:spPr/>
        <p:txBody>
          <a:bodyPr/>
          <a:lstStyle/>
          <a:p>
            <a:fld id="{3610C524-5B94-49C4-B1FF-F3F6B56B3F86}" type="slidenum">
              <a:rPr kumimoji="1" lang="ja-JP" altLang="en-US" smtClean="0"/>
              <a:t>‹#›</a:t>
            </a:fld>
            <a:endParaRPr kumimoji="1" lang="ja-JP" altLang="en-US"/>
          </a:p>
        </p:txBody>
      </p:sp>
    </p:spTree>
    <p:extLst>
      <p:ext uri="{BB962C8B-B14F-4D97-AF65-F5344CB8AC3E}">
        <p14:creationId xmlns:p14="http://schemas.microsoft.com/office/powerpoint/2010/main" val="47991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4AE7BF-8422-26CA-43EA-BD8EE32C454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D36F4EF-D9BA-0761-D1AA-56EEE359CD19}"/>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4F41A99-754F-202B-1CF4-AB5805E42F3C}"/>
              </a:ext>
            </a:extLst>
          </p:cNvPr>
          <p:cNvSpPr>
            <a:spLocks noGrp="1"/>
          </p:cNvSpPr>
          <p:nvPr>
            <p:ph type="dt" sz="half" idx="10"/>
          </p:nvPr>
        </p:nvSpPr>
        <p:spPr/>
        <p:txBody>
          <a:bodyPr/>
          <a:lstStyle/>
          <a:p>
            <a:fld id="{8519D6EC-0ECE-4369-B48D-09D5EDD686DD}" type="datetimeFigureOut">
              <a:rPr kumimoji="1" lang="ja-JP" altLang="en-US" smtClean="0"/>
              <a:t>2026/10/1</a:t>
            </a:fld>
            <a:endParaRPr kumimoji="1" lang="ja-JP" altLang="en-US"/>
          </a:p>
        </p:txBody>
      </p:sp>
      <p:sp>
        <p:nvSpPr>
          <p:cNvPr id="5" name="フッター プレースホルダー 4">
            <a:extLst>
              <a:ext uri="{FF2B5EF4-FFF2-40B4-BE49-F238E27FC236}">
                <a16:creationId xmlns:a16="http://schemas.microsoft.com/office/drawing/2014/main" id="{85BD76AD-BED5-E506-9D28-79B423D6862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3D2913D-7D96-2158-2B85-3741A41DF24F}"/>
              </a:ext>
            </a:extLst>
          </p:cNvPr>
          <p:cNvSpPr>
            <a:spLocks noGrp="1"/>
          </p:cNvSpPr>
          <p:nvPr>
            <p:ph type="sldNum" sz="quarter" idx="12"/>
          </p:nvPr>
        </p:nvSpPr>
        <p:spPr/>
        <p:txBody>
          <a:bodyPr/>
          <a:lstStyle/>
          <a:p>
            <a:fld id="{3610C524-5B94-49C4-B1FF-F3F6B56B3F86}" type="slidenum">
              <a:rPr kumimoji="1" lang="ja-JP" altLang="en-US" smtClean="0"/>
              <a:t>‹#›</a:t>
            </a:fld>
            <a:endParaRPr kumimoji="1" lang="ja-JP" altLang="en-US"/>
          </a:p>
        </p:txBody>
      </p:sp>
    </p:spTree>
    <p:extLst>
      <p:ext uri="{BB962C8B-B14F-4D97-AF65-F5344CB8AC3E}">
        <p14:creationId xmlns:p14="http://schemas.microsoft.com/office/powerpoint/2010/main" val="10389646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C8564E-0885-BF2A-9B38-60A8AEBA319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2C608B6-B8AA-F697-D712-4BDCFBFEF22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0CE8F69-A110-A648-5115-9472209DF97E}"/>
              </a:ext>
            </a:extLst>
          </p:cNvPr>
          <p:cNvSpPr>
            <a:spLocks noGrp="1"/>
          </p:cNvSpPr>
          <p:nvPr>
            <p:ph type="dt" sz="half" idx="10"/>
          </p:nvPr>
        </p:nvSpPr>
        <p:spPr/>
        <p:txBody>
          <a:bodyPr/>
          <a:lstStyle/>
          <a:p>
            <a:fld id="{8519D6EC-0ECE-4369-B48D-09D5EDD686DD}" type="datetimeFigureOut">
              <a:rPr kumimoji="1" lang="ja-JP" altLang="en-US" smtClean="0"/>
              <a:t>2026/10/1</a:t>
            </a:fld>
            <a:endParaRPr kumimoji="1" lang="ja-JP" altLang="en-US"/>
          </a:p>
        </p:txBody>
      </p:sp>
      <p:sp>
        <p:nvSpPr>
          <p:cNvPr id="5" name="フッター プレースホルダー 4">
            <a:extLst>
              <a:ext uri="{FF2B5EF4-FFF2-40B4-BE49-F238E27FC236}">
                <a16:creationId xmlns:a16="http://schemas.microsoft.com/office/drawing/2014/main" id="{3CA3FB43-AEE3-47D8-81BF-5460F2DA48C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AFC1ADA-ED63-47DB-A78A-3BA456A63AC2}"/>
              </a:ext>
            </a:extLst>
          </p:cNvPr>
          <p:cNvSpPr>
            <a:spLocks noGrp="1"/>
          </p:cNvSpPr>
          <p:nvPr>
            <p:ph type="sldNum" sz="quarter" idx="12"/>
          </p:nvPr>
        </p:nvSpPr>
        <p:spPr/>
        <p:txBody>
          <a:bodyPr/>
          <a:lstStyle/>
          <a:p>
            <a:fld id="{3610C524-5B94-49C4-B1FF-F3F6B56B3F86}" type="slidenum">
              <a:rPr kumimoji="1" lang="ja-JP" altLang="en-US" smtClean="0"/>
              <a:t>‹#›</a:t>
            </a:fld>
            <a:endParaRPr kumimoji="1" lang="ja-JP" altLang="en-US"/>
          </a:p>
        </p:txBody>
      </p:sp>
    </p:spTree>
    <p:extLst>
      <p:ext uri="{BB962C8B-B14F-4D97-AF65-F5344CB8AC3E}">
        <p14:creationId xmlns:p14="http://schemas.microsoft.com/office/powerpoint/2010/main" val="1208085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F13E8E-CEB3-6987-03DC-3C3EABF4015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C2640BB-3458-D1F9-9435-04804870DCF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D4F9373D-5D40-B6E0-0C24-63D9D73F8E8E}"/>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79E444A-1C4B-6ADF-8691-7167158CED0F}"/>
              </a:ext>
            </a:extLst>
          </p:cNvPr>
          <p:cNvSpPr>
            <a:spLocks noGrp="1"/>
          </p:cNvSpPr>
          <p:nvPr>
            <p:ph type="dt" sz="half" idx="10"/>
          </p:nvPr>
        </p:nvSpPr>
        <p:spPr/>
        <p:txBody>
          <a:bodyPr/>
          <a:lstStyle/>
          <a:p>
            <a:fld id="{8519D6EC-0ECE-4369-B48D-09D5EDD686DD}" type="datetimeFigureOut">
              <a:rPr kumimoji="1" lang="ja-JP" altLang="en-US" smtClean="0"/>
              <a:t>2026/10/1</a:t>
            </a:fld>
            <a:endParaRPr kumimoji="1" lang="ja-JP" altLang="en-US"/>
          </a:p>
        </p:txBody>
      </p:sp>
      <p:sp>
        <p:nvSpPr>
          <p:cNvPr id="6" name="フッター プレースホルダー 5">
            <a:extLst>
              <a:ext uri="{FF2B5EF4-FFF2-40B4-BE49-F238E27FC236}">
                <a16:creationId xmlns:a16="http://schemas.microsoft.com/office/drawing/2014/main" id="{26B39BB8-F2CF-B5C7-6578-74977571DD4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2428B5B-5F67-66F0-BC45-4BDD0E643F37}"/>
              </a:ext>
            </a:extLst>
          </p:cNvPr>
          <p:cNvSpPr>
            <a:spLocks noGrp="1"/>
          </p:cNvSpPr>
          <p:nvPr>
            <p:ph type="sldNum" sz="quarter" idx="12"/>
          </p:nvPr>
        </p:nvSpPr>
        <p:spPr/>
        <p:txBody>
          <a:bodyPr/>
          <a:lstStyle/>
          <a:p>
            <a:fld id="{3610C524-5B94-49C4-B1FF-F3F6B56B3F86}" type="slidenum">
              <a:rPr kumimoji="1" lang="ja-JP" altLang="en-US" smtClean="0"/>
              <a:t>‹#›</a:t>
            </a:fld>
            <a:endParaRPr kumimoji="1" lang="ja-JP" altLang="en-US"/>
          </a:p>
        </p:txBody>
      </p:sp>
    </p:spTree>
    <p:extLst>
      <p:ext uri="{BB962C8B-B14F-4D97-AF65-F5344CB8AC3E}">
        <p14:creationId xmlns:p14="http://schemas.microsoft.com/office/powerpoint/2010/main" val="2605214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8641DD-657E-54D2-4979-663E34352A23}"/>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F8C7D48-F5A6-550D-F80B-596A832A2B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0085D55-10F2-0585-3406-3036990ECCB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F9459F5-8506-17C2-9F63-05CC8929CB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9FC74E79-CA9C-AE84-B9BB-7B9AE1A1358C}"/>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772D725A-349F-9928-8BC1-D1863B1B0035}"/>
              </a:ext>
            </a:extLst>
          </p:cNvPr>
          <p:cNvSpPr>
            <a:spLocks noGrp="1"/>
          </p:cNvSpPr>
          <p:nvPr>
            <p:ph type="dt" sz="half" idx="10"/>
          </p:nvPr>
        </p:nvSpPr>
        <p:spPr/>
        <p:txBody>
          <a:bodyPr/>
          <a:lstStyle/>
          <a:p>
            <a:fld id="{8519D6EC-0ECE-4369-B48D-09D5EDD686DD}" type="datetimeFigureOut">
              <a:rPr kumimoji="1" lang="ja-JP" altLang="en-US" smtClean="0"/>
              <a:t>2026/10/1</a:t>
            </a:fld>
            <a:endParaRPr kumimoji="1" lang="ja-JP" altLang="en-US"/>
          </a:p>
        </p:txBody>
      </p:sp>
      <p:sp>
        <p:nvSpPr>
          <p:cNvPr id="8" name="フッター プレースホルダー 7">
            <a:extLst>
              <a:ext uri="{FF2B5EF4-FFF2-40B4-BE49-F238E27FC236}">
                <a16:creationId xmlns:a16="http://schemas.microsoft.com/office/drawing/2014/main" id="{E4AB137F-13B0-E223-BF52-E65DAE03C1B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53705EA6-A6E8-15D0-317B-2ED66B7D8E82}"/>
              </a:ext>
            </a:extLst>
          </p:cNvPr>
          <p:cNvSpPr>
            <a:spLocks noGrp="1"/>
          </p:cNvSpPr>
          <p:nvPr>
            <p:ph type="sldNum" sz="quarter" idx="12"/>
          </p:nvPr>
        </p:nvSpPr>
        <p:spPr/>
        <p:txBody>
          <a:bodyPr/>
          <a:lstStyle/>
          <a:p>
            <a:fld id="{3610C524-5B94-49C4-B1FF-F3F6B56B3F86}" type="slidenum">
              <a:rPr kumimoji="1" lang="ja-JP" altLang="en-US" smtClean="0"/>
              <a:t>‹#›</a:t>
            </a:fld>
            <a:endParaRPr kumimoji="1" lang="ja-JP" altLang="en-US"/>
          </a:p>
        </p:txBody>
      </p:sp>
    </p:spTree>
    <p:extLst>
      <p:ext uri="{BB962C8B-B14F-4D97-AF65-F5344CB8AC3E}">
        <p14:creationId xmlns:p14="http://schemas.microsoft.com/office/powerpoint/2010/main" val="3913193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A7B79F-CB40-32D1-8EF4-84290A9504C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6AD3A1F-4819-5A4C-AE64-6073C1691D11}"/>
              </a:ext>
            </a:extLst>
          </p:cNvPr>
          <p:cNvSpPr>
            <a:spLocks noGrp="1"/>
          </p:cNvSpPr>
          <p:nvPr>
            <p:ph type="dt" sz="half" idx="10"/>
          </p:nvPr>
        </p:nvSpPr>
        <p:spPr/>
        <p:txBody>
          <a:bodyPr/>
          <a:lstStyle/>
          <a:p>
            <a:fld id="{8519D6EC-0ECE-4369-B48D-09D5EDD686DD}" type="datetimeFigureOut">
              <a:rPr kumimoji="1" lang="ja-JP" altLang="en-US" smtClean="0"/>
              <a:t>2026/10/1</a:t>
            </a:fld>
            <a:endParaRPr kumimoji="1" lang="ja-JP" altLang="en-US"/>
          </a:p>
        </p:txBody>
      </p:sp>
      <p:sp>
        <p:nvSpPr>
          <p:cNvPr id="4" name="フッター プレースホルダー 3">
            <a:extLst>
              <a:ext uri="{FF2B5EF4-FFF2-40B4-BE49-F238E27FC236}">
                <a16:creationId xmlns:a16="http://schemas.microsoft.com/office/drawing/2014/main" id="{0D52FFE0-1540-FD7A-2E76-91E760DCD5FD}"/>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7039CC4-CBE5-E7BF-7A19-980CC1C04A62}"/>
              </a:ext>
            </a:extLst>
          </p:cNvPr>
          <p:cNvSpPr>
            <a:spLocks noGrp="1"/>
          </p:cNvSpPr>
          <p:nvPr>
            <p:ph type="sldNum" sz="quarter" idx="12"/>
          </p:nvPr>
        </p:nvSpPr>
        <p:spPr/>
        <p:txBody>
          <a:bodyPr/>
          <a:lstStyle/>
          <a:p>
            <a:fld id="{3610C524-5B94-49C4-B1FF-F3F6B56B3F86}" type="slidenum">
              <a:rPr kumimoji="1" lang="ja-JP" altLang="en-US" smtClean="0"/>
              <a:t>‹#›</a:t>
            </a:fld>
            <a:endParaRPr kumimoji="1" lang="ja-JP" altLang="en-US"/>
          </a:p>
        </p:txBody>
      </p:sp>
    </p:spTree>
    <p:extLst>
      <p:ext uri="{BB962C8B-B14F-4D97-AF65-F5344CB8AC3E}">
        <p14:creationId xmlns:p14="http://schemas.microsoft.com/office/powerpoint/2010/main" val="878801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F5410905-BB42-A96B-75B8-9DB9B3DF1854}"/>
              </a:ext>
            </a:extLst>
          </p:cNvPr>
          <p:cNvSpPr>
            <a:spLocks noGrp="1"/>
          </p:cNvSpPr>
          <p:nvPr>
            <p:ph type="dt" sz="half" idx="10"/>
          </p:nvPr>
        </p:nvSpPr>
        <p:spPr/>
        <p:txBody>
          <a:bodyPr/>
          <a:lstStyle/>
          <a:p>
            <a:fld id="{8519D6EC-0ECE-4369-B48D-09D5EDD686DD}" type="datetimeFigureOut">
              <a:rPr kumimoji="1" lang="ja-JP" altLang="en-US" smtClean="0"/>
              <a:t>2026/10/1</a:t>
            </a:fld>
            <a:endParaRPr kumimoji="1" lang="ja-JP" altLang="en-US"/>
          </a:p>
        </p:txBody>
      </p:sp>
      <p:sp>
        <p:nvSpPr>
          <p:cNvPr id="3" name="フッター プレースホルダー 2">
            <a:extLst>
              <a:ext uri="{FF2B5EF4-FFF2-40B4-BE49-F238E27FC236}">
                <a16:creationId xmlns:a16="http://schemas.microsoft.com/office/drawing/2014/main" id="{9F3037F0-46B8-C2FD-555B-55592FE9BB8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D11BC0A-63F3-F3EC-2E76-A3E18D72EE84}"/>
              </a:ext>
            </a:extLst>
          </p:cNvPr>
          <p:cNvSpPr>
            <a:spLocks noGrp="1"/>
          </p:cNvSpPr>
          <p:nvPr>
            <p:ph type="sldNum" sz="quarter" idx="12"/>
          </p:nvPr>
        </p:nvSpPr>
        <p:spPr/>
        <p:txBody>
          <a:bodyPr/>
          <a:lstStyle/>
          <a:p>
            <a:fld id="{3610C524-5B94-49C4-B1FF-F3F6B56B3F86}" type="slidenum">
              <a:rPr kumimoji="1" lang="ja-JP" altLang="en-US" smtClean="0"/>
              <a:t>‹#›</a:t>
            </a:fld>
            <a:endParaRPr kumimoji="1" lang="ja-JP" altLang="en-US"/>
          </a:p>
        </p:txBody>
      </p:sp>
    </p:spTree>
    <p:extLst>
      <p:ext uri="{BB962C8B-B14F-4D97-AF65-F5344CB8AC3E}">
        <p14:creationId xmlns:p14="http://schemas.microsoft.com/office/powerpoint/2010/main" val="3509284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FE1E45-5DBE-D5D8-C85F-84D9DD4DAF5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D1B120E-DCBF-0260-63A5-8A29A8CF40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32B51335-A7DB-A6FD-E328-3E56EDAD70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3D1E824-B80F-5356-0C80-63EE7C2AD0AB}"/>
              </a:ext>
            </a:extLst>
          </p:cNvPr>
          <p:cNvSpPr>
            <a:spLocks noGrp="1"/>
          </p:cNvSpPr>
          <p:nvPr>
            <p:ph type="dt" sz="half" idx="10"/>
          </p:nvPr>
        </p:nvSpPr>
        <p:spPr/>
        <p:txBody>
          <a:bodyPr/>
          <a:lstStyle/>
          <a:p>
            <a:fld id="{8519D6EC-0ECE-4369-B48D-09D5EDD686DD}" type="datetimeFigureOut">
              <a:rPr kumimoji="1" lang="ja-JP" altLang="en-US" smtClean="0"/>
              <a:t>2026/10/1</a:t>
            </a:fld>
            <a:endParaRPr kumimoji="1" lang="ja-JP" altLang="en-US"/>
          </a:p>
        </p:txBody>
      </p:sp>
      <p:sp>
        <p:nvSpPr>
          <p:cNvPr id="6" name="フッター プレースホルダー 5">
            <a:extLst>
              <a:ext uri="{FF2B5EF4-FFF2-40B4-BE49-F238E27FC236}">
                <a16:creationId xmlns:a16="http://schemas.microsoft.com/office/drawing/2014/main" id="{E7FA0943-9B58-8606-3801-1540233238D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8847CCD-90F0-6892-46FC-6D3348DFB03A}"/>
              </a:ext>
            </a:extLst>
          </p:cNvPr>
          <p:cNvSpPr>
            <a:spLocks noGrp="1"/>
          </p:cNvSpPr>
          <p:nvPr>
            <p:ph type="sldNum" sz="quarter" idx="12"/>
          </p:nvPr>
        </p:nvSpPr>
        <p:spPr/>
        <p:txBody>
          <a:bodyPr/>
          <a:lstStyle/>
          <a:p>
            <a:fld id="{3610C524-5B94-49C4-B1FF-F3F6B56B3F86}" type="slidenum">
              <a:rPr kumimoji="1" lang="ja-JP" altLang="en-US" smtClean="0"/>
              <a:t>‹#›</a:t>
            </a:fld>
            <a:endParaRPr kumimoji="1" lang="ja-JP" altLang="en-US"/>
          </a:p>
        </p:txBody>
      </p:sp>
    </p:spTree>
    <p:extLst>
      <p:ext uri="{BB962C8B-B14F-4D97-AF65-F5344CB8AC3E}">
        <p14:creationId xmlns:p14="http://schemas.microsoft.com/office/powerpoint/2010/main" val="1717233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FAA556-8BF6-5EA2-2FD6-882A77A3935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B59B4496-B46A-09C6-3803-E114A58C54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E9C68F09-92E7-66BF-2F15-654F887221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2F7B100-25D9-0E0D-F149-4FB6977B51D0}"/>
              </a:ext>
            </a:extLst>
          </p:cNvPr>
          <p:cNvSpPr>
            <a:spLocks noGrp="1"/>
          </p:cNvSpPr>
          <p:nvPr>
            <p:ph type="dt" sz="half" idx="10"/>
          </p:nvPr>
        </p:nvSpPr>
        <p:spPr/>
        <p:txBody>
          <a:bodyPr/>
          <a:lstStyle/>
          <a:p>
            <a:fld id="{8519D6EC-0ECE-4369-B48D-09D5EDD686DD}" type="datetimeFigureOut">
              <a:rPr kumimoji="1" lang="ja-JP" altLang="en-US" smtClean="0"/>
              <a:t>2026/10/1</a:t>
            </a:fld>
            <a:endParaRPr kumimoji="1" lang="ja-JP" altLang="en-US"/>
          </a:p>
        </p:txBody>
      </p:sp>
      <p:sp>
        <p:nvSpPr>
          <p:cNvPr id="6" name="フッター プレースホルダー 5">
            <a:extLst>
              <a:ext uri="{FF2B5EF4-FFF2-40B4-BE49-F238E27FC236}">
                <a16:creationId xmlns:a16="http://schemas.microsoft.com/office/drawing/2014/main" id="{03C8CA39-F40A-64D7-C82A-6E1C37E7ED7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91A52B1-C47B-850B-0F4F-24F3F7F254C2}"/>
              </a:ext>
            </a:extLst>
          </p:cNvPr>
          <p:cNvSpPr>
            <a:spLocks noGrp="1"/>
          </p:cNvSpPr>
          <p:nvPr>
            <p:ph type="sldNum" sz="quarter" idx="12"/>
          </p:nvPr>
        </p:nvSpPr>
        <p:spPr/>
        <p:txBody>
          <a:bodyPr/>
          <a:lstStyle/>
          <a:p>
            <a:fld id="{3610C524-5B94-49C4-B1FF-F3F6B56B3F86}" type="slidenum">
              <a:rPr kumimoji="1" lang="ja-JP" altLang="en-US" smtClean="0"/>
              <a:t>‹#›</a:t>
            </a:fld>
            <a:endParaRPr kumimoji="1" lang="ja-JP" altLang="en-US"/>
          </a:p>
        </p:txBody>
      </p:sp>
    </p:spTree>
    <p:extLst>
      <p:ext uri="{BB962C8B-B14F-4D97-AF65-F5344CB8AC3E}">
        <p14:creationId xmlns:p14="http://schemas.microsoft.com/office/powerpoint/2010/main" val="1757317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F35DCD-D4EF-F0D5-5DB8-7679D07DA77B}"/>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F201154-7E97-1DD6-C3F6-A5B8D678BEE5}"/>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E30E37C-499A-FE32-C0E4-63333BCA5DAD}"/>
              </a:ext>
            </a:extLst>
          </p:cNvPr>
          <p:cNvSpPr>
            <a:spLocks noGrp="1"/>
          </p:cNvSpPr>
          <p:nvPr>
            <p:ph type="dt" sz="half" idx="10"/>
          </p:nvPr>
        </p:nvSpPr>
        <p:spPr/>
        <p:txBody>
          <a:bodyPr/>
          <a:lstStyle/>
          <a:p>
            <a:fld id="{8519D6EC-0ECE-4369-B48D-09D5EDD686DD}" type="datetimeFigureOut">
              <a:rPr kumimoji="1" lang="ja-JP" altLang="en-US" smtClean="0"/>
              <a:t>2026/10/1</a:t>
            </a:fld>
            <a:endParaRPr kumimoji="1" lang="ja-JP" altLang="en-US"/>
          </a:p>
        </p:txBody>
      </p:sp>
      <p:sp>
        <p:nvSpPr>
          <p:cNvPr id="5" name="フッター プレースホルダー 4">
            <a:extLst>
              <a:ext uri="{FF2B5EF4-FFF2-40B4-BE49-F238E27FC236}">
                <a16:creationId xmlns:a16="http://schemas.microsoft.com/office/drawing/2014/main" id="{3FF4B494-A6D0-3ABD-DCB9-8B5EEF8ABC6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8EBD53B-1843-6731-76A4-CAFCB639B7A6}"/>
              </a:ext>
            </a:extLst>
          </p:cNvPr>
          <p:cNvSpPr>
            <a:spLocks noGrp="1"/>
          </p:cNvSpPr>
          <p:nvPr>
            <p:ph type="sldNum" sz="quarter" idx="12"/>
          </p:nvPr>
        </p:nvSpPr>
        <p:spPr/>
        <p:txBody>
          <a:bodyPr/>
          <a:lstStyle/>
          <a:p>
            <a:fld id="{3610C524-5B94-49C4-B1FF-F3F6B56B3F86}" type="slidenum">
              <a:rPr kumimoji="1" lang="ja-JP" altLang="en-US" smtClean="0"/>
              <a:t>‹#›</a:t>
            </a:fld>
            <a:endParaRPr kumimoji="1" lang="ja-JP" altLang="en-US"/>
          </a:p>
        </p:txBody>
      </p:sp>
    </p:spTree>
    <p:extLst>
      <p:ext uri="{BB962C8B-B14F-4D97-AF65-F5344CB8AC3E}">
        <p14:creationId xmlns:p14="http://schemas.microsoft.com/office/powerpoint/2010/main" val="3908657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9536A273-9491-6AE6-5B94-CA5E1C6E067A}"/>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D73A91E-7CE5-41EF-AEF4-303C3BE5DDB1}"/>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E605297-70B1-BEE4-A7EE-0BBBF7C0CED8}"/>
              </a:ext>
            </a:extLst>
          </p:cNvPr>
          <p:cNvSpPr>
            <a:spLocks noGrp="1"/>
          </p:cNvSpPr>
          <p:nvPr>
            <p:ph type="dt" sz="half" idx="10"/>
          </p:nvPr>
        </p:nvSpPr>
        <p:spPr/>
        <p:txBody>
          <a:bodyPr/>
          <a:lstStyle/>
          <a:p>
            <a:fld id="{8519D6EC-0ECE-4369-B48D-09D5EDD686DD}" type="datetimeFigureOut">
              <a:rPr kumimoji="1" lang="ja-JP" altLang="en-US" smtClean="0"/>
              <a:t>2026/10/1</a:t>
            </a:fld>
            <a:endParaRPr kumimoji="1" lang="ja-JP" altLang="en-US"/>
          </a:p>
        </p:txBody>
      </p:sp>
      <p:sp>
        <p:nvSpPr>
          <p:cNvPr id="5" name="フッター プレースホルダー 4">
            <a:extLst>
              <a:ext uri="{FF2B5EF4-FFF2-40B4-BE49-F238E27FC236}">
                <a16:creationId xmlns:a16="http://schemas.microsoft.com/office/drawing/2014/main" id="{91FB0E35-3625-31C1-3CEB-A5B3A187E18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016E986-B465-4508-BC96-E645745C9338}"/>
              </a:ext>
            </a:extLst>
          </p:cNvPr>
          <p:cNvSpPr>
            <a:spLocks noGrp="1"/>
          </p:cNvSpPr>
          <p:nvPr>
            <p:ph type="sldNum" sz="quarter" idx="12"/>
          </p:nvPr>
        </p:nvSpPr>
        <p:spPr/>
        <p:txBody>
          <a:bodyPr/>
          <a:lstStyle/>
          <a:p>
            <a:fld id="{3610C524-5B94-49C4-B1FF-F3F6B56B3F86}" type="slidenum">
              <a:rPr kumimoji="1" lang="ja-JP" altLang="en-US" smtClean="0"/>
              <a:t>‹#›</a:t>
            </a:fld>
            <a:endParaRPr kumimoji="1" lang="ja-JP" altLang="en-US"/>
          </a:p>
        </p:txBody>
      </p:sp>
    </p:spTree>
    <p:extLst>
      <p:ext uri="{BB962C8B-B14F-4D97-AF65-F5344CB8AC3E}">
        <p14:creationId xmlns:p14="http://schemas.microsoft.com/office/powerpoint/2010/main" val="3569279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786902B9-64C6-099F-CD78-A91E3DCC78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74D5134-22B4-FB0E-61B1-3240B421F4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C55BF55-28E1-F8AB-114E-E0587672F3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519D6EC-0ECE-4369-B48D-09D5EDD686DD}" type="datetimeFigureOut">
              <a:rPr kumimoji="1" lang="ja-JP" altLang="en-US" smtClean="0"/>
              <a:t>2026/10/1</a:t>
            </a:fld>
            <a:endParaRPr kumimoji="1" lang="ja-JP" altLang="en-US"/>
          </a:p>
        </p:txBody>
      </p:sp>
      <p:sp>
        <p:nvSpPr>
          <p:cNvPr id="5" name="フッター プレースホルダー 4">
            <a:extLst>
              <a:ext uri="{FF2B5EF4-FFF2-40B4-BE49-F238E27FC236}">
                <a16:creationId xmlns:a16="http://schemas.microsoft.com/office/drawing/2014/main" id="{DD90C8C7-9E13-5FED-9B89-3AAFFA05D8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7F711515-2375-6AF6-ACF6-C8378C84F8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610C524-5B94-49C4-B1FF-F3F6B56B3F86}" type="slidenum">
              <a:rPr kumimoji="1" lang="ja-JP" altLang="en-US" smtClean="0"/>
              <a:t>‹#›</a:t>
            </a:fld>
            <a:endParaRPr kumimoji="1" lang="ja-JP" altLang="en-US"/>
          </a:p>
        </p:txBody>
      </p:sp>
    </p:spTree>
    <p:extLst>
      <p:ext uri="{BB962C8B-B14F-4D97-AF65-F5344CB8AC3E}">
        <p14:creationId xmlns:p14="http://schemas.microsoft.com/office/powerpoint/2010/main" val="41407385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DE_1">
    <p:bg>
      <p:bgPr>
        <a:solidFill>
          <a:srgbClr val="FFFFFF"/>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FFA4ABF0-0633-C29C-1DE8-86799F3767B1}"/>
              </a:ext>
            </a:extLst>
          </p:cNvPr>
          <p:cNvSpPr/>
          <p:nvPr/>
        </p:nvSpPr>
        <p:spPr>
          <a:xfrm>
            <a:off x="0" y="889000"/>
            <a:ext cx="12192000" cy="3429000"/>
          </a:xfrm>
          <a:prstGeom prst="rect">
            <a:avLst/>
          </a:prstGeom>
          <a:solidFill>
            <a:srgbClr val="EAF0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74049E18-A2DF-22EF-371D-92B03215796E}"/>
              </a:ext>
            </a:extLst>
          </p:cNvPr>
          <p:cNvSpPr/>
          <p:nvPr/>
        </p:nvSpPr>
        <p:spPr>
          <a:xfrm>
            <a:off x="711200" y="889000"/>
            <a:ext cx="1193800" cy="76200"/>
          </a:xfrm>
          <a:prstGeom prst="rect">
            <a:avLst/>
          </a:prstGeom>
          <a:solidFill>
            <a:srgbClr val="245D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8ABD5B2D-E844-6160-F446-C065472E0DDA}"/>
              </a:ext>
            </a:extLst>
          </p:cNvPr>
          <p:cNvSpPr txBox="1"/>
          <p:nvPr/>
        </p:nvSpPr>
        <p:spPr>
          <a:xfrm>
            <a:off x="787400" y="1435100"/>
            <a:ext cx="10617200" cy="2489200"/>
          </a:xfrm>
          <a:prstGeom prst="rect">
            <a:avLst/>
          </a:prstGeom>
          <a:noFill/>
        </p:spPr>
        <p:txBody>
          <a:bodyPr vert="horz" wrap="square" lIns="0" tIns="0" rIns="0" bIns="0" rtlCol="0" anchor="t">
            <a:noAutofit/>
          </a:bodyPr>
          <a:lstStyle/>
          <a:p>
            <a:r>
              <a:rPr kumimoji="1" lang="ja-JP" altLang="en-US" sz="4200" b="1">
                <a:solidFill>
                  <a:srgbClr val="172D4A"/>
                </a:solidFill>
                <a:latin typeface="BIZ UDPGothic" panose="020B0400000000000000" pitchFamily="50" charset="-128"/>
                <a:ea typeface="BIZ UDPGothic" panose="020B0400000000000000" pitchFamily="50" charset="-128"/>
              </a:rPr>
              <a:t>トヨタ自動車
</a:t>
            </a:r>
            <a:r>
              <a:rPr kumimoji="1" lang="en-US" altLang="ja-JP" sz="4200" b="1">
                <a:solidFill>
                  <a:srgbClr val="172D4A"/>
                </a:solidFill>
                <a:latin typeface="BIZ UDPGothic" panose="020B0400000000000000" pitchFamily="50" charset="-128"/>
                <a:ea typeface="BIZ UDPGothic" panose="020B0400000000000000" pitchFamily="50" charset="-128"/>
              </a:rPr>
              <a:t>2027</a:t>
            </a:r>
            <a:r>
              <a:rPr kumimoji="1" lang="ja-JP" altLang="en-US" sz="4200" b="1">
                <a:solidFill>
                  <a:srgbClr val="172D4A"/>
                </a:solidFill>
                <a:latin typeface="BIZ UDPGothic" panose="020B0400000000000000" pitchFamily="50" charset="-128"/>
                <a:ea typeface="BIZ UDPGothic" panose="020B0400000000000000" pitchFamily="50" charset="-128"/>
              </a:rPr>
              <a:t>年</a:t>
            </a:r>
            <a:r>
              <a:rPr kumimoji="1" lang="en-US" altLang="ja-JP" sz="4200" b="1">
                <a:solidFill>
                  <a:srgbClr val="172D4A"/>
                </a:solidFill>
                <a:latin typeface="BIZ UDPGothic" panose="020B0400000000000000" pitchFamily="50" charset="-128"/>
                <a:ea typeface="BIZ UDPGothic" panose="020B0400000000000000" pitchFamily="50" charset="-128"/>
              </a:rPr>
              <a:t>3</a:t>
            </a:r>
            <a:r>
              <a:rPr kumimoji="1" lang="ja-JP" altLang="en-US" sz="4200" b="1">
                <a:solidFill>
                  <a:srgbClr val="172D4A"/>
                </a:solidFill>
                <a:latin typeface="BIZ UDPGothic" panose="020B0400000000000000" pitchFamily="50" charset="-128"/>
                <a:ea typeface="BIZ UDPGothic" panose="020B0400000000000000" pitchFamily="50" charset="-128"/>
              </a:rPr>
              <a:t>月期 第</a:t>
            </a:r>
            <a:r>
              <a:rPr kumimoji="1" lang="en-US" altLang="ja-JP" sz="4200" b="1">
                <a:solidFill>
                  <a:srgbClr val="172D4A"/>
                </a:solidFill>
                <a:latin typeface="BIZ UDPGothic" panose="020B0400000000000000" pitchFamily="50" charset="-128"/>
                <a:ea typeface="BIZ UDPGothic" panose="020B0400000000000000" pitchFamily="50" charset="-128"/>
              </a:rPr>
              <a:t>1</a:t>
            </a:r>
            <a:r>
              <a:rPr kumimoji="1" lang="ja-JP" altLang="en-US" sz="4200" b="1">
                <a:solidFill>
                  <a:srgbClr val="172D4A"/>
                </a:solidFill>
                <a:latin typeface="BIZ UDPGothic" panose="020B0400000000000000" pitchFamily="50" charset="-128"/>
                <a:ea typeface="BIZ UDPGothic" panose="020B0400000000000000" pitchFamily="50" charset="-128"/>
              </a:rPr>
              <a:t>四半期 決算要旨</a:t>
            </a:r>
          </a:p>
        </p:txBody>
      </p:sp>
      <p:sp>
        <p:nvSpPr>
          <p:cNvPr id="5" name="テキスト ボックス 4">
            <a:extLst>
              <a:ext uri="{FF2B5EF4-FFF2-40B4-BE49-F238E27FC236}">
                <a16:creationId xmlns:a16="http://schemas.microsoft.com/office/drawing/2014/main" id="{C7655824-F5AF-749E-668A-F310E452F8F0}"/>
              </a:ext>
            </a:extLst>
          </p:cNvPr>
          <p:cNvSpPr txBox="1"/>
          <p:nvPr/>
        </p:nvSpPr>
        <p:spPr>
          <a:xfrm>
            <a:off x="825500" y="4889500"/>
            <a:ext cx="10515600" cy="1066800"/>
          </a:xfrm>
          <a:prstGeom prst="rect">
            <a:avLst/>
          </a:prstGeom>
          <a:noFill/>
        </p:spPr>
        <p:txBody>
          <a:bodyPr vert="horz" wrap="square" lIns="0" tIns="0" rIns="0" bIns="0" rtlCol="0" anchor="t">
            <a:noAutofit/>
          </a:bodyPr>
          <a:lstStyle/>
          <a:p>
            <a:r>
              <a:rPr kumimoji="1" lang="en-US" altLang="ja-JP" sz="2300">
                <a:solidFill>
                  <a:srgbClr val="526277"/>
                </a:solidFill>
                <a:latin typeface="BIZ UDPGothic" panose="020B0400000000000000" pitchFamily="50" charset="-128"/>
                <a:ea typeface="BIZ UDPGothic" panose="020B0400000000000000" pitchFamily="50" charset="-128"/>
              </a:rPr>
              <a:t>IFRS</a:t>
            </a:r>
            <a:r>
              <a:rPr kumimoji="1" lang="ja-JP" altLang="en-US" sz="2300">
                <a:solidFill>
                  <a:srgbClr val="526277"/>
                </a:solidFill>
                <a:latin typeface="BIZ UDPGothic" panose="020B0400000000000000" pitchFamily="50" charset="-128"/>
                <a:ea typeface="BIZ UDPGothic" panose="020B0400000000000000" pitchFamily="50" charset="-128"/>
              </a:rPr>
              <a:t>連結 </a:t>
            </a:r>
            <a:r>
              <a:rPr kumimoji="1" lang="en-US" altLang="ja-JP" sz="2300">
                <a:solidFill>
                  <a:srgbClr val="526277"/>
                </a:solidFill>
                <a:latin typeface="BIZ UDPGothic" panose="020B0400000000000000" pitchFamily="50" charset="-128"/>
                <a:ea typeface="BIZ UDPGothic" panose="020B0400000000000000" pitchFamily="50" charset="-128"/>
              </a:rPr>
              <a:t>/ </a:t>
            </a:r>
            <a:r>
              <a:rPr kumimoji="1" lang="ja-JP" altLang="en-US" sz="2300">
                <a:solidFill>
                  <a:srgbClr val="526277"/>
                </a:solidFill>
                <a:latin typeface="BIZ UDPGothic" panose="020B0400000000000000" pitchFamily="50" charset="-128"/>
                <a:ea typeface="BIZ UDPGothic" panose="020B0400000000000000" pitchFamily="50" charset="-128"/>
              </a:rPr>
              <a:t>添付資料の配置改善例</a:t>
            </a:r>
          </a:p>
        </p:txBody>
      </p:sp>
      <p:cxnSp>
        <p:nvCxnSpPr>
          <p:cNvPr id="6" name="直線コネクタ 5">
            <a:extLst>
              <a:ext uri="{FF2B5EF4-FFF2-40B4-BE49-F238E27FC236}">
                <a16:creationId xmlns:a16="http://schemas.microsoft.com/office/drawing/2014/main" id="{D67C97E9-38EA-1BAE-E7CC-AACECE74BC90}"/>
              </a:ext>
            </a:extLst>
          </p:cNvPr>
          <p:cNvCxnSpPr/>
          <p:nvPr/>
        </p:nvCxnSpPr>
        <p:spPr>
          <a:xfrm>
            <a:off x="711200" y="62992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7" name="テキスト ボックス 6">
            <a:extLst>
              <a:ext uri="{FF2B5EF4-FFF2-40B4-BE49-F238E27FC236}">
                <a16:creationId xmlns:a16="http://schemas.microsoft.com/office/drawing/2014/main" id="{CCF97E4B-6DD2-A28F-5D83-C46B857EDF15}"/>
              </a:ext>
            </a:extLst>
          </p:cNvPr>
          <p:cNvSpPr txBox="1"/>
          <p:nvPr/>
        </p:nvSpPr>
        <p:spPr>
          <a:xfrm>
            <a:off x="711200" y="6413500"/>
            <a:ext cx="9829800" cy="279400"/>
          </a:xfrm>
          <a:prstGeom prst="rect">
            <a:avLst/>
          </a:prstGeom>
          <a:noFill/>
        </p:spPr>
        <p:txBody>
          <a:bodyPr vert="horz" wrap="square" lIns="0" tIns="0" rIns="0" bIns="0" rtlCol="0" anchor="t">
            <a:noAutofit/>
          </a:bodyPr>
          <a:lstStyle/>
          <a:p>
            <a:r>
              <a:rPr kumimoji="1" lang="en-US" altLang="ja-JP" sz="1000">
                <a:solidFill>
                  <a:srgbClr val="526277"/>
                </a:solidFill>
                <a:latin typeface="BIZ UDPGothic" panose="020B0400000000000000" pitchFamily="50" charset="-128"/>
                <a:ea typeface="BIZ UDPGothic" panose="020B0400000000000000" pitchFamily="50" charset="-128"/>
              </a:rPr>
              <a:t>2027_1q_summary_jp.pdf p.2</a:t>
            </a:r>
            <a:endParaRPr kumimoji="1" lang="ja-JP" altLang="en-US" sz="1000">
              <a:solidFill>
                <a:srgbClr val="526277"/>
              </a:solidFill>
              <a:latin typeface="BIZ UDPGothic" panose="020B0400000000000000" pitchFamily="50" charset="-128"/>
              <a:ea typeface="BIZ UDPGothic" panose="020B0400000000000000" pitchFamily="50" charset="-128"/>
            </a:endParaRPr>
          </a:p>
        </p:txBody>
      </p:sp>
      <p:sp>
        <p:nvSpPr>
          <p:cNvPr id="8" name="テキスト ボックス 7">
            <a:extLst>
              <a:ext uri="{FF2B5EF4-FFF2-40B4-BE49-F238E27FC236}">
                <a16:creationId xmlns:a16="http://schemas.microsoft.com/office/drawing/2014/main" id="{B770AF1C-983A-954F-C069-5806817993DD}"/>
              </a:ext>
            </a:extLst>
          </p:cNvPr>
          <p:cNvSpPr txBox="1"/>
          <p:nvPr/>
        </p:nvSpPr>
        <p:spPr>
          <a:xfrm>
            <a:off x="10629900" y="6413500"/>
            <a:ext cx="850900" cy="279400"/>
          </a:xfrm>
          <a:prstGeom prst="rect">
            <a:avLst/>
          </a:prstGeom>
          <a:noFill/>
        </p:spPr>
        <p:txBody>
          <a:bodyPr vert="horz" wrap="square" lIns="0" tIns="0" rIns="0" bIns="0" rtlCol="0" anchor="t">
            <a:noAutofit/>
          </a:bodyPr>
          <a:lstStyle/>
          <a:p>
            <a:pPr algn="r"/>
            <a:r>
              <a:rPr kumimoji="1" lang="en-US" altLang="ja-JP" sz="1000">
                <a:solidFill>
                  <a:srgbClr val="526277"/>
                </a:solidFill>
                <a:latin typeface="BIZ UDPGothic" panose="020B0400000000000000" pitchFamily="50" charset="-128"/>
                <a:ea typeface="BIZ UDPGothic" panose="020B0400000000000000" pitchFamily="50" charset="-128"/>
              </a:rPr>
              <a:t>1 / 6</a:t>
            </a:r>
            <a:endParaRPr kumimoji="1" lang="ja-JP" altLang="en-US" sz="1000">
              <a:solidFill>
                <a:srgbClr val="526277"/>
              </a:solidFill>
              <a:latin typeface="BIZ UDPGothic" panose="020B0400000000000000" pitchFamily="50" charset="-128"/>
              <a:ea typeface="BIZ UDPGothic" panose="020B0400000000000000" pitchFamily="50" charset="-128"/>
            </a:endParaRPr>
          </a:p>
        </p:txBody>
      </p:sp>
    </p:spTree>
    <p:extLst>
      <p:ext uri="{BB962C8B-B14F-4D97-AF65-F5344CB8AC3E}">
        <p14:creationId xmlns:p14="http://schemas.microsoft.com/office/powerpoint/2010/main" val="34273926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DE_2">
    <p:bg>
      <p:bgPr>
        <a:solidFill>
          <a:srgbClr val="FFFFFF"/>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3503C3F0-F6B0-EEAE-E9F1-3CD14B17037B}"/>
              </a:ext>
            </a:extLst>
          </p:cNvPr>
          <p:cNvSpPr/>
          <p:nvPr/>
        </p:nvSpPr>
        <p:spPr>
          <a:xfrm>
            <a:off x="0" y="0"/>
            <a:ext cx="12192000" cy="1714500"/>
          </a:xfrm>
          <a:prstGeom prst="rect">
            <a:avLst/>
          </a:prstGeom>
          <a:solidFill>
            <a:srgbClr val="EAF0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9499A4F4-0507-A676-FD4A-F87F38E8AAA7}"/>
              </a:ext>
            </a:extLst>
          </p:cNvPr>
          <p:cNvSpPr txBox="1"/>
          <p:nvPr/>
        </p:nvSpPr>
        <p:spPr>
          <a:xfrm>
            <a:off x="711200" y="431800"/>
            <a:ext cx="10769600" cy="1219200"/>
          </a:xfrm>
          <a:prstGeom prst="rect">
            <a:avLst/>
          </a:prstGeom>
          <a:noFill/>
        </p:spPr>
        <p:txBody>
          <a:bodyPr vert="horz" wrap="square" lIns="0" tIns="0" rIns="0" bIns="0" rtlCol="0" anchor="t">
            <a:noAutofit/>
          </a:bodyPr>
          <a:lstStyle/>
          <a:p>
            <a:r>
              <a:rPr kumimoji="1" lang="ja-JP" altLang="en-US" sz="3400" b="1">
                <a:solidFill>
                  <a:srgbClr val="172D4A"/>
                </a:solidFill>
                <a:latin typeface="BIZ UDPGothic" panose="020B0400000000000000" pitchFamily="50" charset="-128"/>
                <a:ea typeface="BIZ UDPGothic" panose="020B0400000000000000" pitchFamily="50" charset="-128"/>
              </a:rPr>
              <a:t>税引前・当期利益が増加、営業利益は減少</a:t>
            </a:r>
          </a:p>
        </p:txBody>
      </p:sp>
      <p:cxnSp>
        <p:nvCxnSpPr>
          <p:cNvPr id="4" name="直線コネクタ 3">
            <a:extLst>
              <a:ext uri="{FF2B5EF4-FFF2-40B4-BE49-F238E27FC236}">
                <a16:creationId xmlns:a16="http://schemas.microsoft.com/office/drawing/2014/main" id="{F85ED971-BF33-38E8-D75F-F6F60D31FEB9}"/>
              </a:ext>
            </a:extLst>
          </p:cNvPr>
          <p:cNvCxnSpPr/>
          <p:nvPr/>
        </p:nvCxnSpPr>
        <p:spPr>
          <a:xfrm>
            <a:off x="711200" y="17653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38C76C31-8530-5A85-2CC0-24B1DAAAC1B2}"/>
              </a:ext>
            </a:extLst>
          </p:cNvPr>
          <p:cNvSpPr/>
          <p:nvPr/>
        </p:nvSpPr>
        <p:spPr>
          <a:xfrm>
            <a:off x="711200" y="2019300"/>
            <a:ext cx="5232400" cy="1879600"/>
          </a:xfrm>
          <a:prstGeom prst="rect">
            <a:avLst/>
          </a:prstGeom>
          <a:solidFill>
            <a:srgbClr val="EFF3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B4FF8C7A-9443-A5E4-3153-5362168DE94E}"/>
              </a:ext>
            </a:extLst>
          </p:cNvPr>
          <p:cNvSpPr/>
          <p:nvPr/>
        </p:nvSpPr>
        <p:spPr>
          <a:xfrm>
            <a:off x="711200" y="2019300"/>
            <a:ext cx="38100" cy="1879600"/>
          </a:xfrm>
          <a:prstGeom prst="rect">
            <a:avLst/>
          </a:prstGeom>
          <a:solidFill>
            <a:srgbClr val="245D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E569D59D-CA41-22C4-EC50-F2ECE0BADB93}"/>
              </a:ext>
            </a:extLst>
          </p:cNvPr>
          <p:cNvSpPr txBox="1"/>
          <p:nvPr/>
        </p:nvSpPr>
        <p:spPr>
          <a:xfrm>
            <a:off x="965200" y="2184400"/>
            <a:ext cx="4724400" cy="457200"/>
          </a:xfrm>
          <a:prstGeom prst="rect">
            <a:avLst/>
          </a:prstGeom>
          <a:noFill/>
        </p:spPr>
        <p:txBody>
          <a:bodyPr vert="horz" wrap="square" lIns="0" tIns="0" rIns="0" bIns="0" rtlCol="0" anchor="t">
            <a:noAutofit/>
          </a:bodyPr>
          <a:lstStyle/>
          <a:p>
            <a:r>
              <a:rPr kumimoji="1" lang="ja-JP" altLang="en-US" sz="2200" b="1">
                <a:solidFill>
                  <a:srgbClr val="245DA8"/>
                </a:solidFill>
                <a:latin typeface="BIZ UDPGothic" panose="020B0400000000000000" pitchFamily="50" charset="-128"/>
                <a:ea typeface="BIZ UDPGothic" panose="020B0400000000000000" pitchFamily="50" charset="-128"/>
              </a:rPr>
              <a:t>営業収益</a:t>
            </a:r>
          </a:p>
        </p:txBody>
      </p:sp>
      <p:sp>
        <p:nvSpPr>
          <p:cNvPr id="8" name="テキスト ボックス 7">
            <a:extLst>
              <a:ext uri="{FF2B5EF4-FFF2-40B4-BE49-F238E27FC236}">
                <a16:creationId xmlns:a16="http://schemas.microsoft.com/office/drawing/2014/main" id="{9AD44721-FFC0-D262-A730-7A2D03952AFD}"/>
              </a:ext>
            </a:extLst>
          </p:cNvPr>
          <p:cNvSpPr txBox="1"/>
          <p:nvPr/>
        </p:nvSpPr>
        <p:spPr>
          <a:xfrm>
            <a:off x="965200" y="2705100"/>
            <a:ext cx="4724400" cy="736600"/>
          </a:xfrm>
          <a:prstGeom prst="rect">
            <a:avLst/>
          </a:prstGeom>
          <a:noFill/>
        </p:spPr>
        <p:txBody>
          <a:bodyPr vert="horz" wrap="none" lIns="0" tIns="0" rIns="0" bIns="0" rtlCol="0" anchor="t">
            <a:noAutofit/>
          </a:bodyPr>
          <a:lstStyle/>
          <a:p>
            <a:r>
              <a:rPr kumimoji="1" lang="en-US" altLang="ja-JP" sz="4000" b="1">
                <a:solidFill>
                  <a:srgbClr val="245DA8"/>
                </a:solidFill>
                <a:latin typeface="Arial" panose="020B0604020202020204" pitchFamily="34" charset="0"/>
                <a:ea typeface="BIZ UDPGothic" panose="020B0400000000000000" pitchFamily="50" charset="-128"/>
              </a:rPr>
              <a:t>13</a:t>
            </a:r>
            <a:r>
              <a:rPr kumimoji="1" lang="ja-JP" altLang="en-US" sz="4000" b="1">
                <a:solidFill>
                  <a:srgbClr val="245DA8"/>
                </a:solidFill>
                <a:latin typeface="Arial" panose="020B0604020202020204" pitchFamily="34" charset="0"/>
                <a:ea typeface="BIZ UDPGothic" panose="020B0400000000000000" pitchFamily="50" charset="-128"/>
              </a:rPr>
              <a:t>兆</a:t>
            </a:r>
            <a:r>
              <a:rPr kumimoji="1" lang="en-US" altLang="ja-JP" sz="4000" b="1">
                <a:solidFill>
                  <a:srgbClr val="245DA8"/>
                </a:solidFill>
                <a:latin typeface="Arial" panose="020B0604020202020204" pitchFamily="34" charset="0"/>
                <a:ea typeface="BIZ UDPGothic" panose="020B0400000000000000" pitchFamily="50" charset="-128"/>
              </a:rPr>
              <a:t>5,254</a:t>
            </a:r>
            <a:r>
              <a:rPr kumimoji="1" lang="ja-JP" altLang="en-US" sz="4000" b="1">
                <a:solidFill>
                  <a:srgbClr val="245DA8"/>
                </a:solidFill>
                <a:latin typeface="Arial" panose="020B0604020202020204" pitchFamily="34" charset="0"/>
                <a:ea typeface="BIZ UDPGothic" panose="020B0400000000000000" pitchFamily="50" charset="-128"/>
              </a:rPr>
              <a:t>億円</a:t>
            </a:r>
          </a:p>
        </p:txBody>
      </p:sp>
      <p:sp>
        <p:nvSpPr>
          <p:cNvPr id="9" name="テキスト ボックス 8">
            <a:extLst>
              <a:ext uri="{FF2B5EF4-FFF2-40B4-BE49-F238E27FC236}">
                <a16:creationId xmlns:a16="http://schemas.microsoft.com/office/drawing/2014/main" id="{DB372DF6-4C62-907E-5120-68B069515215}"/>
              </a:ext>
            </a:extLst>
          </p:cNvPr>
          <p:cNvSpPr txBox="1"/>
          <p:nvPr/>
        </p:nvSpPr>
        <p:spPr>
          <a:xfrm>
            <a:off x="965200" y="3517900"/>
            <a:ext cx="4724400" cy="368300"/>
          </a:xfrm>
          <a:prstGeom prst="rect">
            <a:avLst/>
          </a:prstGeom>
          <a:noFill/>
        </p:spPr>
        <p:txBody>
          <a:bodyPr vert="horz" wrap="square" lIns="0" tIns="0" rIns="0" bIns="0" rtlCol="0" anchor="t">
            <a:noAutofit/>
          </a:bodyPr>
          <a:lstStyle/>
          <a:p>
            <a:r>
              <a:rPr kumimoji="1" lang="ja-JP" altLang="en-US">
                <a:solidFill>
                  <a:srgbClr val="172D4A"/>
                </a:solidFill>
                <a:latin typeface="BIZ UDPGothic" panose="020B0400000000000000" pitchFamily="50" charset="-128"/>
                <a:ea typeface="BIZ UDPGothic" panose="020B0400000000000000" pitchFamily="50" charset="-128"/>
              </a:rPr>
              <a:t>前年同期比</a:t>
            </a:r>
            <a:r>
              <a:rPr kumimoji="1" lang="en-US" altLang="ja-JP">
                <a:solidFill>
                  <a:srgbClr val="172D4A"/>
                </a:solidFill>
                <a:latin typeface="BIZ UDPGothic" panose="020B0400000000000000" pitchFamily="50" charset="-128"/>
                <a:ea typeface="BIZ UDPGothic" panose="020B0400000000000000" pitchFamily="50" charset="-128"/>
              </a:rPr>
              <a:t>+10.4%</a:t>
            </a:r>
            <a:endParaRPr kumimoji="1" lang="ja-JP" altLang="en-US">
              <a:solidFill>
                <a:srgbClr val="172D4A"/>
              </a:solidFill>
              <a:latin typeface="BIZ UDPGothic" panose="020B0400000000000000" pitchFamily="50" charset="-128"/>
              <a:ea typeface="BIZ UDPGothic" panose="020B0400000000000000" pitchFamily="50" charset="-128"/>
            </a:endParaRPr>
          </a:p>
        </p:txBody>
      </p:sp>
      <p:sp>
        <p:nvSpPr>
          <p:cNvPr id="10" name="正方形/長方形 9">
            <a:extLst>
              <a:ext uri="{FF2B5EF4-FFF2-40B4-BE49-F238E27FC236}">
                <a16:creationId xmlns:a16="http://schemas.microsoft.com/office/drawing/2014/main" id="{1222A08B-BABF-24EF-5C0D-9DF70BF345A6}"/>
              </a:ext>
            </a:extLst>
          </p:cNvPr>
          <p:cNvSpPr/>
          <p:nvPr/>
        </p:nvSpPr>
        <p:spPr>
          <a:xfrm>
            <a:off x="6248400" y="2019300"/>
            <a:ext cx="5232400" cy="1879600"/>
          </a:xfrm>
          <a:prstGeom prst="rect">
            <a:avLst/>
          </a:prstGeom>
          <a:solidFill>
            <a:srgbClr val="ECF5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52D433F0-5381-0A6B-6D04-E583CA2D424B}"/>
              </a:ext>
            </a:extLst>
          </p:cNvPr>
          <p:cNvSpPr/>
          <p:nvPr/>
        </p:nvSpPr>
        <p:spPr>
          <a:xfrm>
            <a:off x="6248400" y="2019300"/>
            <a:ext cx="38100" cy="1879600"/>
          </a:xfrm>
          <a:prstGeom prst="rect">
            <a:avLst/>
          </a:prstGeom>
          <a:solidFill>
            <a:srgbClr val="087A7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D320BE63-6A58-DF0F-A32C-CFF23A72BE8E}"/>
              </a:ext>
            </a:extLst>
          </p:cNvPr>
          <p:cNvSpPr txBox="1"/>
          <p:nvPr/>
        </p:nvSpPr>
        <p:spPr>
          <a:xfrm>
            <a:off x="6502400" y="2184400"/>
            <a:ext cx="4724400" cy="457200"/>
          </a:xfrm>
          <a:prstGeom prst="rect">
            <a:avLst/>
          </a:prstGeom>
          <a:noFill/>
        </p:spPr>
        <p:txBody>
          <a:bodyPr vert="horz" wrap="square" lIns="0" tIns="0" rIns="0" bIns="0" rtlCol="0" anchor="t">
            <a:noAutofit/>
          </a:bodyPr>
          <a:lstStyle/>
          <a:p>
            <a:r>
              <a:rPr kumimoji="1" lang="ja-JP" altLang="en-US" sz="2200" b="1">
                <a:solidFill>
                  <a:srgbClr val="087A72"/>
                </a:solidFill>
                <a:latin typeface="BIZ UDPGothic" panose="020B0400000000000000" pitchFamily="50" charset="-128"/>
                <a:ea typeface="BIZ UDPGothic" panose="020B0400000000000000" pitchFamily="50" charset="-128"/>
              </a:rPr>
              <a:t>営業利益</a:t>
            </a:r>
          </a:p>
        </p:txBody>
      </p:sp>
      <p:sp>
        <p:nvSpPr>
          <p:cNvPr id="13" name="テキスト ボックス 12">
            <a:extLst>
              <a:ext uri="{FF2B5EF4-FFF2-40B4-BE49-F238E27FC236}">
                <a16:creationId xmlns:a16="http://schemas.microsoft.com/office/drawing/2014/main" id="{BA41578A-2E0B-E27C-0FB9-7B175080B0FB}"/>
              </a:ext>
            </a:extLst>
          </p:cNvPr>
          <p:cNvSpPr txBox="1"/>
          <p:nvPr/>
        </p:nvSpPr>
        <p:spPr>
          <a:xfrm>
            <a:off x="6502400" y="2705100"/>
            <a:ext cx="4724400" cy="736600"/>
          </a:xfrm>
          <a:prstGeom prst="rect">
            <a:avLst/>
          </a:prstGeom>
          <a:noFill/>
        </p:spPr>
        <p:txBody>
          <a:bodyPr vert="horz" wrap="none" lIns="0" tIns="0" rIns="0" bIns="0" rtlCol="0" anchor="t">
            <a:noAutofit/>
          </a:bodyPr>
          <a:lstStyle/>
          <a:p>
            <a:r>
              <a:rPr kumimoji="1" lang="en-US" altLang="ja-JP" sz="4000" b="1">
                <a:solidFill>
                  <a:srgbClr val="087A72"/>
                </a:solidFill>
                <a:latin typeface="Arial" panose="020B0604020202020204" pitchFamily="34" charset="0"/>
                <a:ea typeface="BIZ UDPGothic" panose="020B0400000000000000" pitchFamily="50" charset="-128"/>
              </a:rPr>
              <a:t>1</a:t>
            </a:r>
            <a:r>
              <a:rPr kumimoji="1" lang="ja-JP" altLang="en-US" sz="4000" b="1">
                <a:solidFill>
                  <a:srgbClr val="087A72"/>
                </a:solidFill>
                <a:latin typeface="Arial" panose="020B0604020202020204" pitchFamily="34" charset="0"/>
                <a:ea typeface="BIZ UDPGothic" panose="020B0400000000000000" pitchFamily="50" charset="-128"/>
              </a:rPr>
              <a:t>兆</a:t>
            </a:r>
            <a:r>
              <a:rPr kumimoji="1" lang="en-US" altLang="ja-JP" sz="4000" b="1">
                <a:solidFill>
                  <a:srgbClr val="087A72"/>
                </a:solidFill>
                <a:latin typeface="Arial" panose="020B0604020202020204" pitchFamily="34" charset="0"/>
                <a:ea typeface="BIZ UDPGothic" panose="020B0400000000000000" pitchFamily="50" charset="-128"/>
              </a:rPr>
              <a:t>634</a:t>
            </a:r>
            <a:r>
              <a:rPr kumimoji="1" lang="ja-JP" altLang="en-US" sz="4000" b="1">
                <a:solidFill>
                  <a:srgbClr val="087A72"/>
                </a:solidFill>
                <a:latin typeface="Arial" panose="020B0604020202020204" pitchFamily="34" charset="0"/>
                <a:ea typeface="BIZ UDPGothic" panose="020B0400000000000000" pitchFamily="50" charset="-128"/>
              </a:rPr>
              <a:t>億円</a:t>
            </a:r>
          </a:p>
        </p:txBody>
      </p:sp>
      <p:sp>
        <p:nvSpPr>
          <p:cNvPr id="14" name="テキスト ボックス 13">
            <a:extLst>
              <a:ext uri="{FF2B5EF4-FFF2-40B4-BE49-F238E27FC236}">
                <a16:creationId xmlns:a16="http://schemas.microsoft.com/office/drawing/2014/main" id="{4CDE39B9-085E-0907-B18C-03B5B5F3AF50}"/>
              </a:ext>
            </a:extLst>
          </p:cNvPr>
          <p:cNvSpPr txBox="1"/>
          <p:nvPr/>
        </p:nvSpPr>
        <p:spPr>
          <a:xfrm>
            <a:off x="6502400" y="3517900"/>
            <a:ext cx="4724400" cy="368300"/>
          </a:xfrm>
          <a:prstGeom prst="rect">
            <a:avLst/>
          </a:prstGeom>
          <a:noFill/>
        </p:spPr>
        <p:txBody>
          <a:bodyPr vert="horz" wrap="square" lIns="0" tIns="0" rIns="0" bIns="0" rtlCol="0" anchor="t">
            <a:noAutofit/>
          </a:bodyPr>
          <a:lstStyle/>
          <a:p>
            <a:r>
              <a:rPr kumimoji="1" lang="ja-JP" altLang="en-US">
                <a:solidFill>
                  <a:srgbClr val="172D4A"/>
                </a:solidFill>
                <a:latin typeface="BIZ UDPGothic" panose="020B0400000000000000" pitchFamily="50" charset="-128"/>
                <a:ea typeface="BIZ UDPGothic" panose="020B0400000000000000" pitchFamily="50" charset="-128"/>
              </a:rPr>
              <a:t>前年同期比△</a:t>
            </a:r>
            <a:r>
              <a:rPr kumimoji="1" lang="en-US" altLang="ja-JP">
                <a:solidFill>
                  <a:srgbClr val="172D4A"/>
                </a:solidFill>
                <a:latin typeface="BIZ UDPGothic" panose="020B0400000000000000" pitchFamily="50" charset="-128"/>
                <a:ea typeface="BIZ UDPGothic" panose="020B0400000000000000" pitchFamily="50" charset="-128"/>
              </a:rPr>
              <a:t>8.8%</a:t>
            </a:r>
            <a:endParaRPr kumimoji="1" lang="ja-JP" altLang="en-US">
              <a:solidFill>
                <a:srgbClr val="172D4A"/>
              </a:solidFill>
              <a:latin typeface="BIZ UDPGothic" panose="020B0400000000000000" pitchFamily="50" charset="-128"/>
              <a:ea typeface="BIZ UDPGothic" panose="020B0400000000000000" pitchFamily="50" charset="-128"/>
            </a:endParaRPr>
          </a:p>
        </p:txBody>
      </p:sp>
      <p:sp>
        <p:nvSpPr>
          <p:cNvPr id="15" name="正方形/長方形 14">
            <a:extLst>
              <a:ext uri="{FF2B5EF4-FFF2-40B4-BE49-F238E27FC236}">
                <a16:creationId xmlns:a16="http://schemas.microsoft.com/office/drawing/2014/main" id="{41DE1505-BC45-6E99-B9FE-F373D5064B68}"/>
              </a:ext>
            </a:extLst>
          </p:cNvPr>
          <p:cNvSpPr/>
          <p:nvPr/>
        </p:nvSpPr>
        <p:spPr>
          <a:xfrm>
            <a:off x="711200" y="4025900"/>
            <a:ext cx="5232400" cy="1879600"/>
          </a:xfrm>
          <a:prstGeom prst="rect">
            <a:avLst/>
          </a:prstGeom>
          <a:solidFill>
            <a:srgbClr val="F7F3E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069D8EB5-57BA-53D6-E1E6-CD231C7EF261}"/>
              </a:ext>
            </a:extLst>
          </p:cNvPr>
          <p:cNvSpPr/>
          <p:nvPr/>
        </p:nvSpPr>
        <p:spPr>
          <a:xfrm>
            <a:off x="711200" y="4025900"/>
            <a:ext cx="38100" cy="1879600"/>
          </a:xfrm>
          <a:prstGeom prst="rect">
            <a:avLst/>
          </a:prstGeom>
          <a:solidFill>
            <a:srgbClr val="945F1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9CFCEA3A-11B2-77B8-87E6-71A9F5D546B9}"/>
              </a:ext>
            </a:extLst>
          </p:cNvPr>
          <p:cNvSpPr txBox="1"/>
          <p:nvPr/>
        </p:nvSpPr>
        <p:spPr>
          <a:xfrm>
            <a:off x="965200" y="4191000"/>
            <a:ext cx="4724400" cy="457200"/>
          </a:xfrm>
          <a:prstGeom prst="rect">
            <a:avLst/>
          </a:prstGeom>
          <a:noFill/>
        </p:spPr>
        <p:txBody>
          <a:bodyPr vert="horz" wrap="square" lIns="0" tIns="0" rIns="0" bIns="0" rtlCol="0" anchor="t">
            <a:noAutofit/>
          </a:bodyPr>
          <a:lstStyle/>
          <a:p>
            <a:r>
              <a:rPr kumimoji="1" lang="zh-CN" altLang="en-US" sz="2200" b="1">
                <a:solidFill>
                  <a:srgbClr val="945F1D"/>
                </a:solidFill>
                <a:latin typeface="BIZ UDPGothic" panose="020B0400000000000000" pitchFamily="50" charset="-128"/>
                <a:ea typeface="BIZ UDPGothic" panose="020B0400000000000000" pitchFamily="50" charset="-128"/>
              </a:rPr>
              <a:t>税引前四半期利益</a:t>
            </a:r>
            <a:endParaRPr kumimoji="1" lang="ja-JP" altLang="en-US" sz="2200" b="1">
              <a:solidFill>
                <a:srgbClr val="945F1D"/>
              </a:solidFill>
              <a:latin typeface="BIZ UDPGothic" panose="020B0400000000000000" pitchFamily="50" charset="-128"/>
              <a:ea typeface="BIZ UDPGothic" panose="020B0400000000000000" pitchFamily="50" charset="-128"/>
            </a:endParaRPr>
          </a:p>
        </p:txBody>
      </p:sp>
      <p:sp>
        <p:nvSpPr>
          <p:cNvPr id="18" name="テキスト ボックス 17">
            <a:extLst>
              <a:ext uri="{FF2B5EF4-FFF2-40B4-BE49-F238E27FC236}">
                <a16:creationId xmlns:a16="http://schemas.microsoft.com/office/drawing/2014/main" id="{5239B2FF-FE25-5FBA-33DC-33FA01220A7D}"/>
              </a:ext>
            </a:extLst>
          </p:cNvPr>
          <p:cNvSpPr txBox="1"/>
          <p:nvPr/>
        </p:nvSpPr>
        <p:spPr>
          <a:xfrm>
            <a:off x="965200" y="4711700"/>
            <a:ext cx="4724400" cy="736600"/>
          </a:xfrm>
          <a:prstGeom prst="rect">
            <a:avLst/>
          </a:prstGeom>
          <a:noFill/>
        </p:spPr>
        <p:txBody>
          <a:bodyPr vert="horz" wrap="none" lIns="0" tIns="0" rIns="0" bIns="0" rtlCol="0" anchor="t">
            <a:noAutofit/>
          </a:bodyPr>
          <a:lstStyle/>
          <a:p>
            <a:r>
              <a:rPr kumimoji="1" lang="en-US" altLang="ja-JP" sz="4000" b="1">
                <a:solidFill>
                  <a:srgbClr val="945F1D"/>
                </a:solidFill>
                <a:latin typeface="Arial" panose="020B0604020202020204" pitchFamily="34" charset="0"/>
                <a:ea typeface="BIZ UDPGothic" panose="020B0400000000000000" pitchFamily="50" charset="-128"/>
              </a:rPr>
              <a:t>1</a:t>
            </a:r>
            <a:r>
              <a:rPr kumimoji="1" lang="ja-JP" altLang="en-US" sz="4000" b="1">
                <a:solidFill>
                  <a:srgbClr val="945F1D"/>
                </a:solidFill>
                <a:latin typeface="Arial" panose="020B0604020202020204" pitchFamily="34" charset="0"/>
                <a:ea typeface="BIZ UDPGothic" panose="020B0400000000000000" pitchFamily="50" charset="-128"/>
              </a:rPr>
              <a:t>兆</a:t>
            </a:r>
            <a:r>
              <a:rPr kumimoji="1" lang="en-US" altLang="ja-JP" sz="4000" b="1">
                <a:solidFill>
                  <a:srgbClr val="945F1D"/>
                </a:solidFill>
                <a:latin typeface="Arial" panose="020B0604020202020204" pitchFamily="34" charset="0"/>
                <a:ea typeface="BIZ UDPGothic" panose="020B0400000000000000" pitchFamily="50" charset="-128"/>
              </a:rPr>
              <a:t>9,638</a:t>
            </a:r>
            <a:r>
              <a:rPr kumimoji="1" lang="ja-JP" altLang="en-US" sz="4000" b="1">
                <a:solidFill>
                  <a:srgbClr val="945F1D"/>
                </a:solidFill>
                <a:latin typeface="Arial" panose="020B0604020202020204" pitchFamily="34" charset="0"/>
                <a:ea typeface="BIZ UDPGothic" panose="020B0400000000000000" pitchFamily="50" charset="-128"/>
              </a:rPr>
              <a:t>億円</a:t>
            </a:r>
          </a:p>
        </p:txBody>
      </p:sp>
      <p:sp>
        <p:nvSpPr>
          <p:cNvPr id="19" name="テキスト ボックス 18">
            <a:extLst>
              <a:ext uri="{FF2B5EF4-FFF2-40B4-BE49-F238E27FC236}">
                <a16:creationId xmlns:a16="http://schemas.microsoft.com/office/drawing/2014/main" id="{A85C59EF-3BED-5FFB-76E1-81A4612966FF}"/>
              </a:ext>
            </a:extLst>
          </p:cNvPr>
          <p:cNvSpPr txBox="1"/>
          <p:nvPr/>
        </p:nvSpPr>
        <p:spPr>
          <a:xfrm>
            <a:off x="965200" y="5524500"/>
            <a:ext cx="4724400" cy="368300"/>
          </a:xfrm>
          <a:prstGeom prst="rect">
            <a:avLst/>
          </a:prstGeom>
          <a:noFill/>
        </p:spPr>
        <p:txBody>
          <a:bodyPr vert="horz" wrap="square" lIns="0" tIns="0" rIns="0" bIns="0" rtlCol="0" anchor="t">
            <a:noAutofit/>
          </a:bodyPr>
          <a:lstStyle/>
          <a:p>
            <a:r>
              <a:rPr kumimoji="1" lang="zh-TW" altLang="en-US">
                <a:solidFill>
                  <a:srgbClr val="172D4A"/>
                </a:solidFill>
                <a:latin typeface="BIZ UDPGothic" panose="020B0400000000000000" pitchFamily="50" charset="-128"/>
                <a:ea typeface="BIZ UDPGothic" panose="020B0400000000000000" pitchFamily="50" charset="-128"/>
              </a:rPr>
              <a:t>前年同期比</a:t>
            </a:r>
            <a:r>
              <a:rPr kumimoji="1" lang="en-US" altLang="zh-TW">
                <a:solidFill>
                  <a:srgbClr val="172D4A"/>
                </a:solidFill>
                <a:latin typeface="BIZ UDPGothic" panose="020B0400000000000000" pitchFamily="50" charset="-128"/>
                <a:ea typeface="BIZ UDPGothic" panose="020B0400000000000000" pitchFamily="50" charset="-128"/>
              </a:rPr>
              <a:t>+56.8%</a:t>
            </a:r>
            <a:r>
              <a:rPr kumimoji="1" lang="zh-TW" altLang="en-US">
                <a:solidFill>
                  <a:srgbClr val="172D4A"/>
                </a:solidFill>
                <a:latin typeface="BIZ UDPGothic" panose="020B0400000000000000" pitchFamily="50" charset="-128"/>
                <a:ea typeface="BIZ UDPGothic" panose="020B0400000000000000" pitchFamily="50" charset="-128"/>
              </a:rPr>
              <a:t>（営業外収益増）</a:t>
            </a:r>
            <a:endParaRPr kumimoji="1" lang="ja-JP" altLang="en-US">
              <a:solidFill>
                <a:srgbClr val="172D4A"/>
              </a:solidFill>
              <a:latin typeface="BIZ UDPGothic" panose="020B0400000000000000" pitchFamily="50" charset="-128"/>
              <a:ea typeface="BIZ UDPGothic" panose="020B0400000000000000" pitchFamily="50" charset="-128"/>
            </a:endParaRPr>
          </a:p>
        </p:txBody>
      </p:sp>
      <p:sp>
        <p:nvSpPr>
          <p:cNvPr id="20" name="正方形/長方形 19">
            <a:extLst>
              <a:ext uri="{FF2B5EF4-FFF2-40B4-BE49-F238E27FC236}">
                <a16:creationId xmlns:a16="http://schemas.microsoft.com/office/drawing/2014/main" id="{3FBB0598-2374-45ED-C38E-5D817AEDB504}"/>
              </a:ext>
            </a:extLst>
          </p:cNvPr>
          <p:cNvSpPr/>
          <p:nvPr/>
        </p:nvSpPr>
        <p:spPr>
          <a:xfrm>
            <a:off x="6248400" y="4025900"/>
            <a:ext cx="5232400" cy="1879600"/>
          </a:xfrm>
          <a:prstGeom prst="rect">
            <a:avLst/>
          </a:prstGeom>
          <a:solidFill>
            <a:srgbClr val="F6F2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D6319B39-6CDA-C6AB-2CB3-40DF568E7E0E}"/>
              </a:ext>
            </a:extLst>
          </p:cNvPr>
          <p:cNvSpPr/>
          <p:nvPr/>
        </p:nvSpPr>
        <p:spPr>
          <a:xfrm>
            <a:off x="6248400" y="4025900"/>
            <a:ext cx="38100" cy="1879600"/>
          </a:xfrm>
          <a:prstGeom prst="rect">
            <a:avLst/>
          </a:prstGeom>
          <a:solidFill>
            <a:srgbClr val="86518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B1B0A9F4-DFEC-45D2-7701-6283CF04872E}"/>
              </a:ext>
            </a:extLst>
          </p:cNvPr>
          <p:cNvSpPr txBox="1"/>
          <p:nvPr/>
        </p:nvSpPr>
        <p:spPr>
          <a:xfrm>
            <a:off x="6502400" y="4191000"/>
            <a:ext cx="4724400" cy="457200"/>
          </a:xfrm>
          <a:prstGeom prst="rect">
            <a:avLst/>
          </a:prstGeom>
          <a:noFill/>
        </p:spPr>
        <p:txBody>
          <a:bodyPr vert="horz" wrap="square" lIns="0" tIns="0" rIns="0" bIns="0" rtlCol="0" anchor="t">
            <a:noAutofit/>
          </a:bodyPr>
          <a:lstStyle/>
          <a:p>
            <a:r>
              <a:rPr kumimoji="1" lang="zh-CN" altLang="en-US" sz="2200" b="1">
                <a:solidFill>
                  <a:srgbClr val="86518C"/>
                </a:solidFill>
                <a:latin typeface="BIZ UDPGothic" panose="020B0400000000000000" pitchFamily="50" charset="-128"/>
                <a:ea typeface="BIZ UDPGothic" panose="020B0400000000000000" pitchFamily="50" charset="-128"/>
              </a:rPr>
              <a:t>親会社帰属四半期利益</a:t>
            </a:r>
            <a:endParaRPr kumimoji="1" lang="ja-JP" altLang="en-US" sz="2200" b="1">
              <a:solidFill>
                <a:srgbClr val="86518C"/>
              </a:solidFill>
              <a:latin typeface="BIZ UDPGothic" panose="020B0400000000000000" pitchFamily="50" charset="-128"/>
              <a:ea typeface="BIZ UDPGothic" panose="020B0400000000000000" pitchFamily="50" charset="-128"/>
            </a:endParaRPr>
          </a:p>
        </p:txBody>
      </p:sp>
      <p:sp>
        <p:nvSpPr>
          <p:cNvPr id="23" name="テキスト ボックス 22">
            <a:extLst>
              <a:ext uri="{FF2B5EF4-FFF2-40B4-BE49-F238E27FC236}">
                <a16:creationId xmlns:a16="http://schemas.microsoft.com/office/drawing/2014/main" id="{78A158B6-4915-7F69-3753-0A96CA6BCA23}"/>
              </a:ext>
            </a:extLst>
          </p:cNvPr>
          <p:cNvSpPr txBox="1"/>
          <p:nvPr/>
        </p:nvSpPr>
        <p:spPr>
          <a:xfrm>
            <a:off x="6502400" y="4711700"/>
            <a:ext cx="4724400" cy="736600"/>
          </a:xfrm>
          <a:prstGeom prst="rect">
            <a:avLst/>
          </a:prstGeom>
          <a:noFill/>
        </p:spPr>
        <p:txBody>
          <a:bodyPr vert="horz" wrap="none" lIns="0" tIns="0" rIns="0" bIns="0" rtlCol="0" anchor="t">
            <a:noAutofit/>
          </a:bodyPr>
          <a:lstStyle/>
          <a:p>
            <a:r>
              <a:rPr kumimoji="1" lang="en-US" altLang="ja-JP" sz="4000" b="1">
                <a:solidFill>
                  <a:srgbClr val="86518C"/>
                </a:solidFill>
                <a:latin typeface="Arial" panose="020B0604020202020204" pitchFamily="34" charset="0"/>
                <a:ea typeface="BIZ UDPGothic" panose="020B0400000000000000" pitchFamily="50" charset="-128"/>
              </a:rPr>
              <a:t>1</a:t>
            </a:r>
            <a:r>
              <a:rPr kumimoji="1" lang="ja-JP" altLang="en-US" sz="4000" b="1">
                <a:solidFill>
                  <a:srgbClr val="86518C"/>
                </a:solidFill>
                <a:latin typeface="Arial" panose="020B0604020202020204" pitchFamily="34" charset="0"/>
                <a:ea typeface="BIZ UDPGothic" panose="020B0400000000000000" pitchFamily="50" charset="-128"/>
              </a:rPr>
              <a:t>兆</a:t>
            </a:r>
            <a:r>
              <a:rPr kumimoji="1" lang="en-US" altLang="ja-JP" sz="4000" b="1">
                <a:solidFill>
                  <a:srgbClr val="86518C"/>
                </a:solidFill>
                <a:latin typeface="Arial" panose="020B0604020202020204" pitchFamily="34" charset="0"/>
                <a:ea typeface="BIZ UDPGothic" panose="020B0400000000000000" pitchFamily="50" charset="-128"/>
              </a:rPr>
              <a:t>4,770</a:t>
            </a:r>
            <a:r>
              <a:rPr kumimoji="1" lang="ja-JP" altLang="en-US" sz="4000" b="1">
                <a:solidFill>
                  <a:srgbClr val="86518C"/>
                </a:solidFill>
                <a:latin typeface="Arial" panose="020B0604020202020204" pitchFamily="34" charset="0"/>
                <a:ea typeface="BIZ UDPGothic" panose="020B0400000000000000" pitchFamily="50" charset="-128"/>
              </a:rPr>
              <a:t>億円</a:t>
            </a:r>
          </a:p>
        </p:txBody>
      </p:sp>
      <p:sp>
        <p:nvSpPr>
          <p:cNvPr id="24" name="テキスト ボックス 23">
            <a:extLst>
              <a:ext uri="{FF2B5EF4-FFF2-40B4-BE49-F238E27FC236}">
                <a16:creationId xmlns:a16="http://schemas.microsoft.com/office/drawing/2014/main" id="{6A228A08-D8CF-246A-9814-C73BF7092F07}"/>
              </a:ext>
            </a:extLst>
          </p:cNvPr>
          <p:cNvSpPr txBox="1"/>
          <p:nvPr/>
        </p:nvSpPr>
        <p:spPr>
          <a:xfrm>
            <a:off x="6502400" y="5524500"/>
            <a:ext cx="4724400" cy="368300"/>
          </a:xfrm>
          <a:prstGeom prst="rect">
            <a:avLst/>
          </a:prstGeom>
          <a:noFill/>
        </p:spPr>
        <p:txBody>
          <a:bodyPr vert="horz" wrap="square" lIns="0" tIns="0" rIns="0" bIns="0" rtlCol="0" anchor="t">
            <a:noAutofit/>
          </a:bodyPr>
          <a:lstStyle/>
          <a:p>
            <a:r>
              <a:rPr kumimoji="1" lang="ja-JP" altLang="en-US">
                <a:solidFill>
                  <a:srgbClr val="172D4A"/>
                </a:solidFill>
                <a:latin typeface="BIZ UDPGothic" panose="020B0400000000000000" pitchFamily="50" charset="-128"/>
                <a:ea typeface="BIZ UDPGothic" panose="020B0400000000000000" pitchFamily="50" charset="-128"/>
              </a:rPr>
              <a:t>前年同期比</a:t>
            </a:r>
            <a:r>
              <a:rPr kumimoji="1" lang="en-US" altLang="ja-JP">
                <a:solidFill>
                  <a:srgbClr val="172D4A"/>
                </a:solidFill>
                <a:latin typeface="BIZ UDPGothic" panose="020B0400000000000000" pitchFamily="50" charset="-128"/>
                <a:ea typeface="BIZ UDPGothic" panose="020B0400000000000000" pitchFamily="50" charset="-128"/>
              </a:rPr>
              <a:t>+75.6%</a:t>
            </a:r>
            <a:r>
              <a:rPr kumimoji="1" lang="ja-JP" altLang="en-US">
                <a:solidFill>
                  <a:srgbClr val="172D4A"/>
                </a:solidFill>
                <a:latin typeface="BIZ UDPGothic" panose="020B0400000000000000" pitchFamily="50" charset="-128"/>
                <a:ea typeface="BIZ UDPGothic" panose="020B0400000000000000" pitchFamily="50" charset="-128"/>
              </a:rPr>
              <a:t>、</a:t>
            </a:r>
            <a:r>
              <a:rPr kumimoji="1" lang="en-US" altLang="ja-JP">
                <a:solidFill>
                  <a:srgbClr val="172D4A"/>
                </a:solidFill>
                <a:latin typeface="BIZ UDPGothic" panose="020B0400000000000000" pitchFamily="50" charset="-128"/>
                <a:ea typeface="BIZ UDPGothic" panose="020B0400000000000000" pitchFamily="50" charset="-128"/>
              </a:rPr>
              <a:t>EPS120.69</a:t>
            </a:r>
            <a:r>
              <a:rPr kumimoji="1" lang="ja-JP" altLang="en-US">
                <a:solidFill>
                  <a:srgbClr val="172D4A"/>
                </a:solidFill>
                <a:latin typeface="BIZ UDPGothic" panose="020B0400000000000000" pitchFamily="50" charset="-128"/>
                <a:ea typeface="BIZ UDPGothic" panose="020B0400000000000000" pitchFamily="50" charset="-128"/>
              </a:rPr>
              <a:t>円</a:t>
            </a:r>
          </a:p>
        </p:txBody>
      </p:sp>
      <p:cxnSp>
        <p:nvCxnSpPr>
          <p:cNvPr id="25" name="直線コネクタ 24">
            <a:extLst>
              <a:ext uri="{FF2B5EF4-FFF2-40B4-BE49-F238E27FC236}">
                <a16:creationId xmlns:a16="http://schemas.microsoft.com/office/drawing/2014/main" id="{6C86F34A-CC73-8CCC-AF56-199CBF04A4F6}"/>
              </a:ext>
            </a:extLst>
          </p:cNvPr>
          <p:cNvCxnSpPr/>
          <p:nvPr/>
        </p:nvCxnSpPr>
        <p:spPr>
          <a:xfrm>
            <a:off x="711200" y="62992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26" name="テキスト ボックス 25">
            <a:extLst>
              <a:ext uri="{FF2B5EF4-FFF2-40B4-BE49-F238E27FC236}">
                <a16:creationId xmlns:a16="http://schemas.microsoft.com/office/drawing/2014/main" id="{2E7290B2-0461-A339-F60D-C7F3DA47B85C}"/>
              </a:ext>
            </a:extLst>
          </p:cNvPr>
          <p:cNvSpPr txBox="1"/>
          <p:nvPr/>
        </p:nvSpPr>
        <p:spPr>
          <a:xfrm>
            <a:off x="711200" y="6413500"/>
            <a:ext cx="9829800" cy="279400"/>
          </a:xfrm>
          <a:prstGeom prst="rect">
            <a:avLst/>
          </a:prstGeom>
          <a:noFill/>
        </p:spPr>
        <p:txBody>
          <a:bodyPr vert="horz" wrap="square" lIns="0" tIns="0" rIns="0" bIns="0" rtlCol="0" anchor="t">
            <a:noAutofit/>
          </a:bodyPr>
          <a:lstStyle/>
          <a:p>
            <a:r>
              <a:rPr kumimoji="1" lang="en-US" altLang="ja-JP" sz="1000">
                <a:solidFill>
                  <a:srgbClr val="526277"/>
                </a:solidFill>
                <a:latin typeface="BIZ UDPGothic" panose="020B0400000000000000" pitchFamily="50" charset="-128"/>
                <a:ea typeface="BIZ UDPGothic" panose="020B0400000000000000" pitchFamily="50" charset="-128"/>
              </a:rPr>
              <a:t>2027_1q_summary_jp.pdf p.5 / 2027_1q_summary_jp.pdf p.2</a:t>
            </a:r>
            <a:endParaRPr kumimoji="1" lang="ja-JP" altLang="en-US" sz="1000">
              <a:solidFill>
                <a:srgbClr val="526277"/>
              </a:solidFill>
              <a:latin typeface="BIZ UDPGothic" panose="020B0400000000000000" pitchFamily="50" charset="-128"/>
              <a:ea typeface="BIZ UDPGothic" panose="020B0400000000000000" pitchFamily="50" charset="-128"/>
            </a:endParaRPr>
          </a:p>
        </p:txBody>
      </p:sp>
      <p:sp>
        <p:nvSpPr>
          <p:cNvPr id="27" name="テキスト ボックス 26">
            <a:extLst>
              <a:ext uri="{FF2B5EF4-FFF2-40B4-BE49-F238E27FC236}">
                <a16:creationId xmlns:a16="http://schemas.microsoft.com/office/drawing/2014/main" id="{A0560696-F653-01D9-1DC4-DDDA4C429658}"/>
              </a:ext>
            </a:extLst>
          </p:cNvPr>
          <p:cNvSpPr txBox="1"/>
          <p:nvPr/>
        </p:nvSpPr>
        <p:spPr>
          <a:xfrm>
            <a:off x="10629900" y="6413500"/>
            <a:ext cx="850900" cy="279400"/>
          </a:xfrm>
          <a:prstGeom prst="rect">
            <a:avLst/>
          </a:prstGeom>
          <a:noFill/>
        </p:spPr>
        <p:txBody>
          <a:bodyPr vert="horz" wrap="square" lIns="0" tIns="0" rIns="0" bIns="0" rtlCol="0" anchor="t">
            <a:noAutofit/>
          </a:bodyPr>
          <a:lstStyle/>
          <a:p>
            <a:pPr algn="r"/>
            <a:r>
              <a:rPr kumimoji="1" lang="en-US" altLang="ja-JP" sz="1000">
                <a:solidFill>
                  <a:srgbClr val="526277"/>
                </a:solidFill>
                <a:latin typeface="BIZ UDPGothic" panose="020B0400000000000000" pitchFamily="50" charset="-128"/>
                <a:ea typeface="BIZ UDPGothic" panose="020B0400000000000000" pitchFamily="50" charset="-128"/>
              </a:rPr>
              <a:t>2 / 6</a:t>
            </a:r>
            <a:endParaRPr kumimoji="1" lang="ja-JP" altLang="en-US" sz="1000">
              <a:solidFill>
                <a:srgbClr val="526277"/>
              </a:solidFill>
              <a:latin typeface="BIZ UDPGothic" panose="020B0400000000000000" pitchFamily="50" charset="-128"/>
              <a:ea typeface="BIZ UDPGothic" panose="020B0400000000000000" pitchFamily="50" charset="-128"/>
            </a:endParaRPr>
          </a:p>
        </p:txBody>
      </p:sp>
    </p:spTree>
    <p:extLst>
      <p:ext uri="{BB962C8B-B14F-4D97-AF65-F5344CB8AC3E}">
        <p14:creationId xmlns:p14="http://schemas.microsoft.com/office/powerpoint/2010/main" val="715586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DE_3">
    <p:bg>
      <p:bgPr>
        <a:solidFill>
          <a:srgbClr val="FFFFFF"/>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47EBCC39-86A2-832D-7772-CB22EA64C950}"/>
              </a:ext>
            </a:extLst>
          </p:cNvPr>
          <p:cNvSpPr/>
          <p:nvPr/>
        </p:nvSpPr>
        <p:spPr>
          <a:xfrm>
            <a:off x="0" y="0"/>
            <a:ext cx="12192000" cy="1714500"/>
          </a:xfrm>
          <a:prstGeom prst="rect">
            <a:avLst/>
          </a:prstGeom>
          <a:solidFill>
            <a:srgbClr val="EAF0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9DA2F813-A233-917A-F1C6-7F9F01424B11}"/>
              </a:ext>
            </a:extLst>
          </p:cNvPr>
          <p:cNvSpPr txBox="1"/>
          <p:nvPr/>
        </p:nvSpPr>
        <p:spPr>
          <a:xfrm>
            <a:off x="711200" y="431800"/>
            <a:ext cx="10769600" cy="1219200"/>
          </a:xfrm>
          <a:prstGeom prst="rect">
            <a:avLst/>
          </a:prstGeom>
          <a:noFill/>
        </p:spPr>
        <p:txBody>
          <a:bodyPr vert="horz" wrap="square" lIns="0" tIns="0" rIns="0" bIns="0" rtlCol="0" anchor="t">
            <a:noAutofit/>
          </a:bodyPr>
          <a:lstStyle/>
          <a:p>
            <a:r>
              <a:rPr kumimoji="1" lang="ja-JP" altLang="en-US" sz="3400" b="1">
                <a:solidFill>
                  <a:srgbClr val="172D4A"/>
                </a:solidFill>
                <a:latin typeface="BIZ UDPGothic" panose="020B0400000000000000" pitchFamily="50" charset="-128"/>
                <a:ea typeface="BIZ UDPGothic" panose="020B0400000000000000" pitchFamily="50" charset="-128"/>
              </a:rPr>
              <a:t>営業利益は前年同期比△</a:t>
            </a:r>
            <a:r>
              <a:rPr kumimoji="1" lang="en-US" altLang="ja-JP" sz="3400" b="1">
                <a:solidFill>
                  <a:srgbClr val="172D4A"/>
                </a:solidFill>
                <a:latin typeface="BIZ UDPGothic" panose="020B0400000000000000" pitchFamily="50" charset="-128"/>
                <a:ea typeface="BIZ UDPGothic" panose="020B0400000000000000" pitchFamily="50" charset="-128"/>
              </a:rPr>
              <a:t>1,026</a:t>
            </a:r>
            <a:r>
              <a:rPr kumimoji="1" lang="ja-JP" altLang="en-US" sz="3400" b="1">
                <a:solidFill>
                  <a:srgbClr val="172D4A"/>
                </a:solidFill>
                <a:latin typeface="BIZ UDPGothic" panose="020B0400000000000000" pitchFamily="50" charset="-128"/>
                <a:ea typeface="BIZ UDPGothic" panose="020B0400000000000000" pitchFamily="50" charset="-128"/>
              </a:rPr>
              <a:t>億円（△</a:t>
            </a:r>
            <a:r>
              <a:rPr kumimoji="1" lang="en-US" altLang="ja-JP" sz="3400" b="1">
                <a:solidFill>
                  <a:srgbClr val="172D4A"/>
                </a:solidFill>
                <a:latin typeface="BIZ UDPGothic" panose="020B0400000000000000" pitchFamily="50" charset="-128"/>
                <a:ea typeface="BIZ UDPGothic" panose="020B0400000000000000" pitchFamily="50" charset="-128"/>
              </a:rPr>
              <a:t>8.8%</a:t>
            </a:r>
            <a:r>
              <a:rPr kumimoji="1" lang="ja-JP" altLang="en-US" sz="3400" b="1">
                <a:solidFill>
                  <a:srgbClr val="172D4A"/>
                </a:solidFill>
                <a:latin typeface="BIZ UDPGothic" panose="020B0400000000000000" pitchFamily="50" charset="-128"/>
                <a:ea typeface="BIZ UDPGothic" panose="020B0400000000000000" pitchFamily="50" charset="-128"/>
              </a:rPr>
              <a:t>）</a:t>
            </a:r>
          </a:p>
        </p:txBody>
      </p:sp>
      <p:cxnSp>
        <p:nvCxnSpPr>
          <p:cNvPr id="4" name="直線コネクタ 3">
            <a:extLst>
              <a:ext uri="{FF2B5EF4-FFF2-40B4-BE49-F238E27FC236}">
                <a16:creationId xmlns:a16="http://schemas.microsoft.com/office/drawing/2014/main" id="{B4095ACE-707A-EF6C-1268-7D984809D464}"/>
              </a:ext>
            </a:extLst>
          </p:cNvPr>
          <p:cNvCxnSpPr/>
          <p:nvPr/>
        </p:nvCxnSpPr>
        <p:spPr>
          <a:xfrm>
            <a:off x="711200" y="17653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F12C4C2F-039B-298A-04C4-981CDF2F11AE}"/>
              </a:ext>
            </a:extLst>
          </p:cNvPr>
          <p:cNvSpPr/>
          <p:nvPr/>
        </p:nvSpPr>
        <p:spPr>
          <a:xfrm>
            <a:off x="711200" y="2019300"/>
            <a:ext cx="10769600" cy="876300"/>
          </a:xfrm>
          <a:prstGeom prst="rect">
            <a:avLst/>
          </a:prstGeom>
          <a:solidFill>
            <a:srgbClr val="FFFFFF"/>
          </a:solidFill>
          <a:ln w="12700">
            <a:solidFill>
              <a:srgbClr val="245D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B8563A43-2F82-BB3D-F19D-D3FC715BA987}"/>
              </a:ext>
            </a:extLst>
          </p:cNvPr>
          <p:cNvSpPr/>
          <p:nvPr/>
        </p:nvSpPr>
        <p:spPr>
          <a:xfrm>
            <a:off x="711200" y="2019300"/>
            <a:ext cx="38100" cy="876300"/>
          </a:xfrm>
          <a:prstGeom prst="rect">
            <a:avLst/>
          </a:prstGeom>
          <a:solidFill>
            <a:srgbClr val="245D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CAC0AA52-5E4F-6C64-E3D8-CFF14C4D687C}"/>
              </a:ext>
            </a:extLst>
          </p:cNvPr>
          <p:cNvSpPr/>
          <p:nvPr/>
        </p:nvSpPr>
        <p:spPr>
          <a:xfrm>
            <a:off x="1009650" y="2235200"/>
            <a:ext cx="444500" cy="444500"/>
          </a:xfrm>
          <a:prstGeom prst="ellipse">
            <a:avLst/>
          </a:prstGeom>
          <a:noFill/>
          <a:ln w="31115" cap="flat" cmpd="sng" algn="ctr">
            <a:solidFill>
              <a:srgbClr val="245DA8"/>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74220F88-C96F-0CE3-6256-7D8F982C85BB}"/>
              </a:ext>
            </a:extLst>
          </p:cNvPr>
          <p:cNvSpPr/>
          <p:nvPr/>
        </p:nvSpPr>
        <p:spPr>
          <a:xfrm>
            <a:off x="1120775" y="2235200"/>
            <a:ext cx="222250" cy="444500"/>
          </a:xfrm>
          <a:prstGeom prst="ellipse">
            <a:avLst/>
          </a:prstGeom>
          <a:noFill/>
          <a:ln w="31115" cap="flat" cmpd="sng" algn="ctr">
            <a:solidFill>
              <a:srgbClr val="245DA8"/>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コネクタ 8">
            <a:extLst>
              <a:ext uri="{FF2B5EF4-FFF2-40B4-BE49-F238E27FC236}">
                <a16:creationId xmlns:a16="http://schemas.microsoft.com/office/drawing/2014/main" id="{E8D994A5-7165-6DFD-B7A8-ACC7C58DF702}"/>
              </a:ext>
            </a:extLst>
          </p:cNvPr>
          <p:cNvCxnSpPr/>
          <p:nvPr/>
        </p:nvCxnSpPr>
        <p:spPr>
          <a:xfrm>
            <a:off x="1009650" y="2457450"/>
            <a:ext cx="444500" cy="0"/>
          </a:xfrm>
          <a:prstGeom prst="line">
            <a:avLst/>
          </a:prstGeom>
          <a:ln w="31115">
            <a:solidFill>
              <a:srgbClr val="245DA8"/>
            </a:solidFill>
          </a:ln>
        </p:spPr>
        <p:style>
          <a:lnRef idx="2">
            <a:schemeClr val="accent1"/>
          </a:lnRef>
          <a:fillRef idx="0">
            <a:schemeClr val="accent1"/>
          </a:fillRef>
          <a:effectRef idx="1">
            <a:schemeClr val="accent1"/>
          </a:effectRef>
          <a:fontRef idx="minor">
            <a:schemeClr val="tx1"/>
          </a:fontRef>
        </p:style>
      </p:cxnSp>
      <p:sp>
        <p:nvSpPr>
          <p:cNvPr id="10" name="テキスト ボックス 9">
            <a:extLst>
              <a:ext uri="{FF2B5EF4-FFF2-40B4-BE49-F238E27FC236}">
                <a16:creationId xmlns:a16="http://schemas.microsoft.com/office/drawing/2014/main" id="{6C5CF3AD-FFCD-BCB7-FBAB-D44D6AEFA19E}"/>
              </a:ext>
            </a:extLst>
          </p:cNvPr>
          <p:cNvSpPr txBox="1"/>
          <p:nvPr/>
        </p:nvSpPr>
        <p:spPr>
          <a:xfrm>
            <a:off x="1752600" y="2146300"/>
            <a:ext cx="3454400" cy="622300"/>
          </a:xfrm>
          <a:prstGeom prst="rect">
            <a:avLst/>
          </a:prstGeom>
          <a:noFill/>
        </p:spPr>
        <p:txBody>
          <a:bodyPr vert="horz" wrap="square" lIns="0" tIns="0" rIns="0" bIns="0" rtlCol="0" anchor="t">
            <a:noAutofit/>
          </a:bodyPr>
          <a:lstStyle/>
          <a:p>
            <a:r>
              <a:rPr kumimoji="1" lang="ja-JP" altLang="en-US" sz="2400" b="1">
                <a:solidFill>
                  <a:srgbClr val="245DA8"/>
                </a:solidFill>
                <a:latin typeface="BIZ UDPGothic" panose="020B0400000000000000" pitchFamily="50" charset="-128"/>
                <a:ea typeface="BIZ UDPGothic" panose="020B0400000000000000" pitchFamily="50" charset="-128"/>
              </a:rPr>
              <a:t>為替変動の影響</a:t>
            </a:r>
          </a:p>
        </p:txBody>
      </p:sp>
      <p:sp>
        <p:nvSpPr>
          <p:cNvPr id="11" name="テキスト ボックス 10">
            <a:extLst>
              <a:ext uri="{FF2B5EF4-FFF2-40B4-BE49-F238E27FC236}">
                <a16:creationId xmlns:a16="http://schemas.microsoft.com/office/drawing/2014/main" id="{1EB8FE4D-B962-4BD9-AE06-2B54F0A12AB8}"/>
              </a:ext>
            </a:extLst>
          </p:cNvPr>
          <p:cNvSpPr txBox="1"/>
          <p:nvPr/>
        </p:nvSpPr>
        <p:spPr>
          <a:xfrm>
            <a:off x="5562600" y="2159000"/>
            <a:ext cx="5638800" cy="609600"/>
          </a:xfrm>
          <a:prstGeom prst="rect">
            <a:avLst/>
          </a:prstGeom>
          <a:noFill/>
        </p:spPr>
        <p:txBody>
          <a:bodyPr vert="horz" wrap="square" lIns="0" tIns="0" rIns="0" bIns="0" rtlCol="0" anchor="t">
            <a:noAutofit/>
          </a:bodyPr>
          <a:lstStyle/>
          <a:p>
            <a:r>
              <a:rPr kumimoji="1" lang="en-US" altLang="ja-JP">
                <a:solidFill>
                  <a:srgbClr val="172D4A"/>
                </a:solidFill>
                <a:latin typeface="BIZ UDPGothic" panose="020B0400000000000000" pitchFamily="50" charset="-128"/>
                <a:ea typeface="BIZ UDPGothic" panose="020B0400000000000000" pitchFamily="50" charset="-128"/>
              </a:rPr>
              <a:t>+3,450</a:t>
            </a:r>
            <a:r>
              <a:rPr kumimoji="1" lang="ja-JP" altLang="en-US">
                <a:solidFill>
                  <a:srgbClr val="172D4A"/>
                </a:solidFill>
                <a:latin typeface="BIZ UDPGothic" panose="020B0400000000000000" pitchFamily="50" charset="-128"/>
                <a:ea typeface="BIZ UDPGothic" panose="020B0400000000000000" pitchFamily="50" charset="-128"/>
              </a:rPr>
              <a:t>億円（押し上げ）</a:t>
            </a:r>
          </a:p>
        </p:txBody>
      </p:sp>
      <p:sp>
        <p:nvSpPr>
          <p:cNvPr id="12" name="正方形/長方形 11">
            <a:extLst>
              <a:ext uri="{FF2B5EF4-FFF2-40B4-BE49-F238E27FC236}">
                <a16:creationId xmlns:a16="http://schemas.microsoft.com/office/drawing/2014/main" id="{45EC5C1F-72B1-9A00-AA6C-A35A96C8C4BF}"/>
              </a:ext>
            </a:extLst>
          </p:cNvPr>
          <p:cNvSpPr/>
          <p:nvPr/>
        </p:nvSpPr>
        <p:spPr>
          <a:xfrm>
            <a:off x="711200" y="3022600"/>
            <a:ext cx="10769600" cy="876300"/>
          </a:xfrm>
          <a:prstGeom prst="rect">
            <a:avLst/>
          </a:prstGeom>
          <a:solidFill>
            <a:srgbClr val="FFFFFF"/>
          </a:solidFill>
          <a:ln w="12700">
            <a:solidFill>
              <a:srgbClr val="087A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E1C7BE65-7F69-8A51-3926-DBB231C31E11}"/>
              </a:ext>
            </a:extLst>
          </p:cNvPr>
          <p:cNvSpPr/>
          <p:nvPr/>
        </p:nvSpPr>
        <p:spPr>
          <a:xfrm>
            <a:off x="711200" y="3022600"/>
            <a:ext cx="38100" cy="876300"/>
          </a:xfrm>
          <a:prstGeom prst="rect">
            <a:avLst/>
          </a:prstGeom>
          <a:solidFill>
            <a:srgbClr val="087A7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53CBCE0A-0C89-96F9-135A-14F6BD38D3E9}"/>
              </a:ext>
            </a:extLst>
          </p:cNvPr>
          <p:cNvSpPr txBox="1"/>
          <p:nvPr/>
        </p:nvSpPr>
        <p:spPr>
          <a:xfrm>
            <a:off x="1752600" y="3149600"/>
            <a:ext cx="3454400" cy="622300"/>
          </a:xfrm>
          <a:prstGeom prst="rect">
            <a:avLst/>
          </a:prstGeom>
          <a:noFill/>
        </p:spPr>
        <p:txBody>
          <a:bodyPr vert="horz" wrap="square" lIns="0" tIns="0" rIns="0" bIns="0" rtlCol="0" anchor="t">
            <a:noAutofit/>
          </a:bodyPr>
          <a:lstStyle/>
          <a:p>
            <a:r>
              <a:rPr kumimoji="1" lang="ja-JP" altLang="en-US" sz="2400" b="1">
                <a:solidFill>
                  <a:srgbClr val="087A72"/>
                </a:solidFill>
                <a:latin typeface="BIZ UDPGothic" panose="020B0400000000000000" pitchFamily="50" charset="-128"/>
                <a:ea typeface="BIZ UDPGothic" panose="020B0400000000000000" pitchFamily="50" charset="-128"/>
              </a:rPr>
              <a:t>諸経費増減・低減努力</a:t>
            </a:r>
          </a:p>
        </p:txBody>
      </p:sp>
      <p:sp>
        <p:nvSpPr>
          <p:cNvPr id="15" name="テキスト ボックス 14">
            <a:extLst>
              <a:ext uri="{FF2B5EF4-FFF2-40B4-BE49-F238E27FC236}">
                <a16:creationId xmlns:a16="http://schemas.microsoft.com/office/drawing/2014/main" id="{687D461E-1B27-D422-184E-ACF4A26A84E0}"/>
              </a:ext>
            </a:extLst>
          </p:cNvPr>
          <p:cNvSpPr txBox="1"/>
          <p:nvPr/>
        </p:nvSpPr>
        <p:spPr>
          <a:xfrm>
            <a:off x="5562600" y="3162300"/>
            <a:ext cx="5638800" cy="609600"/>
          </a:xfrm>
          <a:prstGeom prst="rect">
            <a:avLst/>
          </a:prstGeom>
          <a:noFill/>
        </p:spPr>
        <p:txBody>
          <a:bodyPr vert="horz" wrap="square" lIns="0" tIns="0" rIns="0" bIns="0" rtlCol="0" anchor="t">
            <a:noAutofit/>
          </a:bodyPr>
          <a:lstStyle/>
          <a:p>
            <a:r>
              <a:rPr kumimoji="1" lang="ja-JP" altLang="en-US">
                <a:solidFill>
                  <a:srgbClr val="172D4A"/>
                </a:solidFill>
                <a:latin typeface="BIZ UDPGothic" panose="020B0400000000000000" pitchFamily="50" charset="-128"/>
                <a:ea typeface="BIZ UDPGothic" panose="020B0400000000000000" pitchFamily="50" charset="-128"/>
              </a:rPr>
              <a:t>△</a:t>
            </a:r>
            <a:r>
              <a:rPr kumimoji="1" lang="en-US" altLang="ja-JP">
                <a:solidFill>
                  <a:srgbClr val="172D4A"/>
                </a:solidFill>
                <a:latin typeface="BIZ UDPGothic" panose="020B0400000000000000" pitchFamily="50" charset="-128"/>
                <a:ea typeface="BIZ UDPGothic" panose="020B0400000000000000" pitchFamily="50" charset="-128"/>
              </a:rPr>
              <a:t>1,900</a:t>
            </a:r>
            <a:r>
              <a:rPr kumimoji="1" lang="ja-JP" altLang="en-US">
                <a:solidFill>
                  <a:srgbClr val="172D4A"/>
                </a:solidFill>
                <a:latin typeface="BIZ UDPGothic" panose="020B0400000000000000" pitchFamily="50" charset="-128"/>
                <a:ea typeface="BIZ UDPGothic" panose="020B0400000000000000" pitchFamily="50" charset="-128"/>
              </a:rPr>
              <a:t>億円（押し下げ）</a:t>
            </a:r>
          </a:p>
        </p:txBody>
      </p:sp>
      <p:sp>
        <p:nvSpPr>
          <p:cNvPr id="16" name="正方形/長方形 15">
            <a:extLst>
              <a:ext uri="{FF2B5EF4-FFF2-40B4-BE49-F238E27FC236}">
                <a16:creationId xmlns:a16="http://schemas.microsoft.com/office/drawing/2014/main" id="{2C602942-A94B-E6F1-FEC4-5B0CF6A085C4}"/>
              </a:ext>
            </a:extLst>
          </p:cNvPr>
          <p:cNvSpPr/>
          <p:nvPr/>
        </p:nvSpPr>
        <p:spPr>
          <a:xfrm>
            <a:off x="711200" y="4025900"/>
            <a:ext cx="10769600" cy="876300"/>
          </a:xfrm>
          <a:prstGeom prst="rect">
            <a:avLst/>
          </a:prstGeom>
          <a:solidFill>
            <a:srgbClr val="FFFFFF"/>
          </a:solidFill>
          <a:ln w="12700">
            <a:solidFill>
              <a:srgbClr val="945F1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EB94E5B0-5C8C-6C80-900F-C2AE4D7F4ED5}"/>
              </a:ext>
            </a:extLst>
          </p:cNvPr>
          <p:cNvSpPr/>
          <p:nvPr/>
        </p:nvSpPr>
        <p:spPr>
          <a:xfrm>
            <a:off x="711200" y="4025900"/>
            <a:ext cx="38100" cy="876300"/>
          </a:xfrm>
          <a:prstGeom prst="rect">
            <a:avLst/>
          </a:prstGeom>
          <a:solidFill>
            <a:srgbClr val="945F1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F78FCF5A-61FD-4EB8-3A5C-CAC4F79326DB}"/>
              </a:ext>
            </a:extLst>
          </p:cNvPr>
          <p:cNvSpPr txBox="1"/>
          <p:nvPr/>
        </p:nvSpPr>
        <p:spPr>
          <a:xfrm>
            <a:off x="1752600" y="4152900"/>
            <a:ext cx="3454400" cy="622300"/>
          </a:xfrm>
          <a:prstGeom prst="rect">
            <a:avLst/>
          </a:prstGeom>
          <a:noFill/>
        </p:spPr>
        <p:txBody>
          <a:bodyPr vert="horz" wrap="square" lIns="0" tIns="0" rIns="0" bIns="0" rtlCol="0" anchor="t">
            <a:noAutofit/>
          </a:bodyPr>
          <a:lstStyle/>
          <a:p>
            <a:r>
              <a:rPr kumimoji="1" lang="ja-JP" altLang="en-US" sz="2400" b="1">
                <a:solidFill>
                  <a:srgbClr val="945F1D"/>
                </a:solidFill>
                <a:latin typeface="BIZ UDPGothic" panose="020B0400000000000000" pitchFamily="50" charset="-128"/>
                <a:ea typeface="BIZ UDPGothic" panose="020B0400000000000000" pitchFamily="50" charset="-128"/>
              </a:rPr>
              <a:t>その他</a:t>
            </a:r>
          </a:p>
        </p:txBody>
      </p:sp>
      <p:sp>
        <p:nvSpPr>
          <p:cNvPr id="19" name="テキスト ボックス 18">
            <a:extLst>
              <a:ext uri="{FF2B5EF4-FFF2-40B4-BE49-F238E27FC236}">
                <a16:creationId xmlns:a16="http://schemas.microsoft.com/office/drawing/2014/main" id="{4978CDF8-82AE-6DB6-4913-CDB233F5A1A5}"/>
              </a:ext>
            </a:extLst>
          </p:cNvPr>
          <p:cNvSpPr txBox="1"/>
          <p:nvPr/>
        </p:nvSpPr>
        <p:spPr>
          <a:xfrm>
            <a:off x="5562600" y="4165600"/>
            <a:ext cx="5638800" cy="609600"/>
          </a:xfrm>
          <a:prstGeom prst="rect">
            <a:avLst/>
          </a:prstGeom>
          <a:noFill/>
        </p:spPr>
        <p:txBody>
          <a:bodyPr vert="horz" wrap="square" lIns="0" tIns="0" rIns="0" bIns="0" rtlCol="0" anchor="t">
            <a:noAutofit/>
          </a:bodyPr>
          <a:lstStyle/>
          <a:p>
            <a:r>
              <a:rPr kumimoji="1" lang="ja-JP" altLang="en-US">
                <a:solidFill>
                  <a:srgbClr val="172D4A"/>
                </a:solidFill>
                <a:latin typeface="BIZ UDPGothic" panose="020B0400000000000000" pitchFamily="50" charset="-128"/>
                <a:ea typeface="BIZ UDPGothic" panose="020B0400000000000000" pitchFamily="50" charset="-128"/>
              </a:rPr>
              <a:t>△</a:t>
            </a:r>
            <a:r>
              <a:rPr kumimoji="1" lang="en-US" altLang="ja-JP">
                <a:solidFill>
                  <a:srgbClr val="172D4A"/>
                </a:solidFill>
                <a:latin typeface="BIZ UDPGothic" panose="020B0400000000000000" pitchFamily="50" charset="-128"/>
                <a:ea typeface="BIZ UDPGothic" panose="020B0400000000000000" pitchFamily="50" charset="-128"/>
              </a:rPr>
              <a:t>2,426</a:t>
            </a:r>
            <a:r>
              <a:rPr kumimoji="1" lang="ja-JP" altLang="en-US">
                <a:solidFill>
                  <a:srgbClr val="172D4A"/>
                </a:solidFill>
                <a:latin typeface="BIZ UDPGothic" panose="020B0400000000000000" pitchFamily="50" charset="-128"/>
                <a:ea typeface="BIZ UDPGothic" panose="020B0400000000000000" pitchFamily="50" charset="-128"/>
              </a:rPr>
              <a:t>億円（押し下げ）</a:t>
            </a:r>
          </a:p>
        </p:txBody>
      </p:sp>
      <p:sp>
        <p:nvSpPr>
          <p:cNvPr id="20" name="正方形/長方形 19">
            <a:extLst>
              <a:ext uri="{FF2B5EF4-FFF2-40B4-BE49-F238E27FC236}">
                <a16:creationId xmlns:a16="http://schemas.microsoft.com/office/drawing/2014/main" id="{6B846273-E190-07D3-2645-0CCF2E33EEBA}"/>
              </a:ext>
            </a:extLst>
          </p:cNvPr>
          <p:cNvSpPr/>
          <p:nvPr/>
        </p:nvSpPr>
        <p:spPr>
          <a:xfrm>
            <a:off x="711200" y="5029200"/>
            <a:ext cx="10769600" cy="876300"/>
          </a:xfrm>
          <a:prstGeom prst="rect">
            <a:avLst/>
          </a:prstGeom>
          <a:solidFill>
            <a:srgbClr val="FFFFFF"/>
          </a:solidFill>
          <a:ln w="12700">
            <a:solidFill>
              <a:srgbClr val="8651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890B8551-39FB-75F7-F0D0-926385D9E5BD}"/>
              </a:ext>
            </a:extLst>
          </p:cNvPr>
          <p:cNvSpPr/>
          <p:nvPr/>
        </p:nvSpPr>
        <p:spPr>
          <a:xfrm>
            <a:off x="711200" y="5029200"/>
            <a:ext cx="38100" cy="876300"/>
          </a:xfrm>
          <a:prstGeom prst="rect">
            <a:avLst/>
          </a:prstGeom>
          <a:solidFill>
            <a:srgbClr val="86518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楕円 21">
            <a:extLst>
              <a:ext uri="{FF2B5EF4-FFF2-40B4-BE49-F238E27FC236}">
                <a16:creationId xmlns:a16="http://schemas.microsoft.com/office/drawing/2014/main" id="{CAE00ADD-3B53-22A9-D7B8-9FD00FE9B2CE}"/>
              </a:ext>
            </a:extLst>
          </p:cNvPr>
          <p:cNvSpPr/>
          <p:nvPr/>
        </p:nvSpPr>
        <p:spPr>
          <a:xfrm>
            <a:off x="1031875" y="5334000"/>
            <a:ext cx="400050" cy="155575"/>
          </a:xfrm>
          <a:prstGeom prst="ellipse">
            <a:avLst/>
          </a:prstGeom>
          <a:noFill/>
          <a:ln w="31115" cap="flat" cmpd="sng" algn="ctr">
            <a:solidFill>
              <a:srgbClr val="86518C"/>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楕円 22">
            <a:extLst>
              <a:ext uri="{FF2B5EF4-FFF2-40B4-BE49-F238E27FC236}">
                <a16:creationId xmlns:a16="http://schemas.microsoft.com/office/drawing/2014/main" id="{09887336-6490-D5AC-95DF-EE1FC275D791}"/>
              </a:ext>
            </a:extLst>
          </p:cNvPr>
          <p:cNvSpPr/>
          <p:nvPr/>
        </p:nvSpPr>
        <p:spPr>
          <a:xfrm>
            <a:off x="1031875" y="5422900"/>
            <a:ext cx="400050" cy="155575"/>
          </a:xfrm>
          <a:prstGeom prst="ellipse">
            <a:avLst/>
          </a:prstGeom>
          <a:noFill/>
          <a:ln w="31115" cap="flat" cmpd="sng" algn="ctr">
            <a:solidFill>
              <a:srgbClr val="86518C"/>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楕円 23">
            <a:extLst>
              <a:ext uri="{FF2B5EF4-FFF2-40B4-BE49-F238E27FC236}">
                <a16:creationId xmlns:a16="http://schemas.microsoft.com/office/drawing/2014/main" id="{80855486-F430-D7FE-5FD0-AE25D1C1758F}"/>
              </a:ext>
            </a:extLst>
          </p:cNvPr>
          <p:cNvSpPr/>
          <p:nvPr/>
        </p:nvSpPr>
        <p:spPr>
          <a:xfrm>
            <a:off x="1031875" y="5511800"/>
            <a:ext cx="400050" cy="155575"/>
          </a:xfrm>
          <a:prstGeom prst="ellipse">
            <a:avLst/>
          </a:prstGeom>
          <a:noFill/>
          <a:ln w="31115" cap="flat" cmpd="sng" algn="ctr">
            <a:solidFill>
              <a:srgbClr val="86518C"/>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21C830AB-F3F7-C2A4-210F-0EC98C1767AA}"/>
              </a:ext>
            </a:extLst>
          </p:cNvPr>
          <p:cNvSpPr txBox="1"/>
          <p:nvPr/>
        </p:nvSpPr>
        <p:spPr>
          <a:xfrm>
            <a:off x="1752600" y="5156200"/>
            <a:ext cx="3454400" cy="622300"/>
          </a:xfrm>
          <a:prstGeom prst="rect">
            <a:avLst/>
          </a:prstGeom>
          <a:noFill/>
        </p:spPr>
        <p:txBody>
          <a:bodyPr vert="horz" wrap="square" lIns="0" tIns="0" rIns="0" bIns="0" rtlCol="0" anchor="t">
            <a:noAutofit/>
          </a:bodyPr>
          <a:lstStyle/>
          <a:p>
            <a:r>
              <a:rPr kumimoji="1" lang="ja-JP" altLang="en-US" sz="2400" b="1">
                <a:solidFill>
                  <a:srgbClr val="86518C"/>
                </a:solidFill>
                <a:latin typeface="BIZ UDPGothic" panose="020B0400000000000000" pitchFamily="50" charset="-128"/>
                <a:ea typeface="BIZ UDPGothic" panose="020B0400000000000000" pitchFamily="50" charset="-128"/>
              </a:rPr>
              <a:t>原価改善の努力</a:t>
            </a:r>
          </a:p>
        </p:txBody>
      </p:sp>
      <p:sp>
        <p:nvSpPr>
          <p:cNvPr id="26" name="テキスト ボックス 25">
            <a:extLst>
              <a:ext uri="{FF2B5EF4-FFF2-40B4-BE49-F238E27FC236}">
                <a16:creationId xmlns:a16="http://schemas.microsoft.com/office/drawing/2014/main" id="{B0CE2A72-EEA6-5FCF-5B57-746C75F6AB64}"/>
              </a:ext>
            </a:extLst>
          </p:cNvPr>
          <p:cNvSpPr txBox="1"/>
          <p:nvPr/>
        </p:nvSpPr>
        <p:spPr>
          <a:xfrm>
            <a:off x="5562600" y="5168900"/>
            <a:ext cx="5638800" cy="609600"/>
          </a:xfrm>
          <a:prstGeom prst="rect">
            <a:avLst/>
          </a:prstGeom>
          <a:noFill/>
        </p:spPr>
        <p:txBody>
          <a:bodyPr vert="horz" wrap="square" lIns="0" tIns="0" rIns="0" bIns="0" rtlCol="0" anchor="t">
            <a:noAutofit/>
          </a:bodyPr>
          <a:lstStyle/>
          <a:p>
            <a:r>
              <a:rPr kumimoji="1" lang="ja-JP" altLang="en-US">
                <a:solidFill>
                  <a:srgbClr val="172D4A"/>
                </a:solidFill>
                <a:latin typeface="BIZ UDPGothic" panose="020B0400000000000000" pitchFamily="50" charset="-128"/>
                <a:ea typeface="BIZ UDPGothic" panose="020B0400000000000000" pitchFamily="50" charset="-128"/>
              </a:rPr>
              <a:t>△</a:t>
            </a:r>
            <a:r>
              <a:rPr kumimoji="1" lang="en-US" altLang="ja-JP">
                <a:solidFill>
                  <a:srgbClr val="172D4A"/>
                </a:solidFill>
                <a:latin typeface="BIZ UDPGothic" panose="020B0400000000000000" pitchFamily="50" charset="-128"/>
                <a:ea typeface="BIZ UDPGothic" panose="020B0400000000000000" pitchFamily="50" charset="-128"/>
              </a:rPr>
              <a:t>850</a:t>
            </a:r>
            <a:r>
              <a:rPr kumimoji="1" lang="ja-JP" altLang="en-US">
                <a:solidFill>
                  <a:srgbClr val="172D4A"/>
                </a:solidFill>
                <a:latin typeface="BIZ UDPGothic" panose="020B0400000000000000" pitchFamily="50" charset="-128"/>
                <a:ea typeface="BIZ UDPGothic" panose="020B0400000000000000" pitchFamily="50" charset="-128"/>
              </a:rPr>
              <a:t>億円（押し下げ）</a:t>
            </a:r>
          </a:p>
        </p:txBody>
      </p:sp>
      <p:cxnSp>
        <p:nvCxnSpPr>
          <p:cNvPr id="27" name="直線コネクタ 26">
            <a:extLst>
              <a:ext uri="{FF2B5EF4-FFF2-40B4-BE49-F238E27FC236}">
                <a16:creationId xmlns:a16="http://schemas.microsoft.com/office/drawing/2014/main" id="{EA4AE2A0-55E8-F76D-91A9-5185CFAF788E}"/>
              </a:ext>
            </a:extLst>
          </p:cNvPr>
          <p:cNvCxnSpPr/>
          <p:nvPr/>
        </p:nvCxnSpPr>
        <p:spPr>
          <a:xfrm>
            <a:off x="711200" y="62992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28" name="テキスト ボックス 27">
            <a:extLst>
              <a:ext uri="{FF2B5EF4-FFF2-40B4-BE49-F238E27FC236}">
                <a16:creationId xmlns:a16="http://schemas.microsoft.com/office/drawing/2014/main" id="{D5CE4E4B-ED31-2D2A-CBFD-78B916EFDDA4}"/>
              </a:ext>
            </a:extLst>
          </p:cNvPr>
          <p:cNvSpPr txBox="1"/>
          <p:nvPr/>
        </p:nvSpPr>
        <p:spPr>
          <a:xfrm>
            <a:off x="711200" y="6413500"/>
            <a:ext cx="9829800" cy="279400"/>
          </a:xfrm>
          <a:prstGeom prst="rect">
            <a:avLst/>
          </a:prstGeom>
          <a:noFill/>
        </p:spPr>
        <p:txBody>
          <a:bodyPr vert="horz" wrap="square" lIns="0" tIns="0" rIns="0" bIns="0" rtlCol="0" anchor="t">
            <a:noAutofit/>
          </a:bodyPr>
          <a:lstStyle/>
          <a:p>
            <a:r>
              <a:rPr kumimoji="1" lang="en-US" altLang="ja-JP" sz="1000">
                <a:solidFill>
                  <a:srgbClr val="526277"/>
                </a:solidFill>
                <a:latin typeface="BIZ UDPGothic" panose="020B0400000000000000" pitchFamily="50" charset="-128"/>
                <a:ea typeface="BIZ UDPGothic" panose="020B0400000000000000" pitchFamily="50" charset="-128"/>
              </a:rPr>
              <a:t>2027_1q_summary_jp.pdf p.5 / 2027_1q_summary_jp.pdf p.19</a:t>
            </a:r>
            <a:endParaRPr kumimoji="1" lang="ja-JP" altLang="en-US" sz="1000">
              <a:solidFill>
                <a:srgbClr val="526277"/>
              </a:solidFill>
              <a:latin typeface="BIZ UDPGothic" panose="020B0400000000000000" pitchFamily="50" charset="-128"/>
              <a:ea typeface="BIZ UDPGothic" panose="020B0400000000000000" pitchFamily="50" charset="-128"/>
            </a:endParaRPr>
          </a:p>
        </p:txBody>
      </p:sp>
      <p:sp>
        <p:nvSpPr>
          <p:cNvPr id="29" name="テキスト ボックス 28">
            <a:extLst>
              <a:ext uri="{FF2B5EF4-FFF2-40B4-BE49-F238E27FC236}">
                <a16:creationId xmlns:a16="http://schemas.microsoft.com/office/drawing/2014/main" id="{05E445C1-A581-CF75-F603-D54962A2EA81}"/>
              </a:ext>
            </a:extLst>
          </p:cNvPr>
          <p:cNvSpPr txBox="1"/>
          <p:nvPr/>
        </p:nvSpPr>
        <p:spPr>
          <a:xfrm>
            <a:off x="10629900" y="6413500"/>
            <a:ext cx="850900" cy="279400"/>
          </a:xfrm>
          <a:prstGeom prst="rect">
            <a:avLst/>
          </a:prstGeom>
          <a:noFill/>
        </p:spPr>
        <p:txBody>
          <a:bodyPr vert="horz" wrap="square" lIns="0" tIns="0" rIns="0" bIns="0" rtlCol="0" anchor="t">
            <a:noAutofit/>
          </a:bodyPr>
          <a:lstStyle/>
          <a:p>
            <a:pPr algn="r"/>
            <a:r>
              <a:rPr kumimoji="1" lang="en-US" altLang="ja-JP" sz="1000">
                <a:solidFill>
                  <a:srgbClr val="526277"/>
                </a:solidFill>
                <a:latin typeface="BIZ UDPGothic" panose="020B0400000000000000" pitchFamily="50" charset="-128"/>
                <a:ea typeface="BIZ UDPGothic" panose="020B0400000000000000" pitchFamily="50" charset="-128"/>
              </a:rPr>
              <a:t>3 / 6</a:t>
            </a:r>
            <a:endParaRPr kumimoji="1" lang="ja-JP" altLang="en-US" sz="1000">
              <a:solidFill>
                <a:srgbClr val="526277"/>
              </a:solidFill>
              <a:latin typeface="BIZ UDPGothic" panose="020B0400000000000000" pitchFamily="50" charset="-128"/>
              <a:ea typeface="BIZ UDPGothic" panose="020B0400000000000000" pitchFamily="50" charset="-128"/>
            </a:endParaRPr>
          </a:p>
        </p:txBody>
      </p:sp>
    </p:spTree>
    <p:extLst>
      <p:ext uri="{BB962C8B-B14F-4D97-AF65-F5344CB8AC3E}">
        <p14:creationId xmlns:p14="http://schemas.microsoft.com/office/powerpoint/2010/main" val="3655448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DE_4">
    <p:bg>
      <p:bgPr>
        <a:solidFill>
          <a:srgbClr val="FFFFFF"/>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298F2A5D-64CD-9753-69B5-53020B04BA21}"/>
              </a:ext>
            </a:extLst>
          </p:cNvPr>
          <p:cNvSpPr/>
          <p:nvPr/>
        </p:nvSpPr>
        <p:spPr>
          <a:xfrm>
            <a:off x="0" y="0"/>
            <a:ext cx="12192000" cy="1714500"/>
          </a:xfrm>
          <a:prstGeom prst="rect">
            <a:avLst/>
          </a:prstGeom>
          <a:solidFill>
            <a:srgbClr val="EAF0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337F440C-E9A8-88C1-7DA4-E2E1C59C0414}"/>
              </a:ext>
            </a:extLst>
          </p:cNvPr>
          <p:cNvSpPr txBox="1"/>
          <p:nvPr/>
        </p:nvSpPr>
        <p:spPr>
          <a:xfrm>
            <a:off x="711200" y="431800"/>
            <a:ext cx="10769600" cy="1219200"/>
          </a:xfrm>
          <a:prstGeom prst="rect">
            <a:avLst/>
          </a:prstGeom>
          <a:noFill/>
        </p:spPr>
        <p:txBody>
          <a:bodyPr vert="horz" wrap="square" lIns="0" tIns="0" rIns="0" bIns="0" rtlCol="0" anchor="t">
            <a:noAutofit/>
          </a:bodyPr>
          <a:lstStyle/>
          <a:p>
            <a:r>
              <a:rPr kumimoji="1" lang="ja-JP" altLang="en-US" sz="3400" b="1">
                <a:solidFill>
                  <a:srgbClr val="172D4A"/>
                </a:solidFill>
                <a:latin typeface="BIZ UDPGothic" panose="020B0400000000000000" pitchFamily="50" charset="-128"/>
                <a:ea typeface="BIZ UDPGothic" panose="020B0400000000000000" pitchFamily="50" charset="-128"/>
              </a:rPr>
              <a:t>地域によって営業利益の増減が異なる</a:t>
            </a:r>
          </a:p>
        </p:txBody>
      </p:sp>
      <p:cxnSp>
        <p:nvCxnSpPr>
          <p:cNvPr id="4" name="直線コネクタ 3">
            <a:extLst>
              <a:ext uri="{FF2B5EF4-FFF2-40B4-BE49-F238E27FC236}">
                <a16:creationId xmlns:a16="http://schemas.microsoft.com/office/drawing/2014/main" id="{EDAE4E52-EC33-7E88-7FD1-08DB31739B71}"/>
              </a:ext>
            </a:extLst>
          </p:cNvPr>
          <p:cNvCxnSpPr/>
          <p:nvPr/>
        </p:nvCxnSpPr>
        <p:spPr>
          <a:xfrm>
            <a:off x="711200" y="17653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4D55CD8D-D98C-3F67-C81C-577D9AC6094A}"/>
              </a:ext>
            </a:extLst>
          </p:cNvPr>
          <p:cNvSpPr/>
          <p:nvPr/>
        </p:nvSpPr>
        <p:spPr>
          <a:xfrm>
            <a:off x="711200" y="2082800"/>
            <a:ext cx="10769600" cy="647700"/>
          </a:xfrm>
          <a:prstGeom prst="rect">
            <a:avLst/>
          </a:prstGeom>
          <a:solidFill>
            <a:srgbClr val="EAF0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155B05CC-0261-7BF0-ECFC-E1F6CA534616}"/>
              </a:ext>
            </a:extLst>
          </p:cNvPr>
          <p:cNvSpPr txBox="1"/>
          <p:nvPr/>
        </p:nvSpPr>
        <p:spPr>
          <a:xfrm>
            <a:off x="838200" y="2197100"/>
            <a:ext cx="2438400" cy="419100"/>
          </a:xfrm>
          <a:prstGeom prst="rect">
            <a:avLst/>
          </a:prstGeom>
          <a:noFill/>
        </p:spPr>
        <p:txBody>
          <a:bodyPr vert="horz" wrap="square" lIns="0" tIns="0" rIns="0" bIns="0" rtlCol="0" anchor="t">
            <a:noAutofit/>
          </a:bodyPr>
          <a:lstStyle/>
          <a:p>
            <a:r>
              <a:rPr kumimoji="1" lang="ja-JP" altLang="en-US" sz="1700" b="1">
                <a:solidFill>
                  <a:srgbClr val="172D4A"/>
                </a:solidFill>
                <a:latin typeface="BIZ UDPGothic" panose="020B0400000000000000" pitchFamily="50" charset="-128"/>
                <a:ea typeface="BIZ UDPGothic" panose="020B0400000000000000" pitchFamily="50" charset="-128"/>
              </a:rPr>
              <a:t>地域</a:t>
            </a:r>
          </a:p>
        </p:txBody>
      </p:sp>
      <p:sp>
        <p:nvSpPr>
          <p:cNvPr id="7" name="テキスト ボックス 6">
            <a:extLst>
              <a:ext uri="{FF2B5EF4-FFF2-40B4-BE49-F238E27FC236}">
                <a16:creationId xmlns:a16="http://schemas.microsoft.com/office/drawing/2014/main" id="{C43831C2-E704-B28C-39B8-3705B7004B87}"/>
              </a:ext>
            </a:extLst>
          </p:cNvPr>
          <p:cNvSpPr txBox="1"/>
          <p:nvPr/>
        </p:nvSpPr>
        <p:spPr>
          <a:xfrm>
            <a:off x="3530600" y="2197100"/>
            <a:ext cx="2438400" cy="419100"/>
          </a:xfrm>
          <a:prstGeom prst="rect">
            <a:avLst/>
          </a:prstGeom>
          <a:noFill/>
        </p:spPr>
        <p:txBody>
          <a:bodyPr vert="horz" wrap="square" lIns="0" tIns="0" rIns="0" bIns="0" rtlCol="0" anchor="t">
            <a:noAutofit/>
          </a:bodyPr>
          <a:lstStyle/>
          <a:p>
            <a:r>
              <a:rPr kumimoji="1" lang="zh-TW" altLang="en-US" sz="1700" b="1">
                <a:solidFill>
                  <a:srgbClr val="172D4A"/>
                </a:solidFill>
                <a:latin typeface="BIZ UDPGothic" panose="020B0400000000000000" pitchFamily="50" charset="-128"/>
                <a:ea typeface="BIZ UDPGothic" panose="020B0400000000000000" pitchFamily="50" charset="-128"/>
              </a:rPr>
              <a:t>営業収益（億円）</a:t>
            </a:r>
            <a:endParaRPr kumimoji="1" lang="ja-JP" altLang="en-US" sz="1700" b="1">
              <a:solidFill>
                <a:srgbClr val="172D4A"/>
              </a:solidFill>
              <a:latin typeface="BIZ UDPGothic" panose="020B0400000000000000" pitchFamily="50" charset="-128"/>
              <a:ea typeface="BIZ UDPGothic" panose="020B0400000000000000" pitchFamily="50" charset="-128"/>
            </a:endParaRPr>
          </a:p>
        </p:txBody>
      </p:sp>
      <p:sp>
        <p:nvSpPr>
          <p:cNvPr id="8" name="テキスト ボックス 7">
            <a:extLst>
              <a:ext uri="{FF2B5EF4-FFF2-40B4-BE49-F238E27FC236}">
                <a16:creationId xmlns:a16="http://schemas.microsoft.com/office/drawing/2014/main" id="{BF114A97-643B-317D-6DB9-7C4B9C0D2FCB}"/>
              </a:ext>
            </a:extLst>
          </p:cNvPr>
          <p:cNvSpPr txBox="1"/>
          <p:nvPr/>
        </p:nvSpPr>
        <p:spPr>
          <a:xfrm>
            <a:off x="6223000" y="2197100"/>
            <a:ext cx="2438400" cy="419100"/>
          </a:xfrm>
          <a:prstGeom prst="rect">
            <a:avLst/>
          </a:prstGeom>
          <a:noFill/>
        </p:spPr>
        <p:txBody>
          <a:bodyPr vert="horz" wrap="square" lIns="0" tIns="0" rIns="0" bIns="0" rtlCol="0" anchor="t">
            <a:noAutofit/>
          </a:bodyPr>
          <a:lstStyle/>
          <a:p>
            <a:r>
              <a:rPr kumimoji="1" lang="zh-TW" altLang="en-US" sz="1700" b="1">
                <a:solidFill>
                  <a:srgbClr val="172D4A"/>
                </a:solidFill>
                <a:latin typeface="BIZ UDPGothic" panose="020B0400000000000000" pitchFamily="50" charset="-128"/>
                <a:ea typeface="BIZ UDPGothic" panose="020B0400000000000000" pitchFamily="50" charset="-128"/>
              </a:rPr>
              <a:t>営業利益（億円）</a:t>
            </a:r>
            <a:endParaRPr kumimoji="1" lang="ja-JP" altLang="en-US" sz="1700" b="1">
              <a:solidFill>
                <a:srgbClr val="172D4A"/>
              </a:solidFill>
              <a:latin typeface="BIZ UDPGothic" panose="020B0400000000000000" pitchFamily="50" charset="-128"/>
              <a:ea typeface="BIZ UDPGothic" panose="020B0400000000000000" pitchFamily="50" charset="-128"/>
            </a:endParaRPr>
          </a:p>
        </p:txBody>
      </p:sp>
      <p:sp>
        <p:nvSpPr>
          <p:cNvPr id="9" name="テキスト ボックス 8">
            <a:extLst>
              <a:ext uri="{FF2B5EF4-FFF2-40B4-BE49-F238E27FC236}">
                <a16:creationId xmlns:a16="http://schemas.microsoft.com/office/drawing/2014/main" id="{7A0F7E7F-3253-AAA7-E0BE-92039B9DA6F3}"/>
              </a:ext>
            </a:extLst>
          </p:cNvPr>
          <p:cNvSpPr txBox="1"/>
          <p:nvPr/>
        </p:nvSpPr>
        <p:spPr>
          <a:xfrm>
            <a:off x="8915400" y="2197100"/>
            <a:ext cx="2438400" cy="419100"/>
          </a:xfrm>
          <a:prstGeom prst="rect">
            <a:avLst/>
          </a:prstGeom>
          <a:noFill/>
        </p:spPr>
        <p:txBody>
          <a:bodyPr vert="horz" wrap="square" lIns="0" tIns="0" rIns="0" bIns="0" rtlCol="0" anchor="t">
            <a:noAutofit/>
          </a:bodyPr>
          <a:lstStyle/>
          <a:p>
            <a:r>
              <a:rPr kumimoji="1" lang="ja-JP" altLang="en-US" sz="1700" b="1">
                <a:solidFill>
                  <a:srgbClr val="172D4A"/>
                </a:solidFill>
                <a:latin typeface="BIZ UDPGothic" panose="020B0400000000000000" pitchFamily="50" charset="-128"/>
                <a:ea typeface="BIZ UDPGothic" panose="020B0400000000000000" pitchFamily="50" charset="-128"/>
              </a:rPr>
              <a:t>営業利益の前年同期比</a:t>
            </a:r>
          </a:p>
        </p:txBody>
      </p:sp>
      <p:cxnSp>
        <p:nvCxnSpPr>
          <p:cNvPr id="10" name="直線コネクタ 9">
            <a:extLst>
              <a:ext uri="{FF2B5EF4-FFF2-40B4-BE49-F238E27FC236}">
                <a16:creationId xmlns:a16="http://schemas.microsoft.com/office/drawing/2014/main" id="{3A0D568B-1809-68DE-CE1D-D6E2CF268428}"/>
              </a:ext>
            </a:extLst>
          </p:cNvPr>
          <p:cNvCxnSpPr/>
          <p:nvPr/>
        </p:nvCxnSpPr>
        <p:spPr>
          <a:xfrm>
            <a:off x="711200" y="33782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F209701F-35E6-A49D-E658-017B42CECD36}"/>
              </a:ext>
            </a:extLst>
          </p:cNvPr>
          <p:cNvSpPr txBox="1"/>
          <p:nvPr/>
        </p:nvSpPr>
        <p:spPr>
          <a:xfrm>
            <a:off x="838200" y="2844800"/>
            <a:ext cx="2438400" cy="419100"/>
          </a:xfrm>
          <a:prstGeom prst="rect">
            <a:avLst/>
          </a:prstGeom>
          <a:noFill/>
        </p:spPr>
        <p:txBody>
          <a:bodyPr vert="horz" wrap="square" lIns="0" tIns="0" rIns="0" bIns="0" rtlCol="0" anchor="t">
            <a:noAutofit/>
          </a:bodyPr>
          <a:lstStyle/>
          <a:p>
            <a:r>
              <a:rPr kumimoji="1" lang="ja-JP" altLang="en-US" sz="1700">
                <a:solidFill>
                  <a:srgbClr val="172D4A"/>
                </a:solidFill>
                <a:latin typeface="BIZ UDPGothic" panose="020B0400000000000000" pitchFamily="50" charset="-128"/>
                <a:ea typeface="BIZ UDPGothic" panose="020B0400000000000000" pitchFamily="50" charset="-128"/>
              </a:rPr>
              <a:t>日本</a:t>
            </a:r>
          </a:p>
        </p:txBody>
      </p:sp>
      <p:sp>
        <p:nvSpPr>
          <p:cNvPr id="12" name="テキスト ボックス 11">
            <a:extLst>
              <a:ext uri="{FF2B5EF4-FFF2-40B4-BE49-F238E27FC236}">
                <a16:creationId xmlns:a16="http://schemas.microsoft.com/office/drawing/2014/main" id="{9C714C87-06DF-130A-697D-5C9B45848AD5}"/>
              </a:ext>
            </a:extLst>
          </p:cNvPr>
          <p:cNvSpPr txBox="1"/>
          <p:nvPr/>
        </p:nvSpPr>
        <p:spPr>
          <a:xfrm>
            <a:off x="3530600" y="2844800"/>
            <a:ext cx="2438400" cy="419100"/>
          </a:xfrm>
          <a:prstGeom prst="rect">
            <a:avLst/>
          </a:prstGeom>
          <a:noFill/>
        </p:spPr>
        <p:txBody>
          <a:bodyPr vert="horz" wrap="square" lIns="0" tIns="0" rIns="0" bIns="0" rtlCol="0" anchor="t">
            <a:noAutofit/>
          </a:bodyPr>
          <a:lstStyle/>
          <a:p>
            <a:r>
              <a:rPr kumimoji="1" lang="en-US" altLang="ja-JP" sz="1700">
                <a:solidFill>
                  <a:srgbClr val="172D4A"/>
                </a:solidFill>
                <a:latin typeface="BIZ UDPGothic" panose="020B0400000000000000" pitchFamily="50" charset="-128"/>
                <a:ea typeface="BIZ UDPGothic" panose="020B0400000000000000" pitchFamily="50" charset="-128"/>
              </a:rPr>
              <a:t>58,245</a:t>
            </a:r>
            <a:endParaRPr kumimoji="1" lang="ja-JP" altLang="en-US" sz="1700">
              <a:solidFill>
                <a:srgbClr val="172D4A"/>
              </a:solidFill>
              <a:latin typeface="BIZ UDPGothic" panose="020B0400000000000000" pitchFamily="50" charset="-128"/>
              <a:ea typeface="BIZ UDPGothic" panose="020B0400000000000000" pitchFamily="50" charset="-128"/>
            </a:endParaRPr>
          </a:p>
        </p:txBody>
      </p:sp>
      <p:sp>
        <p:nvSpPr>
          <p:cNvPr id="13" name="テキスト ボックス 12">
            <a:extLst>
              <a:ext uri="{FF2B5EF4-FFF2-40B4-BE49-F238E27FC236}">
                <a16:creationId xmlns:a16="http://schemas.microsoft.com/office/drawing/2014/main" id="{35851F93-5534-662D-425D-33065C52DE88}"/>
              </a:ext>
            </a:extLst>
          </p:cNvPr>
          <p:cNvSpPr txBox="1"/>
          <p:nvPr/>
        </p:nvSpPr>
        <p:spPr>
          <a:xfrm>
            <a:off x="6223000" y="2844800"/>
            <a:ext cx="2438400" cy="419100"/>
          </a:xfrm>
          <a:prstGeom prst="rect">
            <a:avLst/>
          </a:prstGeom>
          <a:noFill/>
        </p:spPr>
        <p:txBody>
          <a:bodyPr vert="horz" wrap="square" lIns="0" tIns="0" rIns="0" bIns="0" rtlCol="0" anchor="t">
            <a:noAutofit/>
          </a:bodyPr>
          <a:lstStyle/>
          <a:p>
            <a:r>
              <a:rPr kumimoji="1" lang="en-US" altLang="ja-JP" sz="1700">
                <a:solidFill>
                  <a:srgbClr val="172D4A"/>
                </a:solidFill>
                <a:latin typeface="BIZ UDPGothic" panose="020B0400000000000000" pitchFamily="50" charset="-128"/>
                <a:ea typeface="BIZ UDPGothic" panose="020B0400000000000000" pitchFamily="50" charset="-128"/>
              </a:rPr>
              <a:t>5,401</a:t>
            </a:r>
            <a:endParaRPr kumimoji="1" lang="ja-JP" altLang="en-US" sz="1700">
              <a:solidFill>
                <a:srgbClr val="172D4A"/>
              </a:solidFill>
              <a:latin typeface="BIZ UDPGothic" panose="020B0400000000000000" pitchFamily="50" charset="-128"/>
              <a:ea typeface="BIZ UDPGothic" panose="020B0400000000000000" pitchFamily="50" charset="-128"/>
            </a:endParaRPr>
          </a:p>
        </p:txBody>
      </p:sp>
      <p:sp>
        <p:nvSpPr>
          <p:cNvPr id="14" name="テキスト ボックス 13">
            <a:extLst>
              <a:ext uri="{FF2B5EF4-FFF2-40B4-BE49-F238E27FC236}">
                <a16:creationId xmlns:a16="http://schemas.microsoft.com/office/drawing/2014/main" id="{1EFCA01F-23D9-648A-5383-026AC55839F7}"/>
              </a:ext>
            </a:extLst>
          </p:cNvPr>
          <p:cNvSpPr txBox="1"/>
          <p:nvPr/>
        </p:nvSpPr>
        <p:spPr>
          <a:xfrm>
            <a:off x="8915400" y="2844800"/>
            <a:ext cx="2438400" cy="419100"/>
          </a:xfrm>
          <a:prstGeom prst="rect">
            <a:avLst/>
          </a:prstGeom>
          <a:noFill/>
        </p:spPr>
        <p:txBody>
          <a:bodyPr vert="horz" wrap="square" lIns="0" tIns="0" rIns="0" bIns="0" rtlCol="0" anchor="t">
            <a:noAutofit/>
          </a:bodyPr>
          <a:lstStyle/>
          <a:p>
            <a:r>
              <a:rPr kumimoji="1" lang="ja-JP" altLang="en-US" sz="1700">
                <a:solidFill>
                  <a:srgbClr val="172D4A"/>
                </a:solidFill>
                <a:latin typeface="BIZ UDPGothic" panose="020B0400000000000000" pitchFamily="50" charset="-128"/>
                <a:ea typeface="BIZ UDPGothic" panose="020B0400000000000000" pitchFamily="50" charset="-128"/>
              </a:rPr>
              <a:t>△</a:t>
            </a:r>
            <a:r>
              <a:rPr kumimoji="1" lang="en-US" altLang="ja-JP" sz="1700">
                <a:solidFill>
                  <a:srgbClr val="172D4A"/>
                </a:solidFill>
                <a:latin typeface="BIZ UDPGothic" panose="020B0400000000000000" pitchFamily="50" charset="-128"/>
                <a:ea typeface="BIZ UDPGothic" panose="020B0400000000000000" pitchFamily="50" charset="-128"/>
              </a:rPr>
              <a:t>16.3%</a:t>
            </a:r>
            <a:endParaRPr kumimoji="1" lang="ja-JP" altLang="en-US" sz="1700">
              <a:solidFill>
                <a:srgbClr val="172D4A"/>
              </a:solidFill>
              <a:latin typeface="BIZ UDPGothic" panose="020B0400000000000000" pitchFamily="50" charset="-128"/>
              <a:ea typeface="BIZ UDPGothic" panose="020B0400000000000000" pitchFamily="50" charset="-128"/>
            </a:endParaRPr>
          </a:p>
        </p:txBody>
      </p:sp>
      <p:sp>
        <p:nvSpPr>
          <p:cNvPr id="15" name="正方形/長方形 14">
            <a:extLst>
              <a:ext uri="{FF2B5EF4-FFF2-40B4-BE49-F238E27FC236}">
                <a16:creationId xmlns:a16="http://schemas.microsoft.com/office/drawing/2014/main" id="{BF7AC7AE-2F0C-79DF-A959-B9378385F3A0}"/>
              </a:ext>
            </a:extLst>
          </p:cNvPr>
          <p:cNvSpPr/>
          <p:nvPr/>
        </p:nvSpPr>
        <p:spPr>
          <a:xfrm>
            <a:off x="711200" y="3378200"/>
            <a:ext cx="10769600" cy="647700"/>
          </a:xfrm>
          <a:prstGeom prst="rect">
            <a:avLst/>
          </a:prstGeom>
          <a:solidFill>
            <a:srgbClr val="EAF0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コネクタ 15">
            <a:extLst>
              <a:ext uri="{FF2B5EF4-FFF2-40B4-BE49-F238E27FC236}">
                <a16:creationId xmlns:a16="http://schemas.microsoft.com/office/drawing/2014/main" id="{A266C607-67A4-0151-3E01-4F4607E1B2E9}"/>
              </a:ext>
            </a:extLst>
          </p:cNvPr>
          <p:cNvCxnSpPr/>
          <p:nvPr/>
        </p:nvCxnSpPr>
        <p:spPr>
          <a:xfrm>
            <a:off x="711200" y="40259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17" name="テキスト ボックス 16">
            <a:extLst>
              <a:ext uri="{FF2B5EF4-FFF2-40B4-BE49-F238E27FC236}">
                <a16:creationId xmlns:a16="http://schemas.microsoft.com/office/drawing/2014/main" id="{D83C0A3B-A01F-EE72-4A27-4E7C960CFB45}"/>
              </a:ext>
            </a:extLst>
          </p:cNvPr>
          <p:cNvSpPr txBox="1"/>
          <p:nvPr/>
        </p:nvSpPr>
        <p:spPr>
          <a:xfrm>
            <a:off x="838200" y="3492500"/>
            <a:ext cx="2438400" cy="419100"/>
          </a:xfrm>
          <a:prstGeom prst="rect">
            <a:avLst/>
          </a:prstGeom>
          <a:noFill/>
        </p:spPr>
        <p:txBody>
          <a:bodyPr vert="horz" wrap="square" lIns="0" tIns="0" rIns="0" bIns="0" rtlCol="0" anchor="t">
            <a:noAutofit/>
          </a:bodyPr>
          <a:lstStyle/>
          <a:p>
            <a:r>
              <a:rPr kumimoji="1" lang="ja-JP" altLang="en-US" sz="1700">
                <a:solidFill>
                  <a:srgbClr val="172D4A"/>
                </a:solidFill>
                <a:latin typeface="BIZ UDPGothic" panose="020B0400000000000000" pitchFamily="50" charset="-128"/>
                <a:ea typeface="BIZ UDPGothic" panose="020B0400000000000000" pitchFamily="50" charset="-128"/>
              </a:rPr>
              <a:t>北米</a:t>
            </a:r>
          </a:p>
        </p:txBody>
      </p:sp>
      <p:sp>
        <p:nvSpPr>
          <p:cNvPr id="18" name="テキスト ボックス 17">
            <a:extLst>
              <a:ext uri="{FF2B5EF4-FFF2-40B4-BE49-F238E27FC236}">
                <a16:creationId xmlns:a16="http://schemas.microsoft.com/office/drawing/2014/main" id="{BD40EDED-67D7-6D6A-8010-DFC4110027D0}"/>
              </a:ext>
            </a:extLst>
          </p:cNvPr>
          <p:cNvSpPr txBox="1"/>
          <p:nvPr/>
        </p:nvSpPr>
        <p:spPr>
          <a:xfrm>
            <a:off x="3530600" y="3492500"/>
            <a:ext cx="2438400" cy="419100"/>
          </a:xfrm>
          <a:prstGeom prst="rect">
            <a:avLst/>
          </a:prstGeom>
          <a:noFill/>
        </p:spPr>
        <p:txBody>
          <a:bodyPr vert="horz" wrap="square" lIns="0" tIns="0" rIns="0" bIns="0" rtlCol="0" anchor="t">
            <a:noAutofit/>
          </a:bodyPr>
          <a:lstStyle/>
          <a:p>
            <a:r>
              <a:rPr kumimoji="1" lang="en-US" altLang="ja-JP" sz="1700">
                <a:solidFill>
                  <a:srgbClr val="172D4A"/>
                </a:solidFill>
                <a:latin typeface="BIZ UDPGothic" panose="020B0400000000000000" pitchFamily="50" charset="-128"/>
                <a:ea typeface="BIZ UDPGothic" panose="020B0400000000000000" pitchFamily="50" charset="-128"/>
              </a:rPr>
              <a:t>61,057</a:t>
            </a:r>
            <a:endParaRPr kumimoji="1" lang="ja-JP" altLang="en-US" sz="1700">
              <a:solidFill>
                <a:srgbClr val="172D4A"/>
              </a:solidFill>
              <a:latin typeface="BIZ UDPGothic" panose="020B0400000000000000" pitchFamily="50" charset="-128"/>
              <a:ea typeface="BIZ UDPGothic" panose="020B0400000000000000" pitchFamily="50" charset="-128"/>
            </a:endParaRPr>
          </a:p>
        </p:txBody>
      </p:sp>
      <p:sp>
        <p:nvSpPr>
          <p:cNvPr id="19" name="テキスト ボックス 18">
            <a:extLst>
              <a:ext uri="{FF2B5EF4-FFF2-40B4-BE49-F238E27FC236}">
                <a16:creationId xmlns:a16="http://schemas.microsoft.com/office/drawing/2014/main" id="{7997A771-925D-BC22-7ED3-63A98EBEBDF2}"/>
              </a:ext>
            </a:extLst>
          </p:cNvPr>
          <p:cNvSpPr txBox="1"/>
          <p:nvPr/>
        </p:nvSpPr>
        <p:spPr>
          <a:xfrm>
            <a:off x="6223000" y="3492500"/>
            <a:ext cx="2438400" cy="419100"/>
          </a:xfrm>
          <a:prstGeom prst="rect">
            <a:avLst/>
          </a:prstGeom>
          <a:noFill/>
        </p:spPr>
        <p:txBody>
          <a:bodyPr vert="horz" wrap="square" lIns="0" tIns="0" rIns="0" bIns="0" rtlCol="0" anchor="t">
            <a:noAutofit/>
          </a:bodyPr>
          <a:lstStyle/>
          <a:p>
            <a:r>
              <a:rPr kumimoji="1" lang="en-US" altLang="ja-JP" sz="1700">
                <a:solidFill>
                  <a:srgbClr val="172D4A"/>
                </a:solidFill>
                <a:latin typeface="BIZ UDPGothic" panose="020B0400000000000000" pitchFamily="50" charset="-128"/>
                <a:ea typeface="BIZ UDPGothic" panose="020B0400000000000000" pitchFamily="50" charset="-128"/>
              </a:rPr>
              <a:t>1,854</a:t>
            </a:r>
            <a:endParaRPr kumimoji="1" lang="ja-JP" altLang="en-US" sz="1700">
              <a:solidFill>
                <a:srgbClr val="172D4A"/>
              </a:solidFill>
              <a:latin typeface="BIZ UDPGothic" panose="020B0400000000000000" pitchFamily="50" charset="-128"/>
              <a:ea typeface="BIZ UDPGothic" panose="020B0400000000000000" pitchFamily="50" charset="-128"/>
            </a:endParaRPr>
          </a:p>
        </p:txBody>
      </p:sp>
      <p:sp>
        <p:nvSpPr>
          <p:cNvPr id="20" name="テキスト ボックス 19">
            <a:extLst>
              <a:ext uri="{FF2B5EF4-FFF2-40B4-BE49-F238E27FC236}">
                <a16:creationId xmlns:a16="http://schemas.microsoft.com/office/drawing/2014/main" id="{8227CB49-EEB8-2C26-A43B-D4AF26E5A01C}"/>
              </a:ext>
            </a:extLst>
          </p:cNvPr>
          <p:cNvSpPr txBox="1"/>
          <p:nvPr/>
        </p:nvSpPr>
        <p:spPr>
          <a:xfrm>
            <a:off x="8915400" y="3492500"/>
            <a:ext cx="2438400" cy="419100"/>
          </a:xfrm>
          <a:prstGeom prst="rect">
            <a:avLst/>
          </a:prstGeom>
          <a:noFill/>
        </p:spPr>
        <p:txBody>
          <a:bodyPr vert="horz" wrap="square" lIns="0" tIns="0" rIns="0" bIns="0" rtlCol="0" anchor="t">
            <a:noAutofit/>
          </a:bodyPr>
          <a:lstStyle/>
          <a:p>
            <a:r>
              <a:rPr kumimoji="1" lang="en-US" altLang="zh-TW" sz="1700">
                <a:solidFill>
                  <a:srgbClr val="172D4A"/>
                </a:solidFill>
                <a:latin typeface="BIZ UDPGothic" panose="020B0400000000000000" pitchFamily="50" charset="-128"/>
                <a:ea typeface="BIZ UDPGothic" panose="020B0400000000000000" pitchFamily="50" charset="-128"/>
              </a:rPr>
              <a:t>+2,066</a:t>
            </a:r>
            <a:r>
              <a:rPr kumimoji="1" lang="zh-TW" altLang="en-US" sz="1700">
                <a:solidFill>
                  <a:srgbClr val="172D4A"/>
                </a:solidFill>
                <a:latin typeface="BIZ UDPGothic" panose="020B0400000000000000" pitchFamily="50" charset="-128"/>
                <a:ea typeface="BIZ UDPGothic" panose="020B0400000000000000" pitchFamily="50" charset="-128"/>
              </a:rPr>
              <a:t>億円（増益）</a:t>
            </a:r>
            <a:endParaRPr kumimoji="1" lang="ja-JP" altLang="en-US" sz="1700">
              <a:solidFill>
                <a:srgbClr val="172D4A"/>
              </a:solidFill>
              <a:latin typeface="BIZ UDPGothic" panose="020B0400000000000000" pitchFamily="50" charset="-128"/>
              <a:ea typeface="BIZ UDPGothic" panose="020B0400000000000000" pitchFamily="50" charset="-128"/>
            </a:endParaRPr>
          </a:p>
        </p:txBody>
      </p:sp>
      <p:cxnSp>
        <p:nvCxnSpPr>
          <p:cNvPr id="21" name="直線コネクタ 20">
            <a:extLst>
              <a:ext uri="{FF2B5EF4-FFF2-40B4-BE49-F238E27FC236}">
                <a16:creationId xmlns:a16="http://schemas.microsoft.com/office/drawing/2014/main" id="{D2BCDEDE-F8A5-C7D1-BCA5-599B7EE5E9E3}"/>
              </a:ext>
            </a:extLst>
          </p:cNvPr>
          <p:cNvCxnSpPr/>
          <p:nvPr/>
        </p:nvCxnSpPr>
        <p:spPr>
          <a:xfrm>
            <a:off x="711200" y="46736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22" name="テキスト ボックス 21">
            <a:extLst>
              <a:ext uri="{FF2B5EF4-FFF2-40B4-BE49-F238E27FC236}">
                <a16:creationId xmlns:a16="http://schemas.microsoft.com/office/drawing/2014/main" id="{FE813656-B7F1-C93F-708A-D3CC953CB96C}"/>
              </a:ext>
            </a:extLst>
          </p:cNvPr>
          <p:cNvSpPr txBox="1"/>
          <p:nvPr/>
        </p:nvSpPr>
        <p:spPr>
          <a:xfrm>
            <a:off x="838200" y="4140200"/>
            <a:ext cx="2438400" cy="419100"/>
          </a:xfrm>
          <a:prstGeom prst="rect">
            <a:avLst/>
          </a:prstGeom>
          <a:noFill/>
        </p:spPr>
        <p:txBody>
          <a:bodyPr vert="horz" wrap="square" lIns="0" tIns="0" rIns="0" bIns="0" rtlCol="0" anchor="t">
            <a:noAutofit/>
          </a:bodyPr>
          <a:lstStyle/>
          <a:p>
            <a:r>
              <a:rPr kumimoji="1" lang="ja-JP" altLang="en-US" sz="1700">
                <a:solidFill>
                  <a:srgbClr val="172D4A"/>
                </a:solidFill>
                <a:latin typeface="BIZ UDPGothic" panose="020B0400000000000000" pitchFamily="50" charset="-128"/>
                <a:ea typeface="BIZ UDPGothic" panose="020B0400000000000000" pitchFamily="50" charset="-128"/>
              </a:rPr>
              <a:t>欧州</a:t>
            </a:r>
          </a:p>
        </p:txBody>
      </p:sp>
      <p:sp>
        <p:nvSpPr>
          <p:cNvPr id="23" name="テキスト ボックス 22">
            <a:extLst>
              <a:ext uri="{FF2B5EF4-FFF2-40B4-BE49-F238E27FC236}">
                <a16:creationId xmlns:a16="http://schemas.microsoft.com/office/drawing/2014/main" id="{5B7F6731-707B-F14B-B7C3-4B5D109B8676}"/>
              </a:ext>
            </a:extLst>
          </p:cNvPr>
          <p:cNvSpPr txBox="1"/>
          <p:nvPr/>
        </p:nvSpPr>
        <p:spPr>
          <a:xfrm>
            <a:off x="3530600" y="4140200"/>
            <a:ext cx="2438400" cy="419100"/>
          </a:xfrm>
          <a:prstGeom prst="rect">
            <a:avLst/>
          </a:prstGeom>
          <a:noFill/>
        </p:spPr>
        <p:txBody>
          <a:bodyPr vert="horz" wrap="square" lIns="0" tIns="0" rIns="0" bIns="0" rtlCol="0" anchor="t">
            <a:noAutofit/>
          </a:bodyPr>
          <a:lstStyle/>
          <a:p>
            <a:r>
              <a:rPr kumimoji="1" lang="en-US" altLang="ja-JP" sz="1700">
                <a:solidFill>
                  <a:srgbClr val="172D4A"/>
                </a:solidFill>
                <a:latin typeface="BIZ UDPGothic" panose="020B0400000000000000" pitchFamily="50" charset="-128"/>
                <a:ea typeface="BIZ UDPGothic" panose="020B0400000000000000" pitchFamily="50" charset="-128"/>
              </a:rPr>
              <a:t>18,798</a:t>
            </a:r>
            <a:endParaRPr kumimoji="1" lang="ja-JP" altLang="en-US" sz="1700">
              <a:solidFill>
                <a:srgbClr val="172D4A"/>
              </a:solidFill>
              <a:latin typeface="BIZ UDPGothic" panose="020B0400000000000000" pitchFamily="50" charset="-128"/>
              <a:ea typeface="BIZ UDPGothic" panose="020B0400000000000000" pitchFamily="50" charset="-128"/>
            </a:endParaRPr>
          </a:p>
        </p:txBody>
      </p:sp>
      <p:sp>
        <p:nvSpPr>
          <p:cNvPr id="24" name="テキスト ボックス 23">
            <a:extLst>
              <a:ext uri="{FF2B5EF4-FFF2-40B4-BE49-F238E27FC236}">
                <a16:creationId xmlns:a16="http://schemas.microsoft.com/office/drawing/2014/main" id="{B7496D7E-D746-5099-145B-9E418FED437D}"/>
              </a:ext>
            </a:extLst>
          </p:cNvPr>
          <p:cNvSpPr txBox="1"/>
          <p:nvPr/>
        </p:nvSpPr>
        <p:spPr>
          <a:xfrm>
            <a:off x="6223000" y="4140200"/>
            <a:ext cx="2438400" cy="419100"/>
          </a:xfrm>
          <a:prstGeom prst="rect">
            <a:avLst/>
          </a:prstGeom>
          <a:noFill/>
        </p:spPr>
        <p:txBody>
          <a:bodyPr vert="horz" wrap="square" lIns="0" tIns="0" rIns="0" bIns="0" rtlCol="0" anchor="t">
            <a:noAutofit/>
          </a:bodyPr>
          <a:lstStyle/>
          <a:p>
            <a:r>
              <a:rPr kumimoji="1" lang="en-US" altLang="ja-JP" sz="1700">
                <a:solidFill>
                  <a:srgbClr val="172D4A"/>
                </a:solidFill>
                <a:latin typeface="BIZ UDPGothic" panose="020B0400000000000000" pitchFamily="50" charset="-128"/>
                <a:ea typeface="BIZ UDPGothic" panose="020B0400000000000000" pitchFamily="50" charset="-128"/>
              </a:rPr>
              <a:t>1,072</a:t>
            </a:r>
            <a:endParaRPr kumimoji="1" lang="ja-JP" altLang="en-US" sz="1700">
              <a:solidFill>
                <a:srgbClr val="172D4A"/>
              </a:solidFill>
              <a:latin typeface="BIZ UDPGothic" panose="020B0400000000000000" pitchFamily="50" charset="-128"/>
              <a:ea typeface="BIZ UDPGothic" panose="020B0400000000000000" pitchFamily="50" charset="-128"/>
            </a:endParaRPr>
          </a:p>
        </p:txBody>
      </p:sp>
      <p:sp>
        <p:nvSpPr>
          <p:cNvPr id="25" name="テキスト ボックス 24">
            <a:extLst>
              <a:ext uri="{FF2B5EF4-FFF2-40B4-BE49-F238E27FC236}">
                <a16:creationId xmlns:a16="http://schemas.microsoft.com/office/drawing/2014/main" id="{C0D9D6F5-C20C-021F-60BC-7A673807C0CB}"/>
              </a:ext>
            </a:extLst>
          </p:cNvPr>
          <p:cNvSpPr txBox="1"/>
          <p:nvPr/>
        </p:nvSpPr>
        <p:spPr>
          <a:xfrm>
            <a:off x="8915400" y="4140200"/>
            <a:ext cx="2438400" cy="419100"/>
          </a:xfrm>
          <a:prstGeom prst="rect">
            <a:avLst/>
          </a:prstGeom>
          <a:noFill/>
        </p:spPr>
        <p:txBody>
          <a:bodyPr vert="horz" wrap="square" lIns="0" tIns="0" rIns="0" bIns="0" rtlCol="0" anchor="t">
            <a:noAutofit/>
          </a:bodyPr>
          <a:lstStyle/>
          <a:p>
            <a:r>
              <a:rPr kumimoji="1" lang="en-US" altLang="ja-JP" sz="1700">
                <a:solidFill>
                  <a:srgbClr val="172D4A"/>
                </a:solidFill>
                <a:latin typeface="BIZ UDPGothic" panose="020B0400000000000000" pitchFamily="50" charset="-128"/>
                <a:ea typeface="BIZ UDPGothic" panose="020B0400000000000000" pitchFamily="50" charset="-128"/>
              </a:rPr>
              <a:t>+10.6%</a:t>
            </a:r>
            <a:endParaRPr kumimoji="1" lang="ja-JP" altLang="en-US" sz="1700">
              <a:solidFill>
                <a:srgbClr val="172D4A"/>
              </a:solidFill>
              <a:latin typeface="BIZ UDPGothic" panose="020B0400000000000000" pitchFamily="50" charset="-128"/>
              <a:ea typeface="BIZ UDPGothic" panose="020B0400000000000000" pitchFamily="50" charset="-128"/>
            </a:endParaRPr>
          </a:p>
        </p:txBody>
      </p:sp>
      <p:sp>
        <p:nvSpPr>
          <p:cNvPr id="26" name="正方形/長方形 25">
            <a:extLst>
              <a:ext uri="{FF2B5EF4-FFF2-40B4-BE49-F238E27FC236}">
                <a16:creationId xmlns:a16="http://schemas.microsoft.com/office/drawing/2014/main" id="{8B944216-D54D-7A53-D8A6-741FF620CA78}"/>
              </a:ext>
            </a:extLst>
          </p:cNvPr>
          <p:cNvSpPr/>
          <p:nvPr/>
        </p:nvSpPr>
        <p:spPr>
          <a:xfrm>
            <a:off x="711200" y="4673600"/>
            <a:ext cx="10769600" cy="647700"/>
          </a:xfrm>
          <a:prstGeom prst="rect">
            <a:avLst/>
          </a:prstGeom>
          <a:solidFill>
            <a:srgbClr val="EAF0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7" name="直線コネクタ 26">
            <a:extLst>
              <a:ext uri="{FF2B5EF4-FFF2-40B4-BE49-F238E27FC236}">
                <a16:creationId xmlns:a16="http://schemas.microsoft.com/office/drawing/2014/main" id="{37D520DE-FFB0-FD53-5DA8-CA8293439600}"/>
              </a:ext>
            </a:extLst>
          </p:cNvPr>
          <p:cNvCxnSpPr/>
          <p:nvPr/>
        </p:nvCxnSpPr>
        <p:spPr>
          <a:xfrm>
            <a:off x="711200" y="53213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28" name="テキスト ボックス 27">
            <a:extLst>
              <a:ext uri="{FF2B5EF4-FFF2-40B4-BE49-F238E27FC236}">
                <a16:creationId xmlns:a16="http://schemas.microsoft.com/office/drawing/2014/main" id="{E0856544-DE68-E619-FD32-315BAB6BC6B7}"/>
              </a:ext>
            </a:extLst>
          </p:cNvPr>
          <p:cNvSpPr txBox="1"/>
          <p:nvPr/>
        </p:nvSpPr>
        <p:spPr>
          <a:xfrm>
            <a:off x="838200" y="4787900"/>
            <a:ext cx="2438400" cy="419100"/>
          </a:xfrm>
          <a:prstGeom prst="rect">
            <a:avLst/>
          </a:prstGeom>
          <a:noFill/>
        </p:spPr>
        <p:txBody>
          <a:bodyPr vert="horz" wrap="square" lIns="0" tIns="0" rIns="0" bIns="0" rtlCol="0" anchor="t">
            <a:noAutofit/>
          </a:bodyPr>
          <a:lstStyle/>
          <a:p>
            <a:r>
              <a:rPr kumimoji="1" lang="ja-JP" altLang="en-US" sz="1700">
                <a:solidFill>
                  <a:srgbClr val="172D4A"/>
                </a:solidFill>
                <a:latin typeface="BIZ UDPGothic" panose="020B0400000000000000" pitchFamily="50" charset="-128"/>
                <a:ea typeface="BIZ UDPGothic" panose="020B0400000000000000" pitchFamily="50" charset="-128"/>
              </a:rPr>
              <a:t>アジア</a:t>
            </a:r>
          </a:p>
        </p:txBody>
      </p:sp>
      <p:sp>
        <p:nvSpPr>
          <p:cNvPr id="29" name="テキスト ボックス 28">
            <a:extLst>
              <a:ext uri="{FF2B5EF4-FFF2-40B4-BE49-F238E27FC236}">
                <a16:creationId xmlns:a16="http://schemas.microsoft.com/office/drawing/2014/main" id="{B81BA604-A7BF-3CA8-2312-6E697C3415AD}"/>
              </a:ext>
            </a:extLst>
          </p:cNvPr>
          <p:cNvSpPr txBox="1"/>
          <p:nvPr/>
        </p:nvSpPr>
        <p:spPr>
          <a:xfrm>
            <a:off x="3530600" y="4787900"/>
            <a:ext cx="2438400" cy="419100"/>
          </a:xfrm>
          <a:prstGeom prst="rect">
            <a:avLst/>
          </a:prstGeom>
          <a:noFill/>
        </p:spPr>
        <p:txBody>
          <a:bodyPr vert="horz" wrap="square" lIns="0" tIns="0" rIns="0" bIns="0" rtlCol="0" anchor="t">
            <a:noAutofit/>
          </a:bodyPr>
          <a:lstStyle/>
          <a:p>
            <a:r>
              <a:rPr kumimoji="1" lang="en-US" altLang="ja-JP" sz="1700">
                <a:solidFill>
                  <a:srgbClr val="172D4A"/>
                </a:solidFill>
                <a:latin typeface="BIZ UDPGothic" panose="020B0400000000000000" pitchFamily="50" charset="-128"/>
                <a:ea typeface="BIZ UDPGothic" panose="020B0400000000000000" pitchFamily="50" charset="-128"/>
              </a:rPr>
              <a:t>23,363</a:t>
            </a:r>
            <a:endParaRPr kumimoji="1" lang="ja-JP" altLang="en-US" sz="1700">
              <a:solidFill>
                <a:srgbClr val="172D4A"/>
              </a:solidFill>
              <a:latin typeface="BIZ UDPGothic" panose="020B0400000000000000" pitchFamily="50" charset="-128"/>
              <a:ea typeface="BIZ UDPGothic" panose="020B0400000000000000" pitchFamily="50" charset="-128"/>
            </a:endParaRPr>
          </a:p>
        </p:txBody>
      </p:sp>
      <p:sp>
        <p:nvSpPr>
          <p:cNvPr id="30" name="テキスト ボックス 29">
            <a:extLst>
              <a:ext uri="{FF2B5EF4-FFF2-40B4-BE49-F238E27FC236}">
                <a16:creationId xmlns:a16="http://schemas.microsoft.com/office/drawing/2014/main" id="{4107D0E4-E9E4-AC7E-D682-78B43F1C93FD}"/>
              </a:ext>
            </a:extLst>
          </p:cNvPr>
          <p:cNvSpPr txBox="1"/>
          <p:nvPr/>
        </p:nvSpPr>
        <p:spPr>
          <a:xfrm>
            <a:off x="6223000" y="4787900"/>
            <a:ext cx="2438400" cy="419100"/>
          </a:xfrm>
          <a:prstGeom prst="rect">
            <a:avLst/>
          </a:prstGeom>
          <a:noFill/>
        </p:spPr>
        <p:txBody>
          <a:bodyPr vert="horz" wrap="square" lIns="0" tIns="0" rIns="0" bIns="0" rtlCol="0" anchor="t">
            <a:noAutofit/>
          </a:bodyPr>
          <a:lstStyle/>
          <a:p>
            <a:r>
              <a:rPr kumimoji="1" lang="en-US" altLang="ja-JP" sz="1700">
                <a:solidFill>
                  <a:srgbClr val="172D4A"/>
                </a:solidFill>
                <a:latin typeface="BIZ UDPGothic" panose="020B0400000000000000" pitchFamily="50" charset="-128"/>
                <a:ea typeface="BIZ UDPGothic" panose="020B0400000000000000" pitchFamily="50" charset="-128"/>
              </a:rPr>
              <a:t>2,083</a:t>
            </a:r>
            <a:endParaRPr kumimoji="1" lang="ja-JP" altLang="en-US" sz="1700">
              <a:solidFill>
                <a:srgbClr val="172D4A"/>
              </a:solidFill>
              <a:latin typeface="BIZ UDPGothic" panose="020B0400000000000000" pitchFamily="50" charset="-128"/>
              <a:ea typeface="BIZ UDPGothic" panose="020B0400000000000000" pitchFamily="50" charset="-128"/>
            </a:endParaRPr>
          </a:p>
        </p:txBody>
      </p:sp>
      <p:sp>
        <p:nvSpPr>
          <p:cNvPr id="31" name="テキスト ボックス 30">
            <a:extLst>
              <a:ext uri="{FF2B5EF4-FFF2-40B4-BE49-F238E27FC236}">
                <a16:creationId xmlns:a16="http://schemas.microsoft.com/office/drawing/2014/main" id="{1E62A873-2F3C-C43B-951D-AF9EF106D709}"/>
              </a:ext>
            </a:extLst>
          </p:cNvPr>
          <p:cNvSpPr txBox="1"/>
          <p:nvPr/>
        </p:nvSpPr>
        <p:spPr>
          <a:xfrm>
            <a:off x="8915400" y="4787900"/>
            <a:ext cx="2438400" cy="419100"/>
          </a:xfrm>
          <a:prstGeom prst="rect">
            <a:avLst/>
          </a:prstGeom>
          <a:noFill/>
        </p:spPr>
        <p:txBody>
          <a:bodyPr vert="horz" wrap="square" lIns="0" tIns="0" rIns="0" bIns="0" rtlCol="0" anchor="t">
            <a:noAutofit/>
          </a:bodyPr>
          <a:lstStyle/>
          <a:p>
            <a:r>
              <a:rPr kumimoji="1" lang="ja-JP" altLang="en-US" sz="1700">
                <a:solidFill>
                  <a:srgbClr val="172D4A"/>
                </a:solidFill>
                <a:latin typeface="BIZ UDPGothic" panose="020B0400000000000000" pitchFamily="50" charset="-128"/>
                <a:ea typeface="BIZ UDPGothic" panose="020B0400000000000000" pitchFamily="50" charset="-128"/>
              </a:rPr>
              <a:t>△</a:t>
            </a:r>
            <a:r>
              <a:rPr kumimoji="1" lang="en-US" altLang="ja-JP" sz="1700">
                <a:solidFill>
                  <a:srgbClr val="172D4A"/>
                </a:solidFill>
                <a:latin typeface="BIZ UDPGothic" panose="020B0400000000000000" pitchFamily="50" charset="-128"/>
                <a:ea typeface="BIZ UDPGothic" panose="020B0400000000000000" pitchFamily="50" charset="-128"/>
              </a:rPr>
              <a:t>3.4%</a:t>
            </a:r>
            <a:endParaRPr kumimoji="1" lang="ja-JP" altLang="en-US" sz="1700">
              <a:solidFill>
                <a:srgbClr val="172D4A"/>
              </a:solidFill>
              <a:latin typeface="BIZ UDPGothic" panose="020B0400000000000000" pitchFamily="50" charset="-128"/>
              <a:ea typeface="BIZ UDPGothic" panose="020B0400000000000000" pitchFamily="50" charset="-128"/>
            </a:endParaRPr>
          </a:p>
        </p:txBody>
      </p:sp>
      <p:cxnSp>
        <p:nvCxnSpPr>
          <p:cNvPr id="32" name="直線コネクタ 31">
            <a:extLst>
              <a:ext uri="{FF2B5EF4-FFF2-40B4-BE49-F238E27FC236}">
                <a16:creationId xmlns:a16="http://schemas.microsoft.com/office/drawing/2014/main" id="{A23AD582-6D00-6540-F8C5-136A985D9992}"/>
              </a:ext>
            </a:extLst>
          </p:cNvPr>
          <p:cNvCxnSpPr/>
          <p:nvPr/>
        </p:nvCxnSpPr>
        <p:spPr>
          <a:xfrm>
            <a:off x="711200" y="59690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33" name="テキスト ボックス 32">
            <a:extLst>
              <a:ext uri="{FF2B5EF4-FFF2-40B4-BE49-F238E27FC236}">
                <a16:creationId xmlns:a16="http://schemas.microsoft.com/office/drawing/2014/main" id="{07B5EE2A-8835-8B83-F3F9-DC37B58B84BB}"/>
              </a:ext>
            </a:extLst>
          </p:cNvPr>
          <p:cNvSpPr txBox="1"/>
          <p:nvPr/>
        </p:nvSpPr>
        <p:spPr>
          <a:xfrm>
            <a:off x="838200" y="5435600"/>
            <a:ext cx="2438400" cy="419100"/>
          </a:xfrm>
          <a:prstGeom prst="rect">
            <a:avLst/>
          </a:prstGeom>
          <a:noFill/>
        </p:spPr>
        <p:txBody>
          <a:bodyPr vert="horz" wrap="square" lIns="0" tIns="0" rIns="0" bIns="0" rtlCol="0" anchor="t">
            <a:noAutofit/>
          </a:bodyPr>
          <a:lstStyle/>
          <a:p>
            <a:r>
              <a:rPr kumimoji="1" lang="ja-JP" altLang="en-US" sz="1700">
                <a:solidFill>
                  <a:srgbClr val="172D4A"/>
                </a:solidFill>
                <a:latin typeface="BIZ UDPGothic" panose="020B0400000000000000" pitchFamily="50" charset="-128"/>
                <a:ea typeface="BIZ UDPGothic" panose="020B0400000000000000" pitchFamily="50" charset="-128"/>
              </a:rPr>
              <a:t>その他の地域</a:t>
            </a:r>
          </a:p>
        </p:txBody>
      </p:sp>
      <p:sp>
        <p:nvSpPr>
          <p:cNvPr id="34" name="テキスト ボックス 33">
            <a:extLst>
              <a:ext uri="{FF2B5EF4-FFF2-40B4-BE49-F238E27FC236}">
                <a16:creationId xmlns:a16="http://schemas.microsoft.com/office/drawing/2014/main" id="{BCCA2BD7-9D3C-6049-8A52-BF25FFBC05CD}"/>
              </a:ext>
            </a:extLst>
          </p:cNvPr>
          <p:cNvSpPr txBox="1"/>
          <p:nvPr/>
        </p:nvSpPr>
        <p:spPr>
          <a:xfrm>
            <a:off x="3530600" y="5435600"/>
            <a:ext cx="2438400" cy="419100"/>
          </a:xfrm>
          <a:prstGeom prst="rect">
            <a:avLst/>
          </a:prstGeom>
          <a:noFill/>
        </p:spPr>
        <p:txBody>
          <a:bodyPr vert="horz" wrap="square" lIns="0" tIns="0" rIns="0" bIns="0" rtlCol="0" anchor="t">
            <a:noAutofit/>
          </a:bodyPr>
          <a:lstStyle/>
          <a:p>
            <a:r>
              <a:rPr kumimoji="1" lang="en-US" altLang="ja-JP" sz="1700">
                <a:solidFill>
                  <a:srgbClr val="172D4A"/>
                </a:solidFill>
                <a:latin typeface="BIZ UDPGothic" panose="020B0400000000000000" pitchFamily="50" charset="-128"/>
                <a:ea typeface="BIZ UDPGothic" panose="020B0400000000000000" pitchFamily="50" charset="-128"/>
              </a:rPr>
              <a:t>12,721</a:t>
            </a:r>
            <a:endParaRPr kumimoji="1" lang="ja-JP" altLang="en-US" sz="1700">
              <a:solidFill>
                <a:srgbClr val="172D4A"/>
              </a:solidFill>
              <a:latin typeface="BIZ UDPGothic" panose="020B0400000000000000" pitchFamily="50" charset="-128"/>
              <a:ea typeface="BIZ UDPGothic" panose="020B0400000000000000" pitchFamily="50" charset="-128"/>
            </a:endParaRPr>
          </a:p>
        </p:txBody>
      </p:sp>
      <p:sp>
        <p:nvSpPr>
          <p:cNvPr id="35" name="テキスト ボックス 34">
            <a:extLst>
              <a:ext uri="{FF2B5EF4-FFF2-40B4-BE49-F238E27FC236}">
                <a16:creationId xmlns:a16="http://schemas.microsoft.com/office/drawing/2014/main" id="{ECCF91AD-5254-D9AA-54F3-9C9FBD79036E}"/>
              </a:ext>
            </a:extLst>
          </p:cNvPr>
          <p:cNvSpPr txBox="1"/>
          <p:nvPr/>
        </p:nvSpPr>
        <p:spPr>
          <a:xfrm>
            <a:off x="6223000" y="5435600"/>
            <a:ext cx="2438400" cy="419100"/>
          </a:xfrm>
          <a:prstGeom prst="rect">
            <a:avLst/>
          </a:prstGeom>
          <a:noFill/>
        </p:spPr>
        <p:txBody>
          <a:bodyPr vert="horz" wrap="square" lIns="0" tIns="0" rIns="0" bIns="0" rtlCol="0" anchor="t">
            <a:noAutofit/>
          </a:bodyPr>
          <a:lstStyle/>
          <a:p>
            <a:r>
              <a:rPr kumimoji="1" lang="en-US" altLang="ja-JP" sz="1700">
                <a:solidFill>
                  <a:srgbClr val="172D4A"/>
                </a:solidFill>
                <a:latin typeface="BIZ UDPGothic" panose="020B0400000000000000" pitchFamily="50" charset="-128"/>
                <a:ea typeface="BIZ UDPGothic" panose="020B0400000000000000" pitchFamily="50" charset="-128"/>
              </a:rPr>
              <a:t>925</a:t>
            </a:r>
            <a:endParaRPr kumimoji="1" lang="ja-JP" altLang="en-US" sz="1700">
              <a:solidFill>
                <a:srgbClr val="172D4A"/>
              </a:solidFill>
              <a:latin typeface="BIZ UDPGothic" panose="020B0400000000000000" pitchFamily="50" charset="-128"/>
              <a:ea typeface="BIZ UDPGothic" panose="020B0400000000000000" pitchFamily="50" charset="-128"/>
            </a:endParaRPr>
          </a:p>
        </p:txBody>
      </p:sp>
      <p:sp>
        <p:nvSpPr>
          <p:cNvPr id="36" name="テキスト ボックス 35">
            <a:extLst>
              <a:ext uri="{FF2B5EF4-FFF2-40B4-BE49-F238E27FC236}">
                <a16:creationId xmlns:a16="http://schemas.microsoft.com/office/drawing/2014/main" id="{165F0DFE-CE0F-ACC9-4DBE-D63B5D014AF8}"/>
              </a:ext>
            </a:extLst>
          </p:cNvPr>
          <p:cNvSpPr txBox="1"/>
          <p:nvPr/>
        </p:nvSpPr>
        <p:spPr>
          <a:xfrm>
            <a:off x="8915400" y="5435600"/>
            <a:ext cx="2438400" cy="419100"/>
          </a:xfrm>
          <a:prstGeom prst="rect">
            <a:avLst/>
          </a:prstGeom>
          <a:noFill/>
        </p:spPr>
        <p:txBody>
          <a:bodyPr vert="horz" wrap="square" lIns="0" tIns="0" rIns="0" bIns="0" rtlCol="0" anchor="t">
            <a:noAutofit/>
          </a:bodyPr>
          <a:lstStyle/>
          <a:p>
            <a:r>
              <a:rPr kumimoji="1" lang="ja-JP" altLang="en-US" sz="1700">
                <a:solidFill>
                  <a:srgbClr val="172D4A"/>
                </a:solidFill>
                <a:latin typeface="BIZ UDPGothic" panose="020B0400000000000000" pitchFamily="50" charset="-128"/>
                <a:ea typeface="BIZ UDPGothic" panose="020B0400000000000000" pitchFamily="50" charset="-128"/>
              </a:rPr>
              <a:t>△</a:t>
            </a:r>
            <a:r>
              <a:rPr kumimoji="1" lang="en-US" altLang="ja-JP" sz="1700">
                <a:solidFill>
                  <a:srgbClr val="172D4A"/>
                </a:solidFill>
                <a:latin typeface="BIZ UDPGothic" panose="020B0400000000000000" pitchFamily="50" charset="-128"/>
                <a:ea typeface="BIZ UDPGothic" panose="020B0400000000000000" pitchFamily="50" charset="-128"/>
              </a:rPr>
              <a:t>1.6%</a:t>
            </a:r>
            <a:endParaRPr kumimoji="1" lang="ja-JP" altLang="en-US" sz="1700">
              <a:solidFill>
                <a:srgbClr val="172D4A"/>
              </a:solidFill>
              <a:latin typeface="BIZ UDPGothic" panose="020B0400000000000000" pitchFamily="50" charset="-128"/>
              <a:ea typeface="BIZ UDPGothic" panose="020B0400000000000000" pitchFamily="50" charset="-128"/>
            </a:endParaRPr>
          </a:p>
        </p:txBody>
      </p:sp>
      <p:cxnSp>
        <p:nvCxnSpPr>
          <p:cNvPr id="37" name="直線コネクタ 36">
            <a:extLst>
              <a:ext uri="{FF2B5EF4-FFF2-40B4-BE49-F238E27FC236}">
                <a16:creationId xmlns:a16="http://schemas.microsoft.com/office/drawing/2014/main" id="{CF05D21E-EFC5-7371-859A-B8202CF2C0A5}"/>
              </a:ext>
            </a:extLst>
          </p:cNvPr>
          <p:cNvCxnSpPr/>
          <p:nvPr/>
        </p:nvCxnSpPr>
        <p:spPr>
          <a:xfrm>
            <a:off x="711200" y="62992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38" name="テキスト ボックス 37">
            <a:extLst>
              <a:ext uri="{FF2B5EF4-FFF2-40B4-BE49-F238E27FC236}">
                <a16:creationId xmlns:a16="http://schemas.microsoft.com/office/drawing/2014/main" id="{5F82E286-ED81-2738-7025-7C93ED1750D9}"/>
              </a:ext>
            </a:extLst>
          </p:cNvPr>
          <p:cNvSpPr txBox="1"/>
          <p:nvPr/>
        </p:nvSpPr>
        <p:spPr>
          <a:xfrm>
            <a:off x="711200" y="6413500"/>
            <a:ext cx="9829800" cy="279400"/>
          </a:xfrm>
          <a:prstGeom prst="rect">
            <a:avLst/>
          </a:prstGeom>
          <a:noFill/>
        </p:spPr>
        <p:txBody>
          <a:bodyPr vert="horz" wrap="square" lIns="0" tIns="0" rIns="0" bIns="0" rtlCol="0" anchor="t">
            <a:noAutofit/>
          </a:bodyPr>
          <a:lstStyle/>
          <a:p>
            <a:r>
              <a:rPr kumimoji="1" lang="en-US" altLang="ja-JP" sz="1000">
                <a:solidFill>
                  <a:srgbClr val="526277"/>
                </a:solidFill>
                <a:latin typeface="BIZ UDPGothic" panose="020B0400000000000000" pitchFamily="50" charset="-128"/>
                <a:ea typeface="BIZ UDPGothic" panose="020B0400000000000000" pitchFamily="50" charset="-128"/>
              </a:rPr>
              <a:t>2027_1q_summary_jp.pdf p.6</a:t>
            </a:r>
            <a:endParaRPr kumimoji="1" lang="ja-JP" altLang="en-US" sz="1000">
              <a:solidFill>
                <a:srgbClr val="526277"/>
              </a:solidFill>
              <a:latin typeface="BIZ UDPGothic" panose="020B0400000000000000" pitchFamily="50" charset="-128"/>
              <a:ea typeface="BIZ UDPGothic" panose="020B0400000000000000" pitchFamily="50" charset="-128"/>
            </a:endParaRPr>
          </a:p>
        </p:txBody>
      </p:sp>
      <p:sp>
        <p:nvSpPr>
          <p:cNvPr id="39" name="テキスト ボックス 38">
            <a:extLst>
              <a:ext uri="{FF2B5EF4-FFF2-40B4-BE49-F238E27FC236}">
                <a16:creationId xmlns:a16="http://schemas.microsoft.com/office/drawing/2014/main" id="{007164C3-EB61-31A4-C58E-76BB838F3B8B}"/>
              </a:ext>
            </a:extLst>
          </p:cNvPr>
          <p:cNvSpPr txBox="1"/>
          <p:nvPr/>
        </p:nvSpPr>
        <p:spPr>
          <a:xfrm>
            <a:off x="10629900" y="6413500"/>
            <a:ext cx="850900" cy="279400"/>
          </a:xfrm>
          <a:prstGeom prst="rect">
            <a:avLst/>
          </a:prstGeom>
          <a:noFill/>
        </p:spPr>
        <p:txBody>
          <a:bodyPr vert="horz" wrap="square" lIns="0" tIns="0" rIns="0" bIns="0" rtlCol="0" anchor="t">
            <a:noAutofit/>
          </a:bodyPr>
          <a:lstStyle/>
          <a:p>
            <a:pPr algn="r"/>
            <a:r>
              <a:rPr kumimoji="1" lang="en-US" altLang="ja-JP" sz="1000">
                <a:solidFill>
                  <a:srgbClr val="526277"/>
                </a:solidFill>
                <a:latin typeface="BIZ UDPGothic" panose="020B0400000000000000" pitchFamily="50" charset="-128"/>
                <a:ea typeface="BIZ UDPGothic" panose="020B0400000000000000" pitchFamily="50" charset="-128"/>
              </a:rPr>
              <a:t>4 / 6</a:t>
            </a:r>
            <a:endParaRPr kumimoji="1" lang="ja-JP" altLang="en-US" sz="1000">
              <a:solidFill>
                <a:srgbClr val="526277"/>
              </a:solidFill>
              <a:latin typeface="BIZ UDPGothic" panose="020B0400000000000000" pitchFamily="50" charset="-128"/>
              <a:ea typeface="BIZ UDPGothic" panose="020B0400000000000000" pitchFamily="50" charset="-128"/>
            </a:endParaRPr>
          </a:p>
        </p:txBody>
      </p:sp>
    </p:spTree>
    <p:extLst>
      <p:ext uri="{BB962C8B-B14F-4D97-AF65-F5344CB8AC3E}">
        <p14:creationId xmlns:p14="http://schemas.microsoft.com/office/powerpoint/2010/main" val="2446160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DE_5">
    <p:bg>
      <p:bgPr>
        <a:solidFill>
          <a:srgbClr val="FFFFFF"/>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06684D16-AB5F-45DC-53C6-86C93ED94143}"/>
              </a:ext>
            </a:extLst>
          </p:cNvPr>
          <p:cNvSpPr/>
          <p:nvPr/>
        </p:nvSpPr>
        <p:spPr>
          <a:xfrm>
            <a:off x="0" y="0"/>
            <a:ext cx="12192000" cy="1714500"/>
          </a:xfrm>
          <a:prstGeom prst="rect">
            <a:avLst/>
          </a:prstGeom>
          <a:solidFill>
            <a:srgbClr val="EAF0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1A70F293-DF11-4AD1-EB2E-62A6DB7E677C}"/>
              </a:ext>
            </a:extLst>
          </p:cNvPr>
          <p:cNvSpPr txBox="1"/>
          <p:nvPr/>
        </p:nvSpPr>
        <p:spPr>
          <a:xfrm>
            <a:off x="711200" y="431800"/>
            <a:ext cx="10769600" cy="1219200"/>
          </a:xfrm>
          <a:prstGeom prst="rect">
            <a:avLst/>
          </a:prstGeom>
          <a:noFill/>
        </p:spPr>
        <p:txBody>
          <a:bodyPr vert="horz" wrap="square" lIns="0" tIns="0" rIns="0" bIns="0" rtlCol="0" anchor="t">
            <a:noAutofit/>
          </a:bodyPr>
          <a:lstStyle/>
          <a:p>
            <a:r>
              <a:rPr kumimoji="1" lang="ja-JP" altLang="en-US" sz="3400" b="1">
                <a:solidFill>
                  <a:srgbClr val="172D4A"/>
                </a:solidFill>
                <a:latin typeface="BIZ UDPGothic" panose="020B0400000000000000" pitchFamily="50" charset="-128"/>
                <a:ea typeface="BIZ UDPGothic" panose="020B0400000000000000" pitchFamily="50" charset="-128"/>
              </a:rPr>
              <a:t>資産・資本・現金は前期末比で減少</a:t>
            </a:r>
          </a:p>
        </p:txBody>
      </p:sp>
      <p:cxnSp>
        <p:nvCxnSpPr>
          <p:cNvPr id="4" name="直線コネクタ 3">
            <a:extLst>
              <a:ext uri="{FF2B5EF4-FFF2-40B4-BE49-F238E27FC236}">
                <a16:creationId xmlns:a16="http://schemas.microsoft.com/office/drawing/2014/main" id="{5F7F186A-30EF-B5BF-9FB5-61ACC702D182}"/>
              </a:ext>
            </a:extLst>
          </p:cNvPr>
          <p:cNvCxnSpPr/>
          <p:nvPr/>
        </p:nvCxnSpPr>
        <p:spPr>
          <a:xfrm>
            <a:off x="711200" y="17653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4CEEA3E6-EDAC-5EE8-46A6-E74F5C7E8780}"/>
              </a:ext>
            </a:extLst>
          </p:cNvPr>
          <p:cNvSpPr/>
          <p:nvPr/>
        </p:nvSpPr>
        <p:spPr>
          <a:xfrm>
            <a:off x="711200" y="2019300"/>
            <a:ext cx="5232400" cy="1879600"/>
          </a:xfrm>
          <a:prstGeom prst="rect">
            <a:avLst/>
          </a:prstGeom>
          <a:solidFill>
            <a:srgbClr val="EFF3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12C1931A-F0E9-E910-C3CD-A41CB84C7524}"/>
              </a:ext>
            </a:extLst>
          </p:cNvPr>
          <p:cNvSpPr/>
          <p:nvPr/>
        </p:nvSpPr>
        <p:spPr>
          <a:xfrm>
            <a:off x="711200" y="2019300"/>
            <a:ext cx="38100" cy="1879600"/>
          </a:xfrm>
          <a:prstGeom prst="rect">
            <a:avLst/>
          </a:prstGeom>
          <a:solidFill>
            <a:srgbClr val="245D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B6A4114B-F998-6404-49F1-7D99768CC85F}"/>
              </a:ext>
            </a:extLst>
          </p:cNvPr>
          <p:cNvSpPr txBox="1"/>
          <p:nvPr/>
        </p:nvSpPr>
        <p:spPr>
          <a:xfrm>
            <a:off x="965200" y="2184400"/>
            <a:ext cx="4724400" cy="457200"/>
          </a:xfrm>
          <a:prstGeom prst="rect">
            <a:avLst/>
          </a:prstGeom>
          <a:noFill/>
        </p:spPr>
        <p:txBody>
          <a:bodyPr vert="horz" wrap="square" lIns="0" tIns="0" rIns="0" bIns="0" rtlCol="0" anchor="t">
            <a:noAutofit/>
          </a:bodyPr>
          <a:lstStyle/>
          <a:p>
            <a:r>
              <a:rPr kumimoji="1" lang="ja-JP" altLang="en-US" sz="2200" b="1">
                <a:solidFill>
                  <a:srgbClr val="245DA8"/>
                </a:solidFill>
                <a:latin typeface="BIZ UDPGothic" panose="020B0400000000000000" pitchFamily="50" charset="-128"/>
                <a:ea typeface="BIZ UDPGothic" panose="020B0400000000000000" pitchFamily="50" charset="-128"/>
              </a:rPr>
              <a:t>資産合計</a:t>
            </a:r>
          </a:p>
        </p:txBody>
      </p:sp>
      <p:sp>
        <p:nvSpPr>
          <p:cNvPr id="8" name="テキスト ボックス 7">
            <a:extLst>
              <a:ext uri="{FF2B5EF4-FFF2-40B4-BE49-F238E27FC236}">
                <a16:creationId xmlns:a16="http://schemas.microsoft.com/office/drawing/2014/main" id="{5982EF09-2E59-6374-F6B2-D42FBB8D52C4}"/>
              </a:ext>
            </a:extLst>
          </p:cNvPr>
          <p:cNvSpPr txBox="1"/>
          <p:nvPr/>
        </p:nvSpPr>
        <p:spPr>
          <a:xfrm>
            <a:off x="965200" y="2705100"/>
            <a:ext cx="4724400" cy="736600"/>
          </a:xfrm>
          <a:prstGeom prst="rect">
            <a:avLst/>
          </a:prstGeom>
          <a:noFill/>
        </p:spPr>
        <p:txBody>
          <a:bodyPr vert="horz" wrap="none" lIns="0" tIns="0" rIns="0" bIns="0" rtlCol="0" anchor="t">
            <a:noAutofit/>
          </a:bodyPr>
          <a:lstStyle/>
          <a:p>
            <a:r>
              <a:rPr kumimoji="1" lang="en-US" altLang="ja-JP" sz="4000" b="1">
                <a:solidFill>
                  <a:srgbClr val="245DA8"/>
                </a:solidFill>
                <a:latin typeface="Arial" panose="020B0604020202020204" pitchFamily="34" charset="0"/>
                <a:ea typeface="BIZ UDPGothic" panose="020B0400000000000000" pitchFamily="50" charset="-128"/>
              </a:rPr>
              <a:t>102</a:t>
            </a:r>
            <a:r>
              <a:rPr kumimoji="1" lang="ja-JP" altLang="en-US" sz="4000" b="1">
                <a:solidFill>
                  <a:srgbClr val="245DA8"/>
                </a:solidFill>
                <a:latin typeface="Arial" panose="020B0604020202020204" pitchFamily="34" charset="0"/>
                <a:ea typeface="BIZ UDPGothic" panose="020B0400000000000000" pitchFamily="50" charset="-128"/>
              </a:rPr>
              <a:t>兆</a:t>
            </a:r>
            <a:r>
              <a:rPr kumimoji="1" lang="en-US" altLang="ja-JP" sz="4000" b="1">
                <a:solidFill>
                  <a:srgbClr val="245DA8"/>
                </a:solidFill>
                <a:latin typeface="Arial" panose="020B0604020202020204" pitchFamily="34" charset="0"/>
                <a:ea typeface="BIZ UDPGothic" panose="020B0400000000000000" pitchFamily="50" charset="-128"/>
              </a:rPr>
              <a:t>6,351</a:t>
            </a:r>
            <a:r>
              <a:rPr kumimoji="1" lang="ja-JP" altLang="en-US" sz="4000" b="1">
                <a:solidFill>
                  <a:srgbClr val="245DA8"/>
                </a:solidFill>
                <a:latin typeface="Arial" panose="020B0604020202020204" pitchFamily="34" charset="0"/>
                <a:ea typeface="BIZ UDPGothic" panose="020B0400000000000000" pitchFamily="50" charset="-128"/>
              </a:rPr>
              <a:t>億円</a:t>
            </a:r>
          </a:p>
        </p:txBody>
      </p:sp>
      <p:sp>
        <p:nvSpPr>
          <p:cNvPr id="9" name="テキスト ボックス 8">
            <a:extLst>
              <a:ext uri="{FF2B5EF4-FFF2-40B4-BE49-F238E27FC236}">
                <a16:creationId xmlns:a16="http://schemas.microsoft.com/office/drawing/2014/main" id="{789B790E-5E2B-46DF-DCB0-7F0966BDCA30}"/>
              </a:ext>
            </a:extLst>
          </p:cNvPr>
          <p:cNvSpPr txBox="1"/>
          <p:nvPr/>
        </p:nvSpPr>
        <p:spPr>
          <a:xfrm>
            <a:off x="965200" y="3517900"/>
            <a:ext cx="4724400" cy="368300"/>
          </a:xfrm>
          <a:prstGeom prst="rect">
            <a:avLst/>
          </a:prstGeom>
          <a:noFill/>
        </p:spPr>
        <p:txBody>
          <a:bodyPr vert="horz" wrap="square" lIns="0" tIns="0" rIns="0" bIns="0" rtlCol="0" anchor="t">
            <a:noAutofit/>
          </a:bodyPr>
          <a:lstStyle/>
          <a:p>
            <a:r>
              <a:rPr kumimoji="1" lang="ja-JP" altLang="en-US">
                <a:solidFill>
                  <a:srgbClr val="172D4A"/>
                </a:solidFill>
                <a:latin typeface="BIZ UDPGothic" panose="020B0400000000000000" pitchFamily="50" charset="-128"/>
                <a:ea typeface="BIZ UDPGothic" panose="020B0400000000000000" pitchFamily="50" charset="-128"/>
              </a:rPr>
              <a:t>前期末比△</a:t>
            </a:r>
            <a:r>
              <a:rPr kumimoji="1" lang="en-US" altLang="ja-JP">
                <a:solidFill>
                  <a:srgbClr val="172D4A"/>
                </a:solidFill>
                <a:latin typeface="BIZ UDPGothic" panose="020B0400000000000000" pitchFamily="50" charset="-128"/>
                <a:ea typeface="BIZ UDPGothic" panose="020B0400000000000000" pitchFamily="50" charset="-128"/>
              </a:rPr>
              <a:t>2.7%</a:t>
            </a:r>
            <a:endParaRPr kumimoji="1" lang="ja-JP" altLang="en-US">
              <a:solidFill>
                <a:srgbClr val="172D4A"/>
              </a:solidFill>
              <a:latin typeface="BIZ UDPGothic" panose="020B0400000000000000" pitchFamily="50" charset="-128"/>
              <a:ea typeface="BIZ UDPGothic" panose="020B0400000000000000" pitchFamily="50" charset="-128"/>
            </a:endParaRPr>
          </a:p>
        </p:txBody>
      </p:sp>
      <p:sp>
        <p:nvSpPr>
          <p:cNvPr id="10" name="正方形/長方形 9">
            <a:extLst>
              <a:ext uri="{FF2B5EF4-FFF2-40B4-BE49-F238E27FC236}">
                <a16:creationId xmlns:a16="http://schemas.microsoft.com/office/drawing/2014/main" id="{B9082294-E8B0-6518-80A7-24DF12CCE082}"/>
              </a:ext>
            </a:extLst>
          </p:cNvPr>
          <p:cNvSpPr/>
          <p:nvPr/>
        </p:nvSpPr>
        <p:spPr>
          <a:xfrm>
            <a:off x="6248400" y="2019300"/>
            <a:ext cx="5232400" cy="1879600"/>
          </a:xfrm>
          <a:prstGeom prst="rect">
            <a:avLst/>
          </a:prstGeom>
          <a:solidFill>
            <a:srgbClr val="ECF5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8AF42A95-342C-9C10-1360-F5ECB52962F6}"/>
              </a:ext>
            </a:extLst>
          </p:cNvPr>
          <p:cNvSpPr/>
          <p:nvPr/>
        </p:nvSpPr>
        <p:spPr>
          <a:xfrm>
            <a:off x="6248400" y="2019300"/>
            <a:ext cx="38100" cy="1879600"/>
          </a:xfrm>
          <a:prstGeom prst="rect">
            <a:avLst/>
          </a:prstGeom>
          <a:solidFill>
            <a:srgbClr val="087A7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2E749808-4D25-038C-E4A4-EF2E70DBA4A8}"/>
              </a:ext>
            </a:extLst>
          </p:cNvPr>
          <p:cNvSpPr txBox="1"/>
          <p:nvPr/>
        </p:nvSpPr>
        <p:spPr>
          <a:xfrm>
            <a:off x="6502400" y="2184400"/>
            <a:ext cx="4724400" cy="457200"/>
          </a:xfrm>
          <a:prstGeom prst="rect">
            <a:avLst/>
          </a:prstGeom>
          <a:noFill/>
        </p:spPr>
        <p:txBody>
          <a:bodyPr vert="horz" wrap="square" lIns="0" tIns="0" rIns="0" bIns="0" rtlCol="0" anchor="t">
            <a:noAutofit/>
          </a:bodyPr>
          <a:lstStyle/>
          <a:p>
            <a:r>
              <a:rPr kumimoji="1" lang="ja-JP" altLang="en-US" sz="2200" b="1">
                <a:solidFill>
                  <a:srgbClr val="087A72"/>
                </a:solidFill>
                <a:latin typeface="BIZ UDPGothic" panose="020B0400000000000000" pitchFamily="50" charset="-128"/>
                <a:ea typeface="BIZ UDPGothic" panose="020B0400000000000000" pitchFamily="50" charset="-128"/>
              </a:rPr>
              <a:t>資本合計</a:t>
            </a:r>
          </a:p>
        </p:txBody>
      </p:sp>
      <p:sp>
        <p:nvSpPr>
          <p:cNvPr id="13" name="テキスト ボックス 12">
            <a:extLst>
              <a:ext uri="{FF2B5EF4-FFF2-40B4-BE49-F238E27FC236}">
                <a16:creationId xmlns:a16="http://schemas.microsoft.com/office/drawing/2014/main" id="{BD3579A2-E521-FB0A-B038-415E80D4B868}"/>
              </a:ext>
            </a:extLst>
          </p:cNvPr>
          <p:cNvSpPr txBox="1"/>
          <p:nvPr/>
        </p:nvSpPr>
        <p:spPr>
          <a:xfrm>
            <a:off x="6502400" y="2705100"/>
            <a:ext cx="4724400" cy="736600"/>
          </a:xfrm>
          <a:prstGeom prst="rect">
            <a:avLst/>
          </a:prstGeom>
          <a:noFill/>
        </p:spPr>
        <p:txBody>
          <a:bodyPr vert="horz" wrap="none" lIns="0" tIns="0" rIns="0" bIns="0" rtlCol="0" anchor="t">
            <a:noAutofit/>
          </a:bodyPr>
          <a:lstStyle/>
          <a:p>
            <a:r>
              <a:rPr kumimoji="1" lang="en-US" altLang="ja-JP" sz="4000" b="1">
                <a:solidFill>
                  <a:srgbClr val="087A72"/>
                </a:solidFill>
                <a:latin typeface="Arial" panose="020B0604020202020204" pitchFamily="34" charset="0"/>
                <a:ea typeface="BIZ UDPGothic" panose="020B0400000000000000" pitchFamily="50" charset="-128"/>
              </a:rPr>
              <a:t>38</a:t>
            </a:r>
            <a:r>
              <a:rPr kumimoji="1" lang="ja-JP" altLang="en-US" sz="4000" b="1">
                <a:solidFill>
                  <a:srgbClr val="087A72"/>
                </a:solidFill>
                <a:latin typeface="Arial" panose="020B0604020202020204" pitchFamily="34" charset="0"/>
                <a:ea typeface="BIZ UDPGothic" panose="020B0400000000000000" pitchFamily="50" charset="-128"/>
              </a:rPr>
              <a:t>兆</a:t>
            </a:r>
            <a:r>
              <a:rPr kumimoji="1" lang="en-US" altLang="ja-JP" sz="4000" b="1">
                <a:solidFill>
                  <a:srgbClr val="087A72"/>
                </a:solidFill>
                <a:latin typeface="Arial" panose="020B0604020202020204" pitchFamily="34" charset="0"/>
                <a:ea typeface="BIZ UDPGothic" panose="020B0400000000000000" pitchFamily="50" charset="-128"/>
              </a:rPr>
              <a:t>2,289</a:t>
            </a:r>
            <a:r>
              <a:rPr kumimoji="1" lang="ja-JP" altLang="en-US" sz="4000" b="1">
                <a:solidFill>
                  <a:srgbClr val="087A72"/>
                </a:solidFill>
                <a:latin typeface="Arial" panose="020B0604020202020204" pitchFamily="34" charset="0"/>
                <a:ea typeface="BIZ UDPGothic" panose="020B0400000000000000" pitchFamily="50" charset="-128"/>
              </a:rPr>
              <a:t>億円</a:t>
            </a:r>
          </a:p>
        </p:txBody>
      </p:sp>
      <p:sp>
        <p:nvSpPr>
          <p:cNvPr id="14" name="テキスト ボックス 13">
            <a:extLst>
              <a:ext uri="{FF2B5EF4-FFF2-40B4-BE49-F238E27FC236}">
                <a16:creationId xmlns:a16="http://schemas.microsoft.com/office/drawing/2014/main" id="{36582B6F-3301-8BA5-7A6E-1816E4466F3F}"/>
              </a:ext>
            </a:extLst>
          </p:cNvPr>
          <p:cNvSpPr txBox="1"/>
          <p:nvPr/>
        </p:nvSpPr>
        <p:spPr>
          <a:xfrm>
            <a:off x="6502400" y="3517900"/>
            <a:ext cx="4724400" cy="368300"/>
          </a:xfrm>
          <a:prstGeom prst="rect">
            <a:avLst/>
          </a:prstGeom>
          <a:noFill/>
        </p:spPr>
        <p:txBody>
          <a:bodyPr vert="horz" wrap="square" lIns="0" tIns="0" rIns="0" bIns="0" rtlCol="0" anchor="t">
            <a:noAutofit/>
          </a:bodyPr>
          <a:lstStyle/>
          <a:p>
            <a:r>
              <a:rPr kumimoji="1" lang="ja-JP" altLang="en-US">
                <a:solidFill>
                  <a:srgbClr val="172D4A"/>
                </a:solidFill>
                <a:latin typeface="BIZ UDPGothic" panose="020B0400000000000000" pitchFamily="50" charset="-128"/>
                <a:ea typeface="BIZ UDPGothic" panose="020B0400000000000000" pitchFamily="50" charset="-128"/>
              </a:rPr>
              <a:t>前期末比△</a:t>
            </a:r>
            <a:r>
              <a:rPr kumimoji="1" lang="en-US" altLang="ja-JP">
                <a:solidFill>
                  <a:srgbClr val="172D4A"/>
                </a:solidFill>
                <a:latin typeface="BIZ UDPGothic" panose="020B0400000000000000" pitchFamily="50" charset="-128"/>
                <a:ea typeface="BIZ UDPGothic" panose="020B0400000000000000" pitchFamily="50" charset="-128"/>
              </a:rPr>
              <a:t>6.8%</a:t>
            </a:r>
            <a:r>
              <a:rPr kumimoji="1" lang="ja-JP" altLang="en-US">
                <a:solidFill>
                  <a:srgbClr val="172D4A"/>
                </a:solidFill>
                <a:latin typeface="BIZ UDPGothic" panose="020B0400000000000000" pitchFamily="50" charset="-128"/>
                <a:ea typeface="BIZ UDPGothic" panose="020B0400000000000000" pitchFamily="50" charset="-128"/>
              </a:rPr>
              <a:t>、持分比率</a:t>
            </a:r>
            <a:r>
              <a:rPr kumimoji="1" lang="en-US" altLang="ja-JP">
                <a:solidFill>
                  <a:srgbClr val="172D4A"/>
                </a:solidFill>
                <a:latin typeface="BIZ UDPGothic" panose="020B0400000000000000" pitchFamily="50" charset="-128"/>
                <a:ea typeface="BIZ UDPGothic" panose="020B0400000000000000" pitchFamily="50" charset="-128"/>
              </a:rPr>
              <a:t>36.4%</a:t>
            </a:r>
            <a:endParaRPr kumimoji="1" lang="ja-JP" altLang="en-US">
              <a:solidFill>
                <a:srgbClr val="172D4A"/>
              </a:solidFill>
              <a:latin typeface="BIZ UDPGothic" panose="020B0400000000000000" pitchFamily="50" charset="-128"/>
              <a:ea typeface="BIZ UDPGothic" panose="020B0400000000000000" pitchFamily="50" charset="-128"/>
            </a:endParaRPr>
          </a:p>
        </p:txBody>
      </p:sp>
      <p:sp>
        <p:nvSpPr>
          <p:cNvPr id="15" name="正方形/長方形 14">
            <a:extLst>
              <a:ext uri="{FF2B5EF4-FFF2-40B4-BE49-F238E27FC236}">
                <a16:creationId xmlns:a16="http://schemas.microsoft.com/office/drawing/2014/main" id="{C457885F-41D9-360D-2C63-7781AB930B3F}"/>
              </a:ext>
            </a:extLst>
          </p:cNvPr>
          <p:cNvSpPr/>
          <p:nvPr/>
        </p:nvSpPr>
        <p:spPr>
          <a:xfrm>
            <a:off x="711200" y="4025900"/>
            <a:ext cx="5232400" cy="1879600"/>
          </a:xfrm>
          <a:prstGeom prst="rect">
            <a:avLst/>
          </a:prstGeom>
          <a:solidFill>
            <a:srgbClr val="F7F3E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AB63FD9C-2EBA-DE39-5602-18DA8BECFD94}"/>
              </a:ext>
            </a:extLst>
          </p:cNvPr>
          <p:cNvSpPr/>
          <p:nvPr/>
        </p:nvSpPr>
        <p:spPr>
          <a:xfrm>
            <a:off x="711200" y="4025900"/>
            <a:ext cx="38100" cy="1879600"/>
          </a:xfrm>
          <a:prstGeom prst="rect">
            <a:avLst/>
          </a:prstGeom>
          <a:solidFill>
            <a:srgbClr val="945F1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59F15F09-A4EC-5236-14C9-2A0EF984B3A3}"/>
              </a:ext>
            </a:extLst>
          </p:cNvPr>
          <p:cNvSpPr txBox="1"/>
          <p:nvPr/>
        </p:nvSpPr>
        <p:spPr>
          <a:xfrm>
            <a:off x="965200" y="4191000"/>
            <a:ext cx="4724400" cy="457200"/>
          </a:xfrm>
          <a:prstGeom prst="rect">
            <a:avLst/>
          </a:prstGeom>
          <a:noFill/>
        </p:spPr>
        <p:txBody>
          <a:bodyPr vert="horz" wrap="square" lIns="0" tIns="0" rIns="0" bIns="0" rtlCol="0" anchor="t">
            <a:noAutofit/>
          </a:bodyPr>
          <a:lstStyle/>
          <a:p>
            <a:r>
              <a:rPr kumimoji="1" lang="ja-JP" altLang="en-US" sz="2200" b="1">
                <a:solidFill>
                  <a:srgbClr val="945F1D"/>
                </a:solidFill>
                <a:latin typeface="BIZ UDPGothic" panose="020B0400000000000000" pitchFamily="50" charset="-128"/>
                <a:ea typeface="BIZ UDPGothic" panose="020B0400000000000000" pitchFamily="50" charset="-128"/>
              </a:rPr>
              <a:t>現金及び現金同等物</a:t>
            </a:r>
          </a:p>
        </p:txBody>
      </p:sp>
      <p:sp>
        <p:nvSpPr>
          <p:cNvPr id="18" name="テキスト ボックス 17">
            <a:extLst>
              <a:ext uri="{FF2B5EF4-FFF2-40B4-BE49-F238E27FC236}">
                <a16:creationId xmlns:a16="http://schemas.microsoft.com/office/drawing/2014/main" id="{871A0164-F707-9AA8-E409-3B092B327C39}"/>
              </a:ext>
            </a:extLst>
          </p:cNvPr>
          <p:cNvSpPr txBox="1"/>
          <p:nvPr/>
        </p:nvSpPr>
        <p:spPr>
          <a:xfrm>
            <a:off x="965200" y="4711700"/>
            <a:ext cx="4724400" cy="736600"/>
          </a:xfrm>
          <a:prstGeom prst="rect">
            <a:avLst/>
          </a:prstGeom>
          <a:noFill/>
        </p:spPr>
        <p:txBody>
          <a:bodyPr vert="horz" wrap="none" lIns="0" tIns="0" rIns="0" bIns="0" rtlCol="0" anchor="t">
            <a:noAutofit/>
          </a:bodyPr>
          <a:lstStyle/>
          <a:p>
            <a:r>
              <a:rPr kumimoji="1" lang="en-US" altLang="ja-JP" sz="4000" b="1">
                <a:solidFill>
                  <a:srgbClr val="945F1D"/>
                </a:solidFill>
                <a:latin typeface="Arial" panose="020B0604020202020204" pitchFamily="34" charset="0"/>
                <a:ea typeface="BIZ UDPGothic" panose="020B0400000000000000" pitchFamily="50" charset="-128"/>
              </a:rPr>
              <a:t>10</a:t>
            </a:r>
            <a:r>
              <a:rPr kumimoji="1" lang="ja-JP" altLang="en-US" sz="4000" b="1">
                <a:solidFill>
                  <a:srgbClr val="945F1D"/>
                </a:solidFill>
                <a:latin typeface="Arial" panose="020B0604020202020204" pitchFamily="34" charset="0"/>
                <a:ea typeface="BIZ UDPGothic" panose="020B0400000000000000" pitchFamily="50" charset="-128"/>
              </a:rPr>
              <a:t>兆</a:t>
            </a:r>
            <a:r>
              <a:rPr kumimoji="1" lang="en-US" altLang="ja-JP" sz="4000" b="1">
                <a:solidFill>
                  <a:srgbClr val="945F1D"/>
                </a:solidFill>
                <a:latin typeface="Arial" panose="020B0604020202020204" pitchFamily="34" charset="0"/>
                <a:ea typeface="BIZ UDPGothic" panose="020B0400000000000000" pitchFamily="50" charset="-128"/>
              </a:rPr>
              <a:t>3,430</a:t>
            </a:r>
            <a:r>
              <a:rPr kumimoji="1" lang="ja-JP" altLang="en-US" sz="4000" b="1">
                <a:solidFill>
                  <a:srgbClr val="945F1D"/>
                </a:solidFill>
                <a:latin typeface="Arial" panose="020B0604020202020204" pitchFamily="34" charset="0"/>
                <a:ea typeface="BIZ UDPGothic" panose="020B0400000000000000" pitchFamily="50" charset="-128"/>
              </a:rPr>
              <a:t>億円</a:t>
            </a:r>
          </a:p>
        </p:txBody>
      </p:sp>
      <p:sp>
        <p:nvSpPr>
          <p:cNvPr id="19" name="テキスト ボックス 18">
            <a:extLst>
              <a:ext uri="{FF2B5EF4-FFF2-40B4-BE49-F238E27FC236}">
                <a16:creationId xmlns:a16="http://schemas.microsoft.com/office/drawing/2014/main" id="{F24BE7FF-9C79-A76F-E6AB-74427C038A14}"/>
              </a:ext>
            </a:extLst>
          </p:cNvPr>
          <p:cNvSpPr txBox="1"/>
          <p:nvPr/>
        </p:nvSpPr>
        <p:spPr>
          <a:xfrm>
            <a:off x="965200" y="5524500"/>
            <a:ext cx="4724400" cy="368300"/>
          </a:xfrm>
          <a:prstGeom prst="rect">
            <a:avLst/>
          </a:prstGeom>
          <a:noFill/>
        </p:spPr>
        <p:txBody>
          <a:bodyPr vert="horz" wrap="square" lIns="0" tIns="0" rIns="0" bIns="0" rtlCol="0" anchor="t">
            <a:noAutofit/>
          </a:bodyPr>
          <a:lstStyle/>
          <a:p>
            <a:r>
              <a:rPr kumimoji="1" lang="ja-JP" altLang="en-US">
                <a:solidFill>
                  <a:srgbClr val="172D4A"/>
                </a:solidFill>
                <a:latin typeface="BIZ UDPGothic" panose="020B0400000000000000" pitchFamily="50" charset="-128"/>
                <a:ea typeface="BIZ UDPGothic" panose="020B0400000000000000" pitchFamily="50" charset="-128"/>
              </a:rPr>
              <a:t>前期末比△</a:t>
            </a:r>
            <a:r>
              <a:rPr kumimoji="1" lang="en-US" altLang="ja-JP">
                <a:solidFill>
                  <a:srgbClr val="172D4A"/>
                </a:solidFill>
                <a:latin typeface="BIZ UDPGothic" panose="020B0400000000000000" pitchFamily="50" charset="-128"/>
                <a:ea typeface="BIZ UDPGothic" panose="020B0400000000000000" pitchFamily="50" charset="-128"/>
              </a:rPr>
              <a:t>18.3%</a:t>
            </a:r>
            <a:endParaRPr kumimoji="1" lang="ja-JP" altLang="en-US">
              <a:solidFill>
                <a:srgbClr val="172D4A"/>
              </a:solidFill>
              <a:latin typeface="BIZ UDPGothic" panose="020B0400000000000000" pitchFamily="50" charset="-128"/>
              <a:ea typeface="BIZ UDPGothic" panose="020B0400000000000000" pitchFamily="50" charset="-128"/>
            </a:endParaRPr>
          </a:p>
        </p:txBody>
      </p:sp>
      <p:sp>
        <p:nvSpPr>
          <p:cNvPr id="20" name="正方形/長方形 19">
            <a:extLst>
              <a:ext uri="{FF2B5EF4-FFF2-40B4-BE49-F238E27FC236}">
                <a16:creationId xmlns:a16="http://schemas.microsoft.com/office/drawing/2014/main" id="{193DACCC-DE5C-3318-5AF9-BC3FD62BD109}"/>
              </a:ext>
            </a:extLst>
          </p:cNvPr>
          <p:cNvSpPr/>
          <p:nvPr/>
        </p:nvSpPr>
        <p:spPr>
          <a:xfrm>
            <a:off x="6248400" y="4025900"/>
            <a:ext cx="5232400" cy="1879600"/>
          </a:xfrm>
          <a:prstGeom prst="rect">
            <a:avLst/>
          </a:prstGeom>
          <a:solidFill>
            <a:srgbClr val="F6F2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767FAE96-1B51-DD8D-4B64-0F1F84DE558F}"/>
              </a:ext>
            </a:extLst>
          </p:cNvPr>
          <p:cNvSpPr/>
          <p:nvPr/>
        </p:nvSpPr>
        <p:spPr>
          <a:xfrm>
            <a:off x="6248400" y="4025900"/>
            <a:ext cx="38100" cy="1879600"/>
          </a:xfrm>
          <a:prstGeom prst="rect">
            <a:avLst/>
          </a:prstGeom>
          <a:solidFill>
            <a:srgbClr val="86518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59A744E4-1AE0-5BE2-368C-1D4EC9B45647}"/>
              </a:ext>
            </a:extLst>
          </p:cNvPr>
          <p:cNvSpPr txBox="1"/>
          <p:nvPr/>
        </p:nvSpPr>
        <p:spPr>
          <a:xfrm>
            <a:off x="6502400" y="4191000"/>
            <a:ext cx="4724400" cy="457200"/>
          </a:xfrm>
          <a:prstGeom prst="rect">
            <a:avLst/>
          </a:prstGeom>
          <a:noFill/>
        </p:spPr>
        <p:txBody>
          <a:bodyPr vert="horz" wrap="square" lIns="0" tIns="0" rIns="0" bIns="0" rtlCol="0" anchor="t">
            <a:noAutofit/>
          </a:bodyPr>
          <a:lstStyle/>
          <a:p>
            <a:r>
              <a:rPr kumimoji="1" lang="ja-JP" altLang="en-US" sz="2200" b="1">
                <a:solidFill>
                  <a:srgbClr val="86518C"/>
                </a:solidFill>
                <a:latin typeface="BIZ UDPGothic" panose="020B0400000000000000" pitchFamily="50" charset="-128"/>
                <a:ea typeface="BIZ UDPGothic" panose="020B0400000000000000" pitchFamily="50" charset="-128"/>
              </a:rPr>
              <a:t>財務活動</a:t>
            </a:r>
            <a:r>
              <a:rPr kumimoji="1" lang="en-US" altLang="ja-JP" sz="2200" b="1">
                <a:solidFill>
                  <a:srgbClr val="86518C"/>
                </a:solidFill>
                <a:latin typeface="BIZ UDPGothic" panose="020B0400000000000000" pitchFamily="50" charset="-128"/>
                <a:ea typeface="BIZ UDPGothic" panose="020B0400000000000000" pitchFamily="50" charset="-128"/>
              </a:rPr>
              <a:t>CF</a:t>
            </a:r>
            <a:endParaRPr kumimoji="1" lang="ja-JP" altLang="en-US" sz="2200" b="1">
              <a:solidFill>
                <a:srgbClr val="86518C"/>
              </a:solidFill>
              <a:latin typeface="BIZ UDPGothic" panose="020B0400000000000000" pitchFamily="50" charset="-128"/>
              <a:ea typeface="BIZ UDPGothic" panose="020B0400000000000000" pitchFamily="50" charset="-128"/>
            </a:endParaRPr>
          </a:p>
        </p:txBody>
      </p:sp>
      <p:sp>
        <p:nvSpPr>
          <p:cNvPr id="23" name="テキスト ボックス 22">
            <a:extLst>
              <a:ext uri="{FF2B5EF4-FFF2-40B4-BE49-F238E27FC236}">
                <a16:creationId xmlns:a16="http://schemas.microsoft.com/office/drawing/2014/main" id="{1B323C84-A14B-FC83-DF36-AB3990446D0E}"/>
              </a:ext>
            </a:extLst>
          </p:cNvPr>
          <p:cNvSpPr txBox="1"/>
          <p:nvPr/>
        </p:nvSpPr>
        <p:spPr>
          <a:xfrm>
            <a:off x="6502400" y="4711700"/>
            <a:ext cx="4724400" cy="736600"/>
          </a:xfrm>
          <a:prstGeom prst="rect">
            <a:avLst/>
          </a:prstGeom>
          <a:noFill/>
        </p:spPr>
        <p:txBody>
          <a:bodyPr vert="horz" wrap="none" lIns="0" tIns="0" rIns="0" bIns="0" rtlCol="0" anchor="t">
            <a:noAutofit/>
          </a:bodyPr>
          <a:lstStyle/>
          <a:p>
            <a:r>
              <a:rPr kumimoji="1" lang="ja-JP" altLang="en-US" sz="4000" b="1">
                <a:solidFill>
                  <a:srgbClr val="86518C"/>
                </a:solidFill>
                <a:latin typeface="Arial" panose="020B0604020202020204" pitchFamily="34" charset="0"/>
                <a:ea typeface="BIZ UDPGothic" panose="020B0400000000000000" pitchFamily="50" charset="-128"/>
              </a:rPr>
              <a:t>△</a:t>
            </a:r>
            <a:r>
              <a:rPr kumimoji="1" lang="en-US" altLang="ja-JP" sz="4000" b="1">
                <a:solidFill>
                  <a:srgbClr val="86518C"/>
                </a:solidFill>
                <a:latin typeface="Arial" panose="020B0604020202020204" pitchFamily="34" charset="0"/>
                <a:ea typeface="BIZ UDPGothic" panose="020B0400000000000000" pitchFamily="50" charset="-128"/>
              </a:rPr>
              <a:t>4</a:t>
            </a:r>
            <a:r>
              <a:rPr kumimoji="1" lang="ja-JP" altLang="en-US" sz="4000" b="1">
                <a:solidFill>
                  <a:srgbClr val="86518C"/>
                </a:solidFill>
                <a:latin typeface="Arial" panose="020B0604020202020204" pitchFamily="34" charset="0"/>
                <a:ea typeface="BIZ UDPGothic" panose="020B0400000000000000" pitchFamily="50" charset="-128"/>
              </a:rPr>
              <a:t>兆</a:t>
            </a:r>
            <a:r>
              <a:rPr kumimoji="1" lang="en-US" altLang="ja-JP" sz="4000" b="1">
                <a:solidFill>
                  <a:srgbClr val="86518C"/>
                </a:solidFill>
                <a:latin typeface="Arial" panose="020B0604020202020204" pitchFamily="34" charset="0"/>
                <a:ea typeface="BIZ UDPGothic" panose="020B0400000000000000" pitchFamily="50" charset="-128"/>
              </a:rPr>
              <a:t>3,391</a:t>
            </a:r>
            <a:r>
              <a:rPr kumimoji="1" lang="ja-JP" altLang="en-US" sz="4000" b="1">
                <a:solidFill>
                  <a:srgbClr val="86518C"/>
                </a:solidFill>
                <a:latin typeface="Arial" panose="020B0604020202020204" pitchFamily="34" charset="0"/>
                <a:ea typeface="BIZ UDPGothic" panose="020B0400000000000000" pitchFamily="50" charset="-128"/>
              </a:rPr>
              <a:t>億円</a:t>
            </a:r>
          </a:p>
        </p:txBody>
      </p:sp>
      <p:sp>
        <p:nvSpPr>
          <p:cNvPr id="24" name="テキスト ボックス 23">
            <a:extLst>
              <a:ext uri="{FF2B5EF4-FFF2-40B4-BE49-F238E27FC236}">
                <a16:creationId xmlns:a16="http://schemas.microsoft.com/office/drawing/2014/main" id="{DB43B202-4591-5909-E24C-A1936005CEFC}"/>
              </a:ext>
            </a:extLst>
          </p:cNvPr>
          <p:cNvSpPr txBox="1"/>
          <p:nvPr/>
        </p:nvSpPr>
        <p:spPr>
          <a:xfrm>
            <a:off x="6502400" y="5524500"/>
            <a:ext cx="4724400" cy="368300"/>
          </a:xfrm>
          <a:prstGeom prst="rect">
            <a:avLst/>
          </a:prstGeom>
          <a:noFill/>
        </p:spPr>
        <p:txBody>
          <a:bodyPr vert="horz" wrap="square" lIns="0" tIns="0" rIns="0" bIns="0" rtlCol="0" anchor="t">
            <a:noAutofit/>
          </a:bodyPr>
          <a:lstStyle/>
          <a:p>
            <a:r>
              <a:rPr kumimoji="1" lang="ja-JP" altLang="en-US">
                <a:solidFill>
                  <a:srgbClr val="172D4A"/>
                </a:solidFill>
                <a:latin typeface="BIZ UDPGothic" panose="020B0400000000000000" pitchFamily="50" charset="-128"/>
                <a:ea typeface="BIZ UDPGothic" panose="020B0400000000000000" pitchFamily="50" charset="-128"/>
              </a:rPr>
              <a:t>自己株式取得</a:t>
            </a:r>
            <a:r>
              <a:rPr kumimoji="1" lang="en-US" altLang="ja-JP">
                <a:solidFill>
                  <a:srgbClr val="172D4A"/>
                </a:solidFill>
                <a:latin typeface="BIZ UDPGothic" panose="020B0400000000000000" pitchFamily="50" charset="-128"/>
                <a:ea typeface="BIZ UDPGothic" panose="020B0400000000000000" pitchFamily="50" charset="-128"/>
              </a:rPr>
              <a:t>3</a:t>
            </a:r>
            <a:r>
              <a:rPr kumimoji="1" lang="ja-JP" altLang="en-US">
                <a:solidFill>
                  <a:srgbClr val="172D4A"/>
                </a:solidFill>
                <a:latin typeface="BIZ UDPGothic" panose="020B0400000000000000" pitchFamily="50" charset="-128"/>
                <a:ea typeface="BIZ UDPGothic" panose="020B0400000000000000" pitchFamily="50" charset="-128"/>
              </a:rPr>
              <a:t>兆</a:t>
            </a:r>
            <a:r>
              <a:rPr kumimoji="1" lang="en-US" altLang="ja-JP">
                <a:solidFill>
                  <a:srgbClr val="172D4A"/>
                </a:solidFill>
                <a:latin typeface="BIZ UDPGothic" panose="020B0400000000000000" pitchFamily="50" charset="-128"/>
                <a:ea typeface="BIZ UDPGothic" panose="020B0400000000000000" pitchFamily="50" charset="-128"/>
              </a:rPr>
              <a:t>6,569</a:t>
            </a:r>
            <a:r>
              <a:rPr kumimoji="1" lang="ja-JP" altLang="en-US">
                <a:solidFill>
                  <a:srgbClr val="172D4A"/>
                </a:solidFill>
                <a:latin typeface="BIZ UDPGothic" panose="020B0400000000000000" pitchFamily="50" charset="-128"/>
                <a:ea typeface="BIZ UDPGothic" panose="020B0400000000000000" pitchFamily="50" charset="-128"/>
              </a:rPr>
              <a:t>億円が主因</a:t>
            </a:r>
          </a:p>
        </p:txBody>
      </p:sp>
      <p:cxnSp>
        <p:nvCxnSpPr>
          <p:cNvPr id="25" name="直線コネクタ 24">
            <a:extLst>
              <a:ext uri="{FF2B5EF4-FFF2-40B4-BE49-F238E27FC236}">
                <a16:creationId xmlns:a16="http://schemas.microsoft.com/office/drawing/2014/main" id="{0CFD7175-080E-748E-5853-3836B9E4A6B5}"/>
              </a:ext>
            </a:extLst>
          </p:cNvPr>
          <p:cNvCxnSpPr/>
          <p:nvPr/>
        </p:nvCxnSpPr>
        <p:spPr>
          <a:xfrm>
            <a:off x="711200" y="62992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26" name="テキスト ボックス 25">
            <a:extLst>
              <a:ext uri="{FF2B5EF4-FFF2-40B4-BE49-F238E27FC236}">
                <a16:creationId xmlns:a16="http://schemas.microsoft.com/office/drawing/2014/main" id="{EDFB826F-4248-4A93-D4EF-9405E693DBD3}"/>
              </a:ext>
            </a:extLst>
          </p:cNvPr>
          <p:cNvSpPr txBox="1"/>
          <p:nvPr/>
        </p:nvSpPr>
        <p:spPr>
          <a:xfrm>
            <a:off x="711200" y="6413500"/>
            <a:ext cx="9829800" cy="279400"/>
          </a:xfrm>
          <a:prstGeom prst="rect">
            <a:avLst/>
          </a:prstGeom>
          <a:noFill/>
        </p:spPr>
        <p:txBody>
          <a:bodyPr vert="horz" wrap="square" lIns="0" tIns="0" rIns="0" bIns="0" rtlCol="0" anchor="t">
            <a:noAutofit/>
          </a:bodyPr>
          <a:lstStyle/>
          <a:p>
            <a:r>
              <a:rPr kumimoji="1" lang="en-US" altLang="ja-JP" sz="1000">
                <a:solidFill>
                  <a:srgbClr val="526277"/>
                </a:solidFill>
                <a:latin typeface="BIZ UDPGothic" panose="020B0400000000000000" pitchFamily="50" charset="-128"/>
                <a:ea typeface="BIZ UDPGothic" panose="020B0400000000000000" pitchFamily="50" charset="-128"/>
              </a:rPr>
              <a:t>2027_1q_summary_jp.pdf p.7 / 2027_1q_summary_jp.pdf p.13</a:t>
            </a:r>
            <a:endParaRPr kumimoji="1" lang="ja-JP" altLang="en-US" sz="1000">
              <a:solidFill>
                <a:srgbClr val="526277"/>
              </a:solidFill>
              <a:latin typeface="BIZ UDPGothic" panose="020B0400000000000000" pitchFamily="50" charset="-128"/>
              <a:ea typeface="BIZ UDPGothic" panose="020B0400000000000000" pitchFamily="50" charset="-128"/>
            </a:endParaRPr>
          </a:p>
        </p:txBody>
      </p:sp>
      <p:sp>
        <p:nvSpPr>
          <p:cNvPr id="27" name="テキスト ボックス 26">
            <a:extLst>
              <a:ext uri="{FF2B5EF4-FFF2-40B4-BE49-F238E27FC236}">
                <a16:creationId xmlns:a16="http://schemas.microsoft.com/office/drawing/2014/main" id="{9B9B9E6C-B77D-7E8B-4852-9C768710D291}"/>
              </a:ext>
            </a:extLst>
          </p:cNvPr>
          <p:cNvSpPr txBox="1"/>
          <p:nvPr/>
        </p:nvSpPr>
        <p:spPr>
          <a:xfrm>
            <a:off x="10629900" y="6413500"/>
            <a:ext cx="850900" cy="279400"/>
          </a:xfrm>
          <a:prstGeom prst="rect">
            <a:avLst/>
          </a:prstGeom>
          <a:noFill/>
        </p:spPr>
        <p:txBody>
          <a:bodyPr vert="horz" wrap="square" lIns="0" tIns="0" rIns="0" bIns="0" rtlCol="0" anchor="t">
            <a:noAutofit/>
          </a:bodyPr>
          <a:lstStyle/>
          <a:p>
            <a:pPr algn="r"/>
            <a:r>
              <a:rPr kumimoji="1" lang="en-US" altLang="ja-JP" sz="1000">
                <a:solidFill>
                  <a:srgbClr val="526277"/>
                </a:solidFill>
                <a:latin typeface="BIZ UDPGothic" panose="020B0400000000000000" pitchFamily="50" charset="-128"/>
                <a:ea typeface="BIZ UDPGothic" panose="020B0400000000000000" pitchFamily="50" charset="-128"/>
              </a:rPr>
              <a:t>5 / 6</a:t>
            </a:r>
            <a:endParaRPr kumimoji="1" lang="ja-JP" altLang="en-US" sz="1000">
              <a:solidFill>
                <a:srgbClr val="526277"/>
              </a:solidFill>
              <a:latin typeface="BIZ UDPGothic" panose="020B0400000000000000" pitchFamily="50" charset="-128"/>
              <a:ea typeface="BIZ UDPGothic" panose="020B0400000000000000" pitchFamily="50" charset="-128"/>
            </a:endParaRPr>
          </a:p>
        </p:txBody>
      </p:sp>
    </p:spTree>
    <p:extLst>
      <p:ext uri="{BB962C8B-B14F-4D97-AF65-F5344CB8AC3E}">
        <p14:creationId xmlns:p14="http://schemas.microsoft.com/office/powerpoint/2010/main" val="368673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DE_6">
    <p:bg>
      <p:bgPr>
        <a:solidFill>
          <a:srgbClr val="FFFFFF"/>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E179B273-DB7A-3404-11C9-1C5778AEBD13}"/>
              </a:ext>
            </a:extLst>
          </p:cNvPr>
          <p:cNvSpPr/>
          <p:nvPr/>
        </p:nvSpPr>
        <p:spPr>
          <a:xfrm>
            <a:off x="0" y="0"/>
            <a:ext cx="12192000" cy="1714500"/>
          </a:xfrm>
          <a:prstGeom prst="rect">
            <a:avLst/>
          </a:prstGeom>
          <a:solidFill>
            <a:srgbClr val="EAF0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1F452110-897B-CC60-B3A7-71DFB70F8345}"/>
              </a:ext>
            </a:extLst>
          </p:cNvPr>
          <p:cNvSpPr txBox="1"/>
          <p:nvPr/>
        </p:nvSpPr>
        <p:spPr>
          <a:xfrm>
            <a:off x="711200" y="431800"/>
            <a:ext cx="10769600" cy="1219200"/>
          </a:xfrm>
          <a:prstGeom prst="rect">
            <a:avLst/>
          </a:prstGeom>
          <a:noFill/>
        </p:spPr>
        <p:txBody>
          <a:bodyPr vert="horz" wrap="square" lIns="0" tIns="0" rIns="0" bIns="0" rtlCol="0" anchor="t">
            <a:noAutofit/>
          </a:bodyPr>
          <a:lstStyle/>
          <a:p>
            <a:r>
              <a:rPr kumimoji="1" lang="ja-JP" altLang="en-US" sz="3400" b="1">
                <a:solidFill>
                  <a:srgbClr val="172D4A"/>
                </a:solidFill>
                <a:latin typeface="BIZ UDPGothic" panose="020B0400000000000000" pitchFamily="50" charset="-128"/>
                <a:ea typeface="BIZ UDPGothic" panose="020B0400000000000000" pitchFamily="50" charset="-128"/>
              </a:rPr>
              <a:t>本業の費用吸収力と</a:t>
            </a:r>
            <a:r>
              <a:rPr kumimoji="1" lang="en-US" altLang="ja-JP" sz="3400" b="1">
                <a:solidFill>
                  <a:srgbClr val="172D4A"/>
                </a:solidFill>
                <a:latin typeface="BIZ UDPGothic" panose="020B0400000000000000" pitchFamily="50" charset="-128"/>
                <a:ea typeface="BIZ UDPGothic" panose="020B0400000000000000" pitchFamily="50" charset="-128"/>
              </a:rPr>
              <a:t>CF</a:t>
            </a:r>
            <a:r>
              <a:rPr kumimoji="1" lang="ja-JP" altLang="en-US" sz="3400" b="1">
                <a:solidFill>
                  <a:srgbClr val="172D4A"/>
                </a:solidFill>
                <a:latin typeface="BIZ UDPGothic" panose="020B0400000000000000" pitchFamily="50" charset="-128"/>
                <a:ea typeface="BIZ UDPGothic" panose="020B0400000000000000" pitchFamily="50" charset="-128"/>
              </a:rPr>
              <a:t>創出力を継続確認</a:t>
            </a:r>
          </a:p>
        </p:txBody>
      </p:sp>
      <p:cxnSp>
        <p:nvCxnSpPr>
          <p:cNvPr id="4" name="直線コネクタ 3">
            <a:extLst>
              <a:ext uri="{FF2B5EF4-FFF2-40B4-BE49-F238E27FC236}">
                <a16:creationId xmlns:a16="http://schemas.microsoft.com/office/drawing/2014/main" id="{40CD172E-A4B4-7D51-441F-BD9452ED35FA}"/>
              </a:ext>
            </a:extLst>
          </p:cNvPr>
          <p:cNvCxnSpPr/>
          <p:nvPr/>
        </p:nvCxnSpPr>
        <p:spPr>
          <a:xfrm>
            <a:off x="711200" y="17653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04E68CB7-CF61-6ABA-D8AB-6E58DF9F2606}"/>
              </a:ext>
            </a:extLst>
          </p:cNvPr>
          <p:cNvSpPr/>
          <p:nvPr/>
        </p:nvSpPr>
        <p:spPr>
          <a:xfrm>
            <a:off x="711200" y="2019300"/>
            <a:ext cx="5232400" cy="1930400"/>
          </a:xfrm>
          <a:prstGeom prst="rect">
            <a:avLst/>
          </a:prstGeom>
          <a:solidFill>
            <a:srgbClr val="EFF3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D42D2683-7A5F-206A-5565-1BABB0E11A3E}"/>
              </a:ext>
            </a:extLst>
          </p:cNvPr>
          <p:cNvSpPr/>
          <p:nvPr/>
        </p:nvSpPr>
        <p:spPr>
          <a:xfrm>
            <a:off x="711200" y="2019300"/>
            <a:ext cx="38100" cy="1930400"/>
          </a:xfrm>
          <a:prstGeom prst="rect">
            <a:avLst/>
          </a:prstGeom>
          <a:solidFill>
            <a:srgbClr val="245D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501D9209-0676-CEDC-87E3-55574D65EA3D}"/>
              </a:ext>
            </a:extLst>
          </p:cNvPr>
          <p:cNvSpPr/>
          <p:nvPr/>
        </p:nvSpPr>
        <p:spPr>
          <a:xfrm>
            <a:off x="1016000" y="2616200"/>
            <a:ext cx="457200" cy="177800"/>
          </a:xfrm>
          <a:prstGeom prst="ellipse">
            <a:avLst/>
          </a:prstGeom>
          <a:noFill/>
          <a:ln w="35560" cap="flat" cmpd="sng" algn="ctr">
            <a:solidFill>
              <a:srgbClr val="245DA8"/>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1926EA2F-F62F-F6BE-5D26-D7777272010C}"/>
              </a:ext>
            </a:extLst>
          </p:cNvPr>
          <p:cNvSpPr/>
          <p:nvPr/>
        </p:nvSpPr>
        <p:spPr>
          <a:xfrm>
            <a:off x="1016000" y="2717800"/>
            <a:ext cx="457200" cy="177800"/>
          </a:xfrm>
          <a:prstGeom prst="ellipse">
            <a:avLst/>
          </a:prstGeom>
          <a:noFill/>
          <a:ln w="35560" cap="flat" cmpd="sng" algn="ctr">
            <a:solidFill>
              <a:srgbClr val="245DA8"/>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FFB47129-D1B5-A3ED-2E1F-F82D1044BA02}"/>
              </a:ext>
            </a:extLst>
          </p:cNvPr>
          <p:cNvSpPr/>
          <p:nvPr/>
        </p:nvSpPr>
        <p:spPr>
          <a:xfrm>
            <a:off x="1016000" y="2819400"/>
            <a:ext cx="457200" cy="177800"/>
          </a:xfrm>
          <a:prstGeom prst="ellipse">
            <a:avLst/>
          </a:prstGeom>
          <a:noFill/>
          <a:ln w="35560" cap="flat" cmpd="sng" algn="ctr">
            <a:solidFill>
              <a:srgbClr val="245DA8"/>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04634B9A-7ABE-02C0-4967-8E0A5F5345C1}"/>
              </a:ext>
            </a:extLst>
          </p:cNvPr>
          <p:cNvSpPr txBox="1"/>
          <p:nvPr/>
        </p:nvSpPr>
        <p:spPr>
          <a:xfrm>
            <a:off x="1803400" y="2197100"/>
            <a:ext cx="3886200" cy="876300"/>
          </a:xfrm>
          <a:prstGeom prst="rect">
            <a:avLst/>
          </a:prstGeom>
          <a:noFill/>
        </p:spPr>
        <p:txBody>
          <a:bodyPr vert="horz" wrap="square" lIns="0" tIns="0" rIns="0" bIns="0" rtlCol="0" anchor="t">
            <a:noAutofit/>
          </a:bodyPr>
          <a:lstStyle/>
          <a:p>
            <a:r>
              <a:rPr kumimoji="1" lang="zh-TW" altLang="en-US" sz="2600" b="1">
                <a:solidFill>
                  <a:srgbClr val="245DA8"/>
                </a:solidFill>
                <a:latin typeface="BIZ UDPGothic" panose="020B0400000000000000" pitchFamily="50" charset="-128"/>
                <a:ea typeface="BIZ UDPGothic" panose="020B0400000000000000" pitchFamily="50" charset="-128"/>
              </a:rPr>
              <a:t>自動車事業利益</a:t>
            </a:r>
            <a:endParaRPr kumimoji="1" lang="ja-JP" altLang="en-US" sz="2600" b="1">
              <a:solidFill>
                <a:srgbClr val="245DA8"/>
              </a:solidFill>
              <a:latin typeface="BIZ UDPGothic" panose="020B0400000000000000" pitchFamily="50" charset="-128"/>
              <a:ea typeface="BIZ UDPGothic" panose="020B0400000000000000" pitchFamily="50" charset="-128"/>
            </a:endParaRPr>
          </a:p>
        </p:txBody>
      </p:sp>
      <p:sp>
        <p:nvSpPr>
          <p:cNvPr id="11" name="テキスト ボックス 10">
            <a:extLst>
              <a:ext uri="{FF2B5EF4-FFF2-40B4-BE49-F238E27FC236}">
                <a16:creationId xmlns:a16="http://schemas.microsoft.com/office/drawing/2014/main" id="{750B82C4-9EDB-1868-339C-82398F8F3A9C}"/>
              </a:ext>
            </a:extLst>
          </p:cNvPr>
          <p:cNvSpPr txBox="1"/>
          <p:nvPr/>
        </p:nvSpPr>
        <p:spPr>
          <a:xfrm>
            <a:off x="1803400" y="3136900"/>
            <a:ext cx="3886200" cy="660400"/>
          </a:xfrm>
          <a:prstGeom prst="rect">
            <a:avLst/>
          </a:prstGeom>
          <a:noFill/>
        </p:spPr>
        <p:txBody>
          <a:bodyPr vert="horz" wrap="square" lIns="0" tIns="0" rIns="0" bIns="0" rtlCol="0" anchor="t">
            <a:noAutofit/>
          </a:bodyPr>
          <a:lstStyle/>
          <a:p>
            <a:r>
              <a:rPr kumimoji="1" lang="ja-JP" altLang="en-US">
                <a:solidFill>
                  <a:srgbClr val="172D4A"/>
                </a:solidFill>
                <a:latin typeface="BIZ UDPGothic" panose="020B0400000000000000" pitchFamily="50" charset="-128"/>
                <a:ea typeface="BIZ UDPGothic" panose="020B0400000000000000" pitchFamily="50" charset="-128"/>
              </a:rPr>
              <a:t>諸経費増で△</a:t>
            </a:r>
            <a:r>
              <a:rPr kumimoji="1" lang="en-US" altLang="ja-JP">
                <a:solidFill>
                  <a:srgbClr val="172D4A"/>
                </a:solidFill>
                <a:latin typeface="BIZ UDPGothic" panose="020B0400000000000000" pitchFamily="50" charset="-128"/>
                <a:ea typeface="BIZ UDPGothic" panose="020B0400000000000000" pitchFamily="50" charset="-128"/>
              </a:rPr>
              <a:t>21.0%</a:t>
            </a:r>
            <a:r>
              <a:rPr kumimoji="1" lang="ja-JP" altLang="en-US">
                <a:solidFill>
                  <a:srgbClr val="172D4A"/>
                </a:solidFill>
                <a:latin typeface="BIZ UDPGothic" panose="020B0400000000000000" pitchFamily="50" charset="-128"/>
                <a:ea typeface="BIZ UDPGothic" panose="020B0400000000000000" pitchFamily="50" charset="-128"/>
              </a:rPr>
              <a:t>減益</a:t>
            </a:r>
          </a:p>
        </p:txBody>
      </p:sp>
      <p:sp>
        <p:nvSpPr>
          <p:cNvPr id="12" name="正方形/長方形 11">
            <a:extLst>
              <a:ext uri="{FF2B5EF4-FFF2-40B4-BE49-F238E27FC236}">
                <a16:creationId xmlns:a16="http://schemas.microsoft.com/office/drawing/2014/main" id="{435455CB-D1DC-89C3-D5B1-AB33B088C85B}"/>
              </a:ext>
            </a:extLst>
          </p:cNvPr>
          <p:cNvSpPr/>
          <p:nvPr/>
        </p:nvSpPr>
        <p:spPr>
          <a:xfrm>
            <a:off x="6248400" y="2019300"/>
            <a:ext cx="5232400" cy="1930400"/>
          </a:xfrm>
          <a:prstGeom prst="rect">
            <a:avLst/>
          </a:prstGeom>
          <a:solidFill>
            <a:srgbClr val="ECF5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A1DCE3F1-2A61-1CF3-7DC2-315684570167}"/>
              </a:ext>
            </a:extLst>
          </p:cNvPr>
          <p:cNvSpPr/>
          <p:nvPr/>
        </p:nvSpPr>
        <p:spPr>
          <a:xfrm>
            <a:off x="6248400" y="2019300"/>
            <a:ext cx="38100" cy="1930400"/>
          </a:xfrm>
          <a:prstGeom prst="rect">
            <a:avLst/>
          </a:prstGeom>
          <a:solidFill>
            <a:srgbClr val="087A7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13">
            <a:extLst>
              <a:ext uri="{FF2B5EF4-FFF2-40B4-BE49-F238E27FC236}">
                <a16:creationId xmlns:a16="http://schemas.microsoft.com/office/drawing/2014/main" id="{334FFD53-DE29-BF09-AF96-23F8492B50B2}"/>
              </a:ext>
            </a:extLst>
          </p:cNvPr>
          <p:cNvSpPr/>
          <p:nvPr/>
        </p:nvSpPr>
        <p:spPr>
          <a:xfrm>
            <a:off x="6527800" y="2514600"/>
            <a:ext cx="508000" cy="508000"/>
          </a:xfrm>
          <a:prstGeom prst="ellipse">
            <a:avLst/>
          </a:prstGeom>
          <a:noFill/>
          <a:ln w="35560" cap="flat" cmpd="sng" algn="ctr">
            <a:solidFill>
              <a:srgbClr val="087A72"/>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4FAD5C04-77FD-0F43-413F-3B1508D38A41}"/>
              </a:ext>
            </a:extLst>
          </p:cNvPr>
          <p:cNvSpPr/>
          <p:nvPr/>
        </p:nvSpPr>
        <p:spPr>
          <a:xfrm>
            <a:off x="6654800" y="2514600"/>
            <a:ext cx="254000" cy="508000"/>
          </a:xfrm>
          <a:prstGeom prst="ellipse">
            <a:avLst/>
          </a:prstGeom>
          <a:noFill/>
          <a:ln w="35560" cap="flat" cmpd="sng" algn="ctr">
            <a:solidFill>
              <a:srgbClr val="087A72"/>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コネクタ 15">
            <a:extLst>
              <a:ext uri="{FF2B5EF4-FFF2-40B4-BE49-F238E27FC236}">
                <a16:creationId xmlns:a16="http://schemas.microsoft.com/office/drawing/2014/main" id="{C7E4002D-4CC2-A90D-F811-23E11BF32173}"/>
              </a:ext>
            </a:extLst>
          </p:cNvPr>
          <p:cNvCxnSpPr/>
          <p:nvPr/>
        </p:nvCxnSpPr>
        <p:spPr>
          <a:xfrm>
            <a:off x="6527800" y="2768600"/>
            <a:ext cx="508000" cy="0"/>
          </a:xfrm>
          <a:prstGeom prst="line">
            <a:avLst/>
          </a:prstGeom>
          <a:ln w="35560">
            <a:solidFill>
              <a:srgbClr val="087A72"/>
            </a:solidFill>
          </a:ln>
        </p:spPr>
        <p:style>
          <a:lnRef idx="2">
            <a:schemeClr val="accent1"/>
          </a:lnRef>
          <a:fillRef idx="0">
            <a:schemeClr val="accent1"/>
          </a:fillRef>
          <a:effectRef idx="1">
            <a:schemeClr val="accent1"/>
          </a:effectRef>
          <a:fontRef idx="minor">
            <a:schemeClr val="tx1"/>
          </a:fontRef>
        </p:style>
      </p:cxnSp>
      <p:sp>
        <p:nvSpPr>
          <p:cNvPr id="17" name="テキスト ボックス 16">
            <a:extLst>
              <a:ext uri="{FF2B5EF4-FFF2-40B4-BE49-F238E27FC236}">
                <a16:creationId xmlns:a16="http://schemas.microsoft.com/office/drawing/2014/main" id="{FAF93FB3-2CC1-22C3-B0B8-0A592DAC58DA}"/>
              </a:ext>
            </a:extLst>
          </p:cNvPr>
          <p:cNvSpPr txBox="1"/>
          <p:nvPr/>
        </p:nvSpPr>
        <p:spPr>
          <a:xfrm>
            <a:off x="7340600" y="2197100"/>
            <a:ext cx="3886200" cy="876300"/>
          </a:xfrm>
          <a:prstGeom prst="rect">
            <a:avLst/>
          </a:prstGeom>
          <a:noFill/>
        </p:spPr>
        <p:txBody>
          <a:bodyPr vert="horz" wrap="square" lIns="0" tIns="0" rIns="0" bIns="0" rtlCol="0" anchor="t">
            <a:noAutofit/>
          </a:bodyPr>
          <a:lstStyle/>
          <a:p>
            <a:r>
              <a:rPr kumimoji="1" lang="ja-JP" altLang="en-US" sz="2600" b="1">
                <a:solidFill>
                  <a:srgbClr val="087A72"/>
                </a:solidFill>
                <a:latin typeface="BIZ UDPGothic" panose="020B0400000000000000" pitchFamily="50" charset="-128"/>
                <a:ea typeface="BIZ UDPGothic" panose="020B0400000000000000" pitchFamily="50" charset="-128"/>
              </a:rPr>
              <a:t>日本・アジア減益</a:t>
            </a:r>
          </a:p>
        </p:txBody>
      </p:sp>
      <p:sp>
        <p:nvSpPr>
          <p:cNvPr id="18" name="テキスト ボックス 17">
            <a:extLst>
              <a:ext uri="{FF2B5EF4-FFF2-40B4-BE49-F238E27FC236}">
                <a16:creationId xmlns:a16="http://schemas.microsoft.com/office/drawing/2014/main" id="{440C63E8-FDE1-4FF6-466C-B8B805E068BD}"/>
              </a:ext>
            </a:extLst>
          </p:cNvPr>
          <p:cNvSpPr txBox="1"/>
          <p:nvPr/>
        </p:nvSpPr>
        <p:spPr>
          <a:xfrm>
            <a:off x="7340600" y="3136900"/>
            <a:ext cx="3886200" cy="660400"/>
          </a:xfrm>
          <a:prstGeom prst="rect">
            <a:avLst/>
          </a:prstGeom>
          <a:noFill/>
        </p:spPr>
        <p:txBody>
          <a:bodyPr vert="horz" wrap="square" lIns="0" tIns="0" rIns="0" bIns="0" rtlCol="0" anchor="t">
            <a:noAutofit/>
          </a:bodyPr>
          <a:lstStyle/>
          <a:p>
            <a:r>
              <a:rPr kumimoji="1" lang="ja-JP" altLang="en-US">
                <a:solidFill>
                  <a:srgbClr val="172D4A"/>
                </a:solidFill>
                <a:latin typeface="BIZ UDPGothic" panose="020B0400000000000000" pitchFamily="50" charset="-128"/>
                <a:ea typeface="BIZ UDPGothic" panose="020B0400000000000000" pitchFamily="50" charset="-128"/>
              </a:rPr>
              <a:t>諸経費増加等が要因と記載</a:t>
            </a:r>
          </a:p>
        </p:txBody>
      </p:sp>
      <p:sp>
        <p:nvSpPr>
          <p:cNvPr id="19" name="正方形/長方形 18">
            <a:extLst>
              <a:ext uri="{FF2B5EF4-FFF2-40B4-BE49-F238E27FC236}">
                <a16:creationId xmlns:a16="http://schemas.microsoft.com/office/drawing/2014/main" id="{76B34F2E-44FD-E2A0-74E5-2F5F2A20D744}"/>
              </a:ext>
            </a:extLst>
          </p:cNvPr>
          <p:cNvSpPr/>
          <p:nvPr/>
        </p:nvSpPr>
        <p:spPr>
          <a:xfrm>
            <a:off x="711200" y="4076700"/>
            <a:ext cx="5232400" cy="1930400"/>
          </a:xfrm>
          <a:prstGeom prst="rect">
            <a:avLst/>
          </a:prstGeom>
          <a:solidFill>
            <a:srgbClr val="F7F3E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FB134DA8-0692-80C2-8F5F-D2D6F1CB4156}"/>
              </a:ext>
            </a:extLst>
          </p:cNvPr>
          <p:cNvSpPr/>
          <p:nvPr/>
        </p:nvSpPr>
        <p:spPr>
          <a:xfrm>
            <a:off x="711200" y="4076700"/>
            <a:ext cx="38100" cy="1930400"/>
          </a:xfrm>
          <a:prstGeom prst="rect">
            <a:avLst/>
          </a:prstGeom>
          <a:solidFill>
            <a:srgbClr val="945F1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楕円 20">
            <a:extLst>
              <a:ext uri="{FF2B5EF4-FFF2-40B4-BE49-F238E27FC236}">
                <a16:creationId xmlns:a16="http://schemas.microsoft.com/office/drawing/2014/main" id="{B59C6100-430A-8FD7-31EA-366A5B96F279}"/>
              </a:ext>
            </a:extLst>
          </p:cNvPr>
          <p:cNvSpPr/>
          <p:nvPr/>
        </p:nvSpPr>
        <p:spPr>
          <a:xfrm>
            <a:off x="1016000" y="4673600"/>
            <a:ext cx="457200" cy="177800"/>
          </a:xfrm>
          <a:prstGeom prst="ellipse">
            <a:avLst/>
          </a:prstGeom>
          <a:noFill/>
          <a:ln w="35560" cap="flat" cmpd="sng" algn="ctr">
            <a:solidFill>
              <a:srgbClr val="945F1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楕円 21">
            <a:extLst>
              <a:ext uri="{FF2B5EF4-FFF2-40B4-BE49-F238E27FC236}">
                <a16:creationId xmlns:a16="http://schemas.microsoft.com/office/drawing/2014/main" id="{24ECDFB8-01DC-FF04-CA7C-1D80F4DD5B6C}"/>
              </a:ext>
            </a:extLst>
          </p:cNvPr>
          <p:cNvSpPr/>
          <p:nvPr/>
        </p:nvSpPr>
        <p:spPr>
          <a:xfrm>
            <a:off x="1016000" y="4775200"/>
            <a:ext cx="457200" cy="177800"/>
          </a:xfrm>
          <a:prstGeom prst="ellipse">
            <a:avLst/>
          </a:prstGeom>
          <a:noFill/>
          <a:ln w="35560" cap="flat" cmpd="sng" algn="ctr">
            <a:solidFill>
              <a:srgbClr val="945F1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楕円 22">
            <a:extLst>
              <a:ext uri="{FF2B5EF4-FFF2-40B4-BE49-F238E27FC236}">
                <a16:creationId xmlns:a16="http://schemas.microsoft.com/office/drawing/2014/main" id="{4F6FA4C7-4E00-82FE-7BD5-CBA9EFCFAF01}"/>
              </a:ext>
            </a:extLst>
          </p:cNvPr>
          <p:cNvSpPr/>
          <p:nvPr/>
        </p:nvSpPr>
        <p:spPr>
          <a:xfrm>
            <a:off x="1016000" y="4876800"/>
            <a:ext cx="457200" cy="177800"/>
          </a:xfrm>
          <a:prstGeom prst="ellipse">
            <a:avLst/>
          </a:prstGeom>
          <a:noFill/>
          <a:ln w="35560" cap="flat" cmpd="sng" algn="ctr">
            <a:solidFill>
              <a:srgbClr val="945F1D"/>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97EFB8B0-79BB-6901-55DB-1456564D4740}"/>
              </a:ext>
            </a:extLst>
          </p:cNvPr>
          <p:cNvSpPr txBox="1"/>
          <p:nvPr/>
        </p:nvSpPr>
        <p:spPr>
          <a:xfrm>
            <a:off x="1803400" y="4254500"/>
            <a:ext cx="3886200" cy="876300"/>
          </a:xfrm>
          <a:prstGeom prst="rect">
            <a:avLst/>
          </a:prstGeom>
          <a:noFill/>
        </p:spPr>
        <p:txBody>
          <a:bodyPr vert="horz" wrap="square" lIns="0" tIns="0" rIns="0" bIns="0" rtlCol="0" anchor="t">
            <a:noAutofit/>
          </a:bodyPr>
          <a:lstStyle/>
          <a:p>
            <a:r>
              <a:rPr kumimoji="1" lang="ja-JP" altLang="en-US" sz="2600" b="1">
                <a:solidFill>
                  <a:srgbClr val="945F1D"/>
                </a:solidFill>
                <a:latin typeface="BIZ UDPGothic" panose="020B0400000000000000" pitchFamily="50" charset="-128"/>
                <a:ea typeface="BIZ UDPGothic" panose="020B0400000000000000" pitchFamily="50" charset="-128"/>
              </a:rPr>
              <a:t>自己株式取得</a:t>
            </a:r>
          </a:p>
        </p:txBody>
      </p:sp>
      <p:sp>
        <p:nvSpPr>
          <p:cNvPr id="25" name="テキスト ボックス 24">
            <a:extLst>
              <a:ext uri="{FF2B5EF4-FFF2-40B4-BE49-F238E27FC236}">
                <a16:creationId xmlns:a16="http://schemas.microsoft.com/office/drawing/2014/main" id="{326DE3CD-B549-11B7-705B-A4CEFE738C24}"/>
              </a:ext>
            </a:extLst>
          </p:cNvPr>
          <p:cNvSpPr txBox="1"/>
          <p:nvPr/>
        </p:nvSpPr>
        <p:spPr>
          <a:xfrm>
            <a:off x="1803400" y="5194300"/>
            <a:ext cx="3886200" cy="660400"/>
          </a:xfrm>
          <a:prstGeom prst="rect">
            <a:avLst/>
          </a:prstGeom>
          <a:noFill/>
        </p:spPr>
        <p:txBody>
          <a:bodyPr vert="horz" wrap="square" lIns="0" tIns="0" rIns="0" bIns="0" rtlCol="0" anchor="t">
            <a:noAutofit/>
          </a:bodyPr>
          <a:lstStyle/>
          <a:p>
            <a:r>
              <a:rPr kumimoji="1" lang="en-US" altLang="ja-JP">
                <a:solidFill>
                  <a:srgbClr val="172D4A"/>
                </a:solidFill>
                <a:latin typeface="BIZ UDPGothic" panose="020B0400000000000000" pitchFamily="50" charset="-128"/>
                <a:ea typeface="BIZ UDPGothic" panose="020B0400000000000000" pitchFamily="50" charset="-128"/>
              </a:rPr>
              <a:t>3,657</a:t>
            </a:r>
            <a:r>
              <a:rPr kumimoji="1" lang="ja-JP" altLang="en-US">
                <a:solidFill>
                  <a:srgbClr val="172D4A"/>
                </a:solidFill>
                <a:latin typeface="BIZ UDPGothic" panose="020B0400000000000000" pitchFamily="50" charset="-128"/>
                <a:ea typeface="BIZ UDPGothic" panose="020B0400000000000000" pitchFamily="50" charset="-128"/>
              </a:rPr>
              <a:t>億円で資本減少</a:t>
            </a:r>
          </a:p>
        </p:txBody>
      </p:sp>
      <p:sp>
        <p:nvSpPr>
          <p:cNvPr id="26" name="正方形/長方形 25">
            <a:extLst>
              <a:ext uri="{FF2B5EF4-FFF2-40B4-BE49-F238E27FC236}">
                <a16:creationId xmlns:a16="http://schemas.microsoft.com/office/drawing/2014/main" id="{9FC81B5B-38D2-B085-A6F7-6618E81D40DA}"/>
              </a:ext>
            </a:extLst>
          </p:cNvPr>
          <p:cNvSpPr/>
          <p:nvPr/>
        </p:nvSpPr>
        <p:spPr>
          <a:xfrm>
            <a:off x="6248400" y="4076700"/>
            <a:ext cx="5232400" cy="1930400"/>
          </a:xfrm>
          <a:prstGeom prst="rect">
            <a:avLst/>
          </a:prstGeom>
          <a:solidFill>
            <a:srgbClr val="F6F2F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C8C6E1A0-1E7C-836B-09CA-753AA6887B5C}"/>
              </a:ext>
            </a:extLst>
          </p:cNvPr>
          <p:cNvSpPr/>
          <p:nvPr/>
        </p:nvSpPr>
        <p:spPr>
          <a:xfrm>
            <a:off x="6248400" y="4076700"/>
            <a:ext cx="38100" cy="1930400"/>
          </a:xfrm>
          <a:prstGeom prst="rect">
            <a:avLst/>
          </a:prstGeom>
          <a:solidFill>
            <a:srgbClr val="86518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楕円 27">
            <a:extLst>
              <a:ext uri="{FF2B5EF4-FFF2-40B4-BE49-F238E27FC236}">
                <a16:creationId xmlns:a16="http://schemas.microsoft.com/office/drawing/2014/main" id="{D227FD1C-B41C-210A-E4A5-7F518E011543}"/>
              </a:ext>
            </a:extLst>
          </p:cNvPr>
          <p:cNvSpPr/>
          <p:nvPr/>
        </p:nvSpPr>
        <p:spPr>
          <a:xfrm>
            <a:off x="6553200" y="4673600"/>
            <a:ext cx="457200" cy="177800"/>
          </a:xfrm>
          <a:prstGeom prst="ellipse">
            <a:avLst/>
          </a:prstGeom>
          <a:noFill/>
          <a:ln w="35560" cap="flat" cmpd="sng" algn="ctr">
            <a:solidFill>
              <a:srgbClr val="86518C"/>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楕円 28">
            <a:extLst>
              <a:ext uri="{FF2B5EF4-FFF2-40B4-BE49-F238E27FC236}">
                <a16:creationId xmlns:a16="http://schemas.microsoft.com/office/drawing/2014/main" id="{D42E4C95-AFE9-7741-5C33-6CA9DEC532D9}"/>
              </a:ext>
            </a:extLst>
          </p:cNvPr>
          <p:cNvSpPr/>
          <p:nvPr/>
        </p:nvSpPr>
        <p:spPr>
          <a:xfrm>
            <a:off x="6553200" y="4775200"/>
            <a:ext cx="457200" cy="177800"/>
          </a:xfrm>
          <a:prstGeom prst="ellipse">
            <a:avLst/>
          </a:prstGeom>
          <a:noFill/>
          <a:ln w="35560" cap="flat" cmpd="sng" algn="ctr">
            <a:solidFill>
              <a:srgbClr val="86518C"/>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楕円 29">
            <a:extLst>
              <a:ext uri="{FF2B5EF4-FFF2-40B4-BE49-F238E27FC236}">
                <a16:creationId xmlns:a16="http://schemas.microsoft.com/office/drawing/2014/main" id="{A498BBC8-781C-E8F5-4FE4-335BDDE21E86}"/>
              </a:ext>
            </a:extLst>
          </p:cNvPr>
          <p:cNvSpPr/>
          <p:nvPr/>
        </p:nvSpPr>
        <p:spPr>
          <a:xfrm>
            <a:off x="6553200" y="4876800"/>
            <a:ext cx="457200" cy="177800"/>
          </a:xfrm>
          <a:prstGeom prst="ellipse">
            <a:avLst/>
          </a:prstGeom>
          <a:noFill/>
          <a:ln w="35560" cap="flat" cmpd="sng" algn="ctr">
            <a:solidFill>
              <a:srgbClr val="86518C"/>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9842C186-7416-6EA0-49F3-EE88179FE8BC}"/>
              </a:ext>
            </a:extLst>
          </p:cNvPr>
          <p:cNvSpPr txBox="1"/>
          <p:nvPr/>
        </p:nvSpPr>
        <p:spPr>
          <a:xfrm>
            <a:off x="7340600" y="4254500"/>
            <a:ext cx="3886200" cy="876300"/>
          </a:xfrm>
          <a:prstGeom prst="rect">
            <a:avLst/>
          </a:prstGeom>
          <a:noFill/>
        </p:spPr>
        <p:txBody>
          <a:bodyPr vert="horz" wrap="square" lIns="0" tIns="0" rIns="0" bIns="0" rtlCol="0" anchor="t">
            <a:noAutofit/>
          </a:bodyPr>
          <a:lstStyle/>
          <a:p>
            <a:r>
              <a:rPr kumimoji="1" lang="ja-JP" altLang="en-US" sz="2600" b="1">
                <a:solidFill>
                  <a:srgbClr val="86518C"/>
                </a:solidFill>
                <a:latin typeface="BIZ UDPGothic" panose="020B0400000000000000" pitchFamily="50" charset="-128"/>
                <a:ea typeface="BIZ UDPGothic" panose="020B0400000000000000" pitchFamily="50" charset="-128"/>
              </a:rPr>
              <a:t>営業</a:t>
            </a:r>
            <a:r>
              <a:rPr kumimoji="1" lang="en-US" altLang="ja-JP" sz="2600" b="1">
                <a:solidFill>
                  <a:srgbClr val="86518C"/>
                </a:solidFill>
                <a:latin typeface="BIZ UDPGothic" panose="020B0400000000000000" pitchFamily="50" charset="-128"/>
                <a:ea typeface="BIZ UDPGothic" panose="020B0400000000000000" pitchFamily="50" charset="-128"/>
              </a:rPr>
              <a:t>CF</a:t>
            </a:r>
            <a:r>
              <a:rPr kumimoji="1" lang="ja-JP" altLang="en-US" sz="2600" b="1">
                <a:solidFill>
                  <a:srgbClr val="86518C"/>
                </a:solidFill>
                <a:latin typeface="BIZ UDPGothic" panose="020B0400000000000000" pitchFamily="50" charset="-128"/>
                <a:ea typeface="BIZ UDPGothic" panose="020B0400000000000000" pitchFamily="50" charset="-128"/>
              </a:rPr>
              <a:t>減少</a:t>
            </a:r>
          </a:p>
        </p:txBody>
      </p:sp>
      <p:sp>
        <p:nvSpPr>
          <p:cNvPr id="32" name="テキスト ボックス 31">
            <a:extLst>
              <a:ext uri="{FF2B5EF4-FFF2-40B4-BE49-F238E27FC236}">
                <a16:creationId xmlns:a16="http://schemas.microsoft.com/office/drawing/2014/main" id="{33D674CD-839B-44ED-CF2F-CF04DE627B03}"/>
              </a:ext>
            </a:extLst>
          </p:cNvPr>
          <p:cNvSpPr txBox="1"/>
          <p:nvPr/>
        </p:nvSpPr>
        <p:spPr>
          <a:xfrm>
            <a:off x="7340600" y="5194300"/>
            <a:ext cx="3886200" cy="660400"/>
          </a:xfrm>
          <a:prstGeom prst="rect">
            <a:avLst/>
          </a:prstGeom>
          <a:noFill/>
        </p:spPr>
        <p:txBody>
          <a:bodyPr vert="horz" wrap="square" lIns="0" tIns="0" rIns="0" bIns="0" rtlCol="0" anchor="t">
            <a:noAutofit/>
          </a:bodyPr>
          <a:lstStyle/>
          <a:p>
            <a:r>
              <a:rPr kumimoji="1" lang="en-US" altLang="ja-JP">
                <a:solidFill>
                  <a:srgbClr val="172D4A"/>
                </a:solidFill>
                <a:latin typeface="BIZ UDPGothic" panose="020B0400000000000000" pitchFamily="50" charset="-128"/>
                <a:ea typeface="BIZ UDPGothic" panose="020B0400000000000000" pitchFamily="50" charset="-128"/>
              </a:rPr>
              <a:t>5,365</a:t>
            </a:r>
            <a:r>
              <a:rPr kumimoji="1" lang="ja-JP" altLang="en-US">
                <a:solidFill>
                  <a:srgbClr val="172D4A"/>
                </a:solidFill>
                <a:latin typeface="BIZ UDPGothic" panose="020B0400000000000000" pitchFamily="50" charset="-128"/>
                <a:ea typeface="BIZ UDPGothic" panose="020B0400000000000000" pitchFamily="50" charset="-128"/>
              </a:rPr>
              <a:t>億円へ急減</a:t>
            </a:r>
          </a:p>
        </p:txBody>
      </p:sp>
      <p:cxnSp>
        <p:nvCxnSpPr>
          <p:cNvPr id="33" name="直線コネクタ 32">
            <a:extLst>
              <a:ext uri="{FF2B5EF4-FFF2-40B4-BE49-F238E27FC236}">
                <a16:creationId xmlns:a16="http://schemas.microsoft.com/office/drawing/2014/main" id="{CB2BC60E-2242-B7A5-1AD7-27590B4E8394}"/>
              </a:ext>
            </a:extLst>
          </p:cNvPr>
          <p:cNvCxnSpPr/>
          <p:nvPr/>
        </p:nvCxnSpPr>
        <p:spPr>
          <a:xfrm>
            <a:off x="711200" y="6299200"/>
            <a:ext cx="10769600" cy="0"/>
          </a:xfrm>
          <a:prstGeom prst="line">
            <a:avLst/>
          </a:prstGeom>
          <a:ln w="12700">
            <a:solidFill>
              <a:srgbClr val="EAF0F8"/>
            </a:solidFill>
          </a:ln>
        </p:spPr>
        <p:style>
          <a:lnRef idx="2">
            <a:schemeClr val="accent1"/>
          </a:lnRef>
          <a:fillRef idx="0">
            <a:schemeClr val="accent1"/>
          </a:fillRef>
          <a:effectRef idx="1">
            <a:schemeClr val="accent1"/>
          </a:effectRef>
          <a:fontRef idx="minor">
            <a:schemeClr val="tx1"/>
          </a:fontRef>
        </p:style>
      </p:cxnSp>
      <p:sp>
        <p:nvSpPr>
          <p:cNvPr id="34" name="テキスト ボックス 33">
            <a:extLst>
              <a:ext uri="{FF2B5EF4-FFF2-40B4-BE49-F238E27FC236}">
                <a16:creationId xmlns:a16="http://schemas.microsoft.com/office/drawing/2014/main" id="{9E90100D-C046-47E1-9DDB-09F5E69B2DC3}"/>
              </a:ext>
            </a:extLst>
          </p:cNvPr>
          <p:cNvSpPr txBox="1"/>
          <p:nvPr/>
        </p:nvSpPr>
        <p:spPr>
          <a:xfrm>
            <a:off x="711200" y="6413500"/>
            <a:ext cx="9829800" cy="279400"/>
          </a:xfrm>
          <a:prstGeom prst="rect">
            <a:avLst/>
          </a:prstGeom>
          <a:noFill/>
        </p:spPr>
        <p:txBody>
          <a:bodyPr vert="horz" wrap="square" lIns="0" tIns="0" rIns="0" bIns="0" rtlCol="0" anchor="t">
            <a:noAutofit/>
          </a:bodyPr>
          <a:lstStyle/>
          <a:p>
            <a:r>
              <a:rPr kumimoji="1" lang="en-US" altLang="ja-JP" sz="1000">
                <a:solidFill>
                  <a:srgbClr val="526277"/>
                </a:solidFill>
                <a:latin typeface="BIZ UDPGothic" panose="020B0400000000000000" pitchFamily="50" charset="-128"/>
                <a:ea typeface="BIZ UDPGothic" panose="020B0400000000000000" pitchFamily="50" charset="-128"/>
              </a:rPr>
              <a:t>2027_1q_summary_jp.pdf p.5 / 2027_1q_summary_jp.pdf p.13</a:t>
            </a:r>
            <a:endParaRPr kumimoji="1" lang="ja-JP" altLang="en-US" sz="1000">
              <a:solidFill>
                <a:srgbClr val="526277"/>
              </a:solidFill>
              <a:latin typeface="BIZ UDPGothic" panose="020B0400000000000000" pitchFamily="50" charset="-128"/>
              <a:ea typeface="BIZ UDPGothic" panose="020B0400000000000000" pitchFamily="50" charset="-128"/>
            </a:endParaRPr>
          </a:p>
        </p:txBody>
      </p:sp>
      <p:sp>
        <p:nvSpPr>
          <p:cNvPr id="35" name="テキスト ボックス 34">
            <a:extLst>
              <a:ext uri="{FF2B5EF4-FFF2-40B4-BE49-F238E27FC236}">
                <a16:creationId xmlns:a16="http://schemas.microsoft.com/office/drawing/2014/main" id="{801EC48C-4EAF-136F-6C0A-E9858B7E3D5D}"/>
              </a:ext>
            </a:extLst>
          </p:cNvPr>
          <p:cNvSpPr txBox="1"/>
          <p:nvPr/>
        </p:nvSpPr>
        <p:spPr>
          <a:xfrm>
            <a:off x="10629900" y="6413500"/>
            <a:ext cx="850900" cy="279400"/>
          </a:xfrm>
          <a:prstGeom prst="rect">
            <a:avLst/>
          </a:prstGeom>
          <a:noFill/>
        </p:spPr>
        <p:txBody>
          <a:bodyPr vert="horz" wrap="square" lIns="0" tIns="0" rIns="0" bIns="0" rtlCol="0" anchor="t">
            <a:noAutofit/>
          </a:bodyPr>
          <a:lstStyle/>
          <a:p>
            <a:pPr algn="r"/>
            <a:r>
              <a:rPr kumimoji="1" lang="en-US" altLang="ja-JP" sz="1000">
                <a:solidFill>
                  <a:srgbClr val="526277"/>
                </a:solidFill>
                <a:latin typeface="BIZ UDPGothic" panose="020B0400000000000000" pitchFamily="50" charset="-128"/>
                <a:ea typeface="BIZ UDPGothic" panose="020B0400000000000000" pitchFamily="50" charset="-128"/>
              </a:rPr>
              <a:t>6 / 6</a:t>
            </a:r>
            <a:endParaRPr kumimoji="1" lang="ja-JP" altLang="en-US" sz="1000">
              <a:solidFill>
                <a:srgbClr val="526277"/>
              </a:solidFill>
              <a:latin typeface="BIZ UDPGothic" panose="020B0400000000000000" pitchFamily="50" charset="-128"/>
              <a:ea typeface="BIZ UDPGothic" panose="020B0400000000000000" pitchFamily="50" charset="-128"/>
            </a:endParaRPr>
          </a:p>
        </p:txBody>
      </p:sp>
    </p:spTree>
    <p:extLst>
      <p:ext uri="{BB962C8B-B14F-4D97-AF65-F5344CB8AC3E}">
        <p14:creationId xmlns:p14="http://schemas.microsoft.com/office/powerpoint/2010/main" val="3249779982"/>
      </p:ext>
    </p:extLst>
  </p:cSld>
  <p:clrMapOvr>
    <a:masterClrMapping/>
  </p:clrMapOvr>
</p:sld>
</file>

<file path=ppt/theme/theme1.xml><?xml version="1.0" encoding="utf-8"?>
<a:theme xmlns:a="http://schemas.openxmlformats.org/drawingml/2006/main" name="Office テーマ">
  <a:themeElements>
    <a:clrScheme name="Office">
      <a:dk1>
        <a:srgbClr val="172D4A"/>
      </a:dk1>
      <a:lt1>
        <a:sysClr val="window" lastClr="FFFFFF"/>
      </a:lt1>
      <a:dk2>
        <a:srgbClr val="0E2841"/>
      </a:dk2>
      <a:lt2>
        <a:srgbClr val="E8E8E8"/>
      </a:lt2>
      <a:accent1>
        <a:srgbClr val="245DA8"/>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2316</Words>
  <Application>Microsoft Office PowerPoint</Application>
  <PresentationFormat>ユーザー設定</PresentationFormat>
  <Paragraphs>95</Paragraphs>
  <Slides>6</Slides>
  <Notes>6</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6</vt:i4>
      </vt:variant>
    </vt:vector>
  </HeadingPairs>
  <TitlesOfParts>
    <vt:vector size="11" baseType="lpstr">
      <vt:lpstr>BIZ UDPGothic</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Designer Extention</dc:creator>
  <cp:lastModifiedBy>Designer Extention</cp:lastModifiedBy>
  <cp:revision>1</cp:revision>
  <dcterms:created xsi:type="dcterms:W3CDTF">2026-10-01T06:12:10Z</dcterms:created>
  <dcterms:modified xsi:type="dcterms:W3CDTF">2026-10-01T06:12:10Z</dcterms:modified>
</cp:coreProperties>
</file>