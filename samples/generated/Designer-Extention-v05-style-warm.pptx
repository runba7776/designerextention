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6EFD00-53FF-4486-B3DB-156EFAB8BAB5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DBAEC7-84BE-4C18-AE94-412716B489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8586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題名を中央または左上の広い領域に、導入を下に置く
用途</a:t>
            </a:r>
            <a:r>
              <a:rPr kumimoji="1" lang="en-US" altLang="ja-JP"/>
              <a:t>: </a:t>
            </a:r>
            <a:r>
              <a:rPr kumimoji="1" lang="ja-JP" altLang="en-US"/>
              <a:t>題名と導入を大きく見せる表紙
注意</a:t>
            </a:r>
            <a:r>
              <a:rPr kumimoji="1" lang="en-US" altLang="ja-JP"/>
              <a:t>: </a:t>
            </a:r>
            <a:r>
              <a:rPr kumimoji="1" lang="ja-JP" altLang="en-US"/>
              <a:t>本文のページには使用しない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36</a:t>
            </a:r>
            <a:r>
              <a:rPr kumimoji="1" lang="ja-JP" altLang="en-US"/>
              <a:t>文字を目安にする。枠の実測を優先する。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くっきり読みやすく・編集できる図形
同じ条件で情報を確かめます。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DBAEC7-84BE-4C18-AE94-412716B48986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24321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各対象の名前を色帯に置き、その下の枠に同じ高さで説明をそろえる
用途</a:t>
            </a:r>
            <a:r>
              <a:rPr kumimoji="1" lang="en-US" altLang="ja-JP"/>
              <a:t>: </a:t>
            </a:r>
            <a:r>
              <a:rPr kumimoji="1" lang="ja-JP" altLang="en-US"/>
              <a:t>対象名と説明の対応をはっきりさせたい比較
注意</a:t>
            </a:r>
            <a:r>
              <a:rPr kumimoji="1" lang="en-US" altLang="ja-JP"/>
              <a:t>: </a:t>
            </a:r>
            <a:r>
              <a:rPr kumimoji="1" lang="ja-JP" altLang="en-US"/>
              <a:t>比較条件が違う対象は条件を明記する
文字量</a:t>
            </a:r>
            <a:r>
              <a:rPr kumimoji="1" lang="en-US" altLang="ja-JP"/>
              <a:t>: </a:t>
            </a:r>
            <a:r>
              <a:rPr kumimoji="1" lang="ja-JP" altLang="en-US"/>
              <a:t>対象名</a:t>
            </a:r>
            <a:r>
              <a:rPr kumimoji="1" lang="en-US" altLang="ja-JP"/>
              <a:t>18</a:t>
            </a:r>
            <a:r>
              <a:rPr kumimoji="1" lang="ja-JP" altLang="en-US"/>
              <a:t>文字、説明</a:t>
            </a:r>
            <a:r>
              <a:rPr kumimoji="1" lang="en-US" altLang="ja-JP"/>
              <a:t>75</a:t>
            </a:r>
            <a:r>
              <a:rPr kumimoji="1" lang="ja-JP" altLang="en-US"/>
              <a:t>文字。値を示す場合は単位と条件を残す。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DBAEC7-84BE-4C18-AE94-412716B48986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9215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横長の長方形ごとに、左へ項目名、右へ説明を配置
用途</a:t>
            </a:r>
            <a:r>
              <a:rPr kumimoji="1" lang="en-US" altLang="ja-JP"/>
              <a:t>: </a:t>
            </a:r>
            <a:r>
              <a:rPr kumimoji="1" lang="ja-JP" altLang="en-US"/>
              <a:t>各項目の説明が少し長い箇条書きを整理するとき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14</a:t>
            </a:r>
            <a:r>
              <a:rPr kumimoji="1" lang="ja-JP" altLang="en-US"/>
              <a:t>文字、説明</a:t>
            </a:r>
            <a:r>
              <a:rPr kumimoji="1" lang="en-US" altLang="ja-JP"/>
              <a:t>56</a:t>
            </a:r>
            <a:r>
              <a:rPr kumimoji="1" lang="ja-JP" altLang="en-US"/>
              <a:t>文字。</a:t>
            </a:r>
            <a:r>
              <a:rPr kumimoji="1" lang="en-US" altLang="ja-JP"/>
              <a:t>4</a:t>
            </a:r>
            <a:r>
              <a:rPr kumimoji="1" lang="ja-JP" altLang="en-US"/>
              <a:t>項目なら説明</a:t>
            </a:r>
            <a:r>
              <a:rPr kumimoji="1" lang="en-US" altLang="ja-JP"/>
              <a:t>40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DBAEC7-84BE-4C18-AE94-412716B48986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82657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上部中央に広い数式・概念、下部に具体例を横並び
用途</a:t>
            </a:r>
            <a:r>
              <a:rPr kumimoji="1" lang="en-US" altLang="ja-JP"/>
              <a:t>: </a:t>
            </a:r>
            <a:r>
              <a:rPr kumimoji="1" lang="ja-JP" altLang="en-US"/>
              <a:t>横に長い式や短い概念を見せたいとき
注意</a:t>
            </a:r>
            <a:r>
              <a:rPr kumimoji="1" lang="en-US" altLang="ja-JP"/>
              <a:t>: </a:t>
            </a:r>
            <a:r>
              <a:rPr kumimoji="1" lang="ja-JP" altLang="en-US"/>
              <a:t>数式と成立条件を保持する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32</a:t>
            </a:r>
            <a:r>
              <a:rPr kumimoji="1" lang="ja-JP" altLang="en-US"/>
              <a:t>文字。要旨は</a:t>
            </a:r>
            <a:r>
              <a:rPr kumimoji="1" lang="en-US" altLang="ja-JP"/>
              <a:t>36</a:t>
            </a:r>
            <a:r>
              <a:rPr kumimoji="1" lang="ja-JP" altLang="en-US"/>
              <a:t>文字以内を目安。長文は要約する。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</a:t>
            </a:r>
            <a:r>
              <a:rPr kumimoji="1" lang="en-US" altLang="ja-JP"/>
              <a:t>1 + 3 + 5 = 9
</a:t>
            </a:r>
            <a:r>
              <a:rPr kumimoji="1" lang="ja-JP" altLang="en-US"/>
              <a:t>最初の</a:t>
            </a:r>
            <a:r>
              <a:rPr kumimoji="1" lang="en-US" altLang="ja-JP"/>
              <a:t>3</a:t>
            </a:r>
            <a:r>
              <a:rPr kumimoji="1" lang="ja-JP" altLang="en-US"/>
              <a:t>個の奇数の和。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DBAEC7-84BE-4C18-AE94-412716B48986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1167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F4F989-73BF-D3F3-52E4-9E771CA112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E1BCED0-55DB-12D6-F204-D52943BE85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720794-994C-376B-6FB1-C0425995D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6BE1-48BE-4786-9276-B7DC66751597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9D30017-6EA2-DB5A-00D6-9B75598AF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9314979-5793-EA85-B447-B9730A26B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D0872-A32B-4627-A414-626A17389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9981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C9C11A-A546-C645-80C9-C098A5780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369F493-13C8-2670-579F-226944BE7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BCA64F7-8672-352C-F925-4158A623E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6BE1-48BE-4786-9276-B7DC66751597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68D4E68-2822-232D-7E10-D5937B2DD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D3BC058-BAF1-CA7F-F6A5-BC253FA3E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D0872-A32B-4627-A414-626A17389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1093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F10300-5A59-45C0-C339-CC43DB788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3A9FF1B-BEBF-1973-340A-8AC6770CB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B094927-47E1-1864-C9BA-CB45FAE2C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6BE1-48BE-4786-9276-B7DC66751597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FD47531-9C2D-80E2-10FD-FE60AEB46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16DD71D-0ED9-0C3E-A595-1F03D1BE9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D0872-A32B-4627-A414-626A17389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5056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411E91-ADD1-4DCE-5F44-4BDC981FB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51E2501-2FFF-8FC9-37B2-E585F19B48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D65E55A-BD1A-606F-EE9D-63BBE060B9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E03A5BB-3058-8776-E04F-875E08FE6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6BE1-48BE-4786-9276-B7DC66751597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ACF846E-788A-66D0-87D9-5A1C4E610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FA6D5D3-1A93-C3B0-1FAB-734669E66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D0872-A32B-4627-A414-626A17389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3659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AFB5EF-10EB-E250-81BC-FB84C321F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E47E3CC-9C30-0F48-276E-53BEF75949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0014E95-911C-BEF3-3E50-EA0B7E567E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4B0C87B-FB16-3517-C7B7-6DC1F0CA55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A3D3159-6807-C201-7A48-A148F8C1DB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5732646-9222-659B-FF85-AF18144D9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6BE1-48BE-4786-9276-B7DC66751597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1074FF0-4B0E-E01E-E85E-FC8F409F0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7BEBE01-9A7C-CC17-D4F3-88C1A2DB9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D0872-A32B-4627-A414-626A17389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6703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74F4CB-4C2B-8EC1-A554-ADF34359E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BEB4662-1CE9-4164-F771-D75919ABD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6BE1-48BE-4786-9276-B7DC66751597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6C27550-1E97-DA99-4556-06301026C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8503F0A-FA19-4130-051D-F46EBCB87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D0872-A32B-4627-A414-626A17389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7811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5F10D7A-1AB8-9C06-AB44-96487D699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6BE1-48BE-4786-9276-B7DC66751597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3C37354-69A1-7BC5-36E0-7F6550D89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09C400A-DC3E-780B-2B9F-46845A02D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D0872-A32B-4627-A414-626A17389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7116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4C9474-7F51-5E67-ED60-3BED1CCCD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D5FD650-3FE9-6E5D-5F2F-A2604B4D0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2B7EAAB-3945-2AD5-FE8E-579FEB9DCD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B4CB791-EE4F-C365-55E5-A548C7FEC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6BE1-48BE-4786-9276-B7DC66751597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DFFA1D1-C086-A466-48A6-74E273E31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6C59E00-3BDF-58AF-D8F5-04EFD67A8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D0872-A32B-4627-A414-626A17389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3784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F79181-9920-2564-B9A8-2E877BB47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8C7CC50-0F12-A8E8-30DB-293CE610A1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D1AC37C-9C48-4395-4240-005E37C104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01D2B66-DBD2-93A6-B71D-53A5CB1AC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6BE1-48BE-4786-9276-B7DC66751597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F15074C-EA32-838A-F86D-63B383F3F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63C5CF8-D5A1-B8CF-E555-A18D91437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D0872-A32B-4627-A414-626A17389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3564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F1BAB9-4676-F4D6-3DED-DF4FBEF14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9B0ED53-6961-FD40-823F-0BFA3FA96C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6466AB7-009F-1104-E85C-6DE8310C8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6BE1-48BE-4786-9276-B7DC66751597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A9114DE-B8CE-52F3-141F-E2D001AEB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9B59A00-C82E-8118-1618-709F30F20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D0872-A32B-4627-A414-626A17389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8915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73C76F4-AF63-27B5-73C5-613855AB1A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381133F-5DEA-5903-4DE6-EB88F9106D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2D2324-299B-78E3-EC19-64636D33B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6BE1-48BE-4786-9276-B7DC66751597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C716D10-5B44-A346-9843-A54E379E4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F082E5B-FD05-FD64-B73A-190DD99DC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D0872-A32B-4627-A414-626A17389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427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47C70A7-1379-E00D-897B-561AB6BCB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D891842-56F3-281E-F713-747D71133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3D21459-3AAB-331C-4894-C58B5CD959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5F6BE1-48BE-4786-9276-B7DC66751597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0FAF749-9034-6E6B-3269-9B740A4490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BF61DCA-FB1A-BD5B-04ED-4B2240A683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0D0872-A32B-4627-A414-626A17389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6266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"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6F60B91-E4A4-BEDA-D81C-931A6723D6C1}"/>
              </a:ext>
            </a:extLst>
          </p:cNvPr>
          <p:cNvSpPr/>
          <p:nvPr/>
        </p:nvSpPr>
        <p:spPr>
          <a:xfrm>
            <a:off x="0" y="0"/>
            <a:ext cx="3937000" cy="6858000"/>
          </a:xfrm>
          <a:prstGeom prst="rect">
            <a:avLst/>
          </a:prstGeom>
          <a:solidFill>
            <a:srgbClr val="F3E7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BBC6A54-CC06-D1CE-F386-116E4FDDEF09}"/>
              </a:ext>
            </a:extLst>
          </p:cNvPr>
          <p:cNvSpPr/>
          <p:nvPr/>
        </p:nvSpPr>
        <p:spPr>
          <a:xfrm>
            <a:off x="3860800" y="0"/>
            <a:ext cx="101600" cy="6858000"/>
          </a:xfrm>
          <a:prstGeom prst="rect">
            <a:avLst/>
          </a:prstGeom>
          <a:solidFill>
            <a:srgbClr val="A64C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B6787CC-74FD-C339-2C42-BB5180F307A8}"/>
              </a:ext>
            </a:extLst>
          </p:cNvPr>
          <p:cNvSpPr txBox="1"/>
          <p:nvPr/>
        </p:nvSpPr>
        <p:spPr>
          <a:xfrm>
            <a:off x="4483100" y="1320800"/>
            <a:ext cx="6985000" cy="292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4000" b="1">
                <a:solidFill>
                  <a:srgbClr val="3B302B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ストーリー </a:t>
            </a:r>
            <a:r>
              <a:rPr kumimoji="1" lang="en-US" altLang="ja-JP" sz="4000" b="1">
                <a:solidFill>
                  <a:srgbClr val="3B302B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/ </a:t>
            </a:r>
            <a:r>
              <a:rPr kumimoji="1" lang="ja-JP" altLang="en-US" sz="4000" b="1">
                <a:solidFill>
                  <a:srgbClr val="3B302B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書体と配色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D75EFBE-D996-FD58-2A2C-25A5BB81C6A0}"/>
              </a:ext>
            </a:extLst>
          </p:cNvPr>
          <p:cNvSpPr txBox="1"/>
          <p:nvPr/>
        </p:nvSpPr>
        <p:spPr>
          <a:xfrm>
            <a:off x="4508500" y="4673600"/>
            <a:ext cx="6858000" cy="1295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>
                <a:solidFill>
                  <a:srgbClr val="6C5B51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くっきり読みやすく・編集できる図形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BADD8B7F-C00F-1B3C-0C74-55D712C5DA7E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9FC11DC-731E-EB98-F1E2-812B3F88ED48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6C5B51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1 / 4</a:t>
            </a:r>
            <a:endParaRPr kumimoji="1" lang="ja-JP" altLang="en-US" sz="1000">
              <a:solidFill>
                <a:srgbClr val="6C5B51"/>
              </a:solidFill>
              <a:latin typeface="Meiryo" panose="020B0604030504040204" pitchFamily="50" charset="-128"/>
              <a:ea typeface="Meiryo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58136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"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C72E417-DCBF-53E2-8613-A83C77EC68F9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3B302B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色の見出しと囲まれた比較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14596C4B-079D-9F24-93EA-850CE1D3EF94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52F8AB6-CBED-9A7A-2E79-D51F87A9C459}"/>
              </a:ext>
            </a:extLst>
          </p:cNvPr>
          <p:cNvSpPr/>
          <p:nvPr/>
        </p:nvSpPr>
        <p:spPr>
          <a:xfrm>
            <a:off x="711200" y="2019300"/>
            <a:ext cx="3386667" cy="4013200"/>
          </a:xfrm>
          <a:prstGeom prst="rect">
            <a:avLst/>
          </a:prstGeom>
          <a:solidFill>
            <a:srgbClr val="FFF9EE"/>
          </a:solidFill>
          <a:ln w="12700">
            <a:solidFill>
              <a:srgbClr val="A64C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DA2A0C1-1BB2-7F96-05C7-A34DD8CA9978}"/>
              </a:ext>
            </a:extLst>
          </p:cNvPr>
          <p:cNvSpPr/>
          <p:nvPr/>
        </p:nvSpPr>
        <p:spPr>
          <a:xfrm>
            <a:off x="711200" y="2019300"/>
            <a:ext cx="38100" cy="4013200"/>
          </a:xfrm>
          <a:prstGeom prst="rect">
            <a:avLst/>
          </a:prstGeom>
          <a:solidFill>
            <a:srgbClr val="A64C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82271ED-4F92-AA95-ED90-BD22E16AA9CD}"/>
              </a:ext>
            </a:extLst>
          </p:cNvPr>
          <p:cNvSpPr/>
          <p:nvPr/>
        </p:nvSpPr>
        <p:spPr>
          <a:xfrm>
            <a:off x="711200" y="2019300"/>
            <a:ext cx="3386667" cy="1054100"/>
          </a:xfrm>
          <a:prstGeom prst="rect">
            <a:avLst/>
          </a:prstGeom>
          <a:solidFill>
            <a:srgbClr val="A64C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E13CB18-328B-CEDC-E01A-B18CE6CC0E34}"/>
              </a:ext>
            </a:extLst>
          </p:cNvPr>
          <p:cNvSpPr txBox="1"/>
          <p:nvPr/>
        </p:nvSpPr>
        <p:spPr>
          <a:xfrm>
            <a:off x="914400" y="2222500"/>
            <a:ext cx="2980267" cy="723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FFFFFF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項目</a:t>
            </a:r>
            <a:r>
              <a:rPr kumimoji="1" lang="en-US" altLang="ja-JP" sz="2200" b="1">
                <a:solidFill>
                  <a:srgbClr val="FFFFFF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1</a:t>
            </a:r>
            <a:endParaRPr kumimoji="1" lang="ja-JP" altLang="en-US" sz="2200" b="1">
              <a:solidFill>
                <a:srgbClr val="FFFFFF"/>
              </a:solidFill>
              <a:latin typeface="Meiryo" panose="020B0604030504040204" pitchFamily="50" charset="-128"/>
              <a:ea typeface="Meiryo" panose="020B0604030504040204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2FEF24F-39EA-97AF-FD3E-6674B6B9BC00}"/>
              </a:ext>
            </a:extLst>
          </p:cNvPr>
          <p:cNvSpPr txBox="1"/>
          <p:nvPr/>
        </p:nvSpPr>
        <p:spPr>
          <a:xfrm>
            <a:off x="939800" y="3327400"/>
            <a:ext cx="2929467" cy="2451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3B302B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条件と根拠を示す。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23D3401-21DC-2A3B-5B95-E74B44345BA9}"/>
              </a:ext>
            </a:extLst>
          </p:cNvPr>
          <p:cNvSpPr/>
          <p:nvPr/>
        </p:nvSpPr>
        <p:spPr>
          <a:xfrm>
            <a:off x="4402667" y="2019300"/>
            <a:ext cx="3386666" cy="4013200"/>
          </a:xfrm>
          <a:prstGeom prst="rect">
            <a:avLst/>
          </a:prstGeom>
          <a:solidFill>
            <a:srgbClr val="FFF9EE"/>
          </a:solidFill>
          <a:ln w="12700">
            <a:solidFill>
              <a:srgbClr val="676B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8BDB12CC-93D6-3CD2-411C-661F7C6B25D0}"/>
              </a:ext>
            </a:extLst>
          </p:cNvPr>
          <p:cNvSpPr/>
          <p:nvPr/>
        </p:nvSpPr>
        <p:spPr>
          <a:xfrm>
            <a:off x="4402667" y="2019300"/>
            <a:ext cx="38100" cy="4013200"/>
          </a:xfrm>
          <a:prstGeom prst="rect">
            <a:avLst/>
          </a:prstGeom>
          <a:solidFill>
            <a:srgbClr val="676B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AB82E8C-BF17-ACCB-C47E-A24D33393D22}"/>
              </a:ext>
            </a:extLst>
          </p:cNvPr>
          <p:cNvSpPr/>
          <p:nvPr/>
        </p:nvSpPr>
        <p:spPr>
          <a:xfrm>
            <a:off x="4402667" y="2019300"/>
            <a:ext cx="3386666" cy="1054100"/>
          </a:xfrm>
          <a:prstGeom prst="rect">
            <a:avLst/>
          </a:prstGeom>
          <a:solidFill>
            <a:srgbClr val="676B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FFCAE83-C0A2-242E-5C2C-38FDB592306F}"/>
              </a:ext>
            </a:extLst>
          </p:cNvPr>
          <p:cNvSpPr txBox="1"/>
          <p:nvPr/>
        </p:nvSpPr>
        <p:spPr>
          <a:xfrm>
            <a:off x="4605867" y="2222500"/>
            <a:ext cx="2980267" cy="723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FFFFFF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項目</a:t>
            </a:r>
            <a:r>
              <a:rPr kumimoji="1" lang="en-US" altLang="ja-JP" sz="2200" b="1">
                <a:solidFill>
                  <a:srgbClr val="FFFFFF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2</a:t>
            </a:r>
            <a:endParaRPr kumimoji="1" lang="ja-JP" altLang="en-US" sz="2200" b="1">
              <a:solidFill>
                <a:srgbClr val="FFFFFF"/>
              </a:solidFill>
              <a:latin typeface="Meiryo" panose="020B0604030504040204" pitchFamily="50" charset="-128"/>
              <a:ea typeface="Meiryo" panose="020B0604030504040204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90585F1-256F-6D04-18AD-02C9C55755C9}"/>
              </a:ext>
            </a:extLst>
          </p:cNvPr>
          <p:cNvSpPr txBox="1"/>
          <p:nvPr/>
        </p:nvSpPr>
        <p:spPr>
          <a:xfrm>
            <a:off x="4631267" y="3327400"/>
            <a:ext cx="2929467" cy="2451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3B302B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条件と根拠を示す。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BB453154-0A42-AB88-EDB4-57287E0329BD}"/>
              </a:ext>
            </a:extLst>
          </p:cNvPr>
          <p:cNvSpPr/>
          <p:nvPr/>
        </p:nvSpPr>
        <p:spPr>
          <a:xfrm>
            <a:off x="8094133" y="2019300"/>
            <a:ext cx="3386667" cy="4013200"/>
          </a:xfrm>
          <a:prstGeom prst="rect">
            <a:avLst/>
          </a:prstGeom>
          <a:solidFill>
            <a:srgbClr val="FFF9EE"/>
          </a:solidFill>
          <a:ln w="12700">
            <a:solidFill>
              <a:srgbClr val="805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7D715B11-A3D1-9AB6-4C22-FAA31A11CA73}"/>
              </a:ext>
            </a:extLst>
          </p:cNvPr>
          <p:cNvSpPr/>
          <p:nvPr/>
        </p:nvSpPr>
        <p:spPr>
          <a:xfrm>
            <a:off x="8094133" y="2019300"/>
            <a:ext cx="38100" cy="4013200"/>
          </a:xfrm>
          <a:prstGeom prst="rect">
            <a:avLst/>
          </a:prstGeom>
          <a:solidFill>
            <a:srgbClr val="8056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77409097-838F-505F-0FF4-D3CBDADCC9E1}"/>
              </a:ext>
            </a:extLst>
          </p:cNvPr>
          <p:cNvSpPr/>
          <p:nvPr/>
        </p:nvSpPr>
        <p:spPr>
          <a:xfrm>
            <a:off x="8094133" y="2019300"/>
            <a:ext cx="3386667" cy="1054100"/>
          </a:xfrm>
          <a:prstGeom prst="rect">
            <a:avLst/>
          </a:prstGeom>
          <a:solidFill>
            <a:srgbClr val="8056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895B3B00-F230-2A4E-2B3C-78F17A0BCB67}"/>
              </a:ext>
            </a:extLst>
          </p:cNvPr>
          <p:cNvSpPr txBox="1"/>
          <p:nvPr/>
        </p:nvSpPr>
        <p:spPr>
          <a:xfrm>
            <a:off x="8297333" y="2222500"/>
            <a:ext cx="2980267" cy="723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FFFFFF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項目</a:t>
            </a:r>
            <a:r>
              <a:rPr kumimoji="1" lang="en-US" altLang="ja-JP" sz="2200" b="1">
                <a:solidFill>
                  <a:srgbClr val="FFFFFF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3</a:t>
            </a:r>
            <a:endParaRPr kumimoji="1" lang="ja-JP" altLang="en-US" sz="2200" b="1">
              <a:solidFill>
                <a:srgbClr val="FFFFFF"/>
              </a:solidFill>
              <a:latin typeface="Meiryo" panose="020B0604030504040204" pitchFamily="50" charset="-128"/>
              <a:ea typeface="Meiryo" panose="020B0604030504040204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2FFDB1F0-8E1B-0CE8-F17F-7E9BBFF743BE}"/>
              </a:ext>
            </a:extLst>
          </p:cNvPr>
          <p:cNvSpPr txBox="1"/>
          <p:nvPr/>
        </p:nvSpPr>
        <p:spPr>
          <a:xfrm>
            <a:off x="8322733" y="3327400"/>
            <a:ext cx="2929467" cy="2451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3B302B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条件と根拠を示す。</a:t>
            </a: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1344A770-F629-A8BA-1983-7926B11FCDD7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43BC5764-E1F9-FB13-2F32-BB2A9C39FE2D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6C5B51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2 / 4</a:t>
            </a:r>
            <a:endParaRPr kumimoji="1" lang="ja-JP" altLang="en-US" sz="1000">
              <a:solidFill>
                <a:srgbClr val="6C5B51"/>
              </a:solidFill>
              <a:latin typeface="Meiryo" panose="020B0604030504040204" pitchFamily="50" charset="-128"/>
              <a:ea typeface="Meiryo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84045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3"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8E2FA33-6CF8-89D3-F6B0-0D41A7B8BFA8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3B302B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色面で分ける横の説明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99B72D8C-1D29-8F5F-7FB7-F2D1FD214D40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DC8A271-7FD0-C3BA-4E18-4A663C378499}"/>
              </a:ext>
            </a:extLst>
          </p:cNvPr>
          <p:cNvSpPr/>
          <p:nvPr/>
        </p:nvSpPr>
        <p:spPr>
          <a:xfrm>
            <a:off x="711200" y="2019300"/>
            <a:ext cx="10769600" cy="876300"/>
          </a:xfrm>
          <a:prstGeom prst="rect">
            <a:avLst/>
          </a:prstGeom>
          <a:solidFill>
            <a:srgbClr val="F8EC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14D2F40-6D61-7655-2FDE-3466EBB09E12}"/>
              </a:ext>
            </a:extLst>
          </p:cNvPr>
          <p:cNvSpPr/>
          <p:nvPr/>
        </p:nvSpPr>
        <p:spPr>
          <a:xfrm>
            <a:off x="711200" y="2019300"/>
            <a:ext cx="38100" cy="876300"/>
          </a:xfrm>
          <a:prstGeom prst="rect">
            <a:avLst/>
          </a:prstGeom>
          <a:solidFill>
            <a:srgbClr val="A64C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C9384BE-CA7C-0BB2-D504-A279AE3A14AD}"/>
              </a:ext>
            </a:extLst>
          </p:cNvPr>
          <p:cNvSpPr txBox="1"/>
          <p:nvPr/>
        </p:nvSpPr>
        <p:spPr>
          <a:xfrm>
            <a:off x="952500" y="2171700"/>
            <a:ext cx="30099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A64C32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項目</a:t>
            </a:r>
            <a:r>
              <a:rPr kumimoji="1" lang="en-US" altLang="ja-JP" sz="2100" b="1">
                <a:solidFill>
                  <a:srgbClr val="A64C32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1</a:t>
            </a:r>
            <a:endParaRPr kumimoji="1" lang="ja-JP" altLang="en-US" sz="2100" b="1">
              <a:solidFill>
                <a:srgbClr val="A64C32"/>
              </a:solidFill>
              <a:latin typeface="Meiryo" panose="020B0604030504040204" pitchFamily="50" charset="-128"/>
              <a:ea typeface="Meiryo" panose="020B0604030504040204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8D5E47F-8A62-422C-65FB-D31B4593A19E}"/>
              </a:ext>
            </a:extLst>
          </p:cNvPr>
          <p:cNvSpPr txBox="1"/>
          <p:nvPr/>
        </p:nvSpPr>
        <p:spPr>
          <a:xfrm>
            <a:off x="4305300" y="2171700"/>
            <a:ext cx="69088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3B302B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条件と根拠を示す。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A740F7E-5ABD-DD1E-86A7-145534CBFC14}"/>
              </a:ext>
            </a:extLst>
          </p:cNvPr>
          <p:cNvSpPr/>
          <p:nvPr/>
        </p:nvSpPr>
        <p:spPr>
          <a:xfrm>
            <a:off x="711200" y="3022600"/>
            <a:ext cx="10769600" cy="876300"/>
          </a:xfrm>
          <a:prstGeom prst="rect">
            <a:avLst/>
          </a:prstGeom>
          <a:solidFill>
            <a:srgbClr val="F4EE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FAAA25B-821B-9983-5E11-A2ED32316504}"/>
              </a:ext>
            </a:extLst>
          </p:cNvPr>
          <p:cNvSpPr/>
          <p:nvPr/>
        </p:nvSpPr>
        <p:spPr>
          <a:xfrm>
            <a:off x="711200" y="3022600"/>
            <a:ext cx="38100" cy="876300"/>
          </a:xfrm>
          <a:prstGeom prst="rect">
            <a:avLst/>
          </a:prstGeom>
          <a:solidFill>
            <a:srgbClr val="676B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D002146-7086-E361-799D-D29DE4F31D18}"/>
              </a:ext>
            </a:extLst>
          </p:cNvPr>
          <p:cNvSpPr txBox="1"/>
          <p:nvPr/>
        </p:nvSpPr>
        <p:spPr>
          <a:xfrm>
            <a:off x="952500" y="3175000"/>
            <a:ext cx="30099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676B35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項目</a:t>
            </a:r>
            <a:r>
              <a:rPr kumimoji="1" lang="en-US" altLang="ja-JP" sz="2100" b="1">
                <a:solidFill>
                  <a:srgbClr val="676B35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2</a:t>
            </a:r>
            <a:endParaRPr kumimoji="1" lang="ja-JP" altLang="en-US" sz="2100" b="1">
              <a:solidFill>
                <a:srgbClr val="676B35"/>
              </a:solidFill>
              <a:latin typeface="Meiryo" panose="020B0604030504040204" pitchFamily="50" charset="-128"/>
              <a:ea typeface="Meiryo" panose="020B0604030504040204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EA2E100-A178-D8AF-2EC2-ED6B855B0EC8}"/>
              </a:ext>
            </a:extLst>
          </p:cNvPr>
          <p:cNvSpPr txBox="1"/>
          <p:nvPr/>
        </p:nvSpPr>
        <p:spPr>
          <a:xfrm>
            <a:off x="4305300" y="3175000"/>
            <a:ext cx="69088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3B302B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条件と根拠を示す。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2CFB0F6-E15D-BEAD-41CF-FE71EDBCD225}"/>
              </a:ext>
            </a:extLst>
          </p:cNvPr>
          <p:cNvSpPr/>
          <p:nvPr/>
        </p:nvSpPr>
        <p:spPr>
          <a:xfrm>
            <a:off x="711200" y="4025900"/>
            <a:ext cx="10769600" cy="876300"/>
          </a:xfrm>
          <a:prstGeom prst="rect">
            <a:avLst/>
          </a:prstGeom>
          <a:solidFill>
            <a:srgbClr val="F5ED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438A37B6-4637-661E-3F56-0690FCC98F35}"/>
              </a:ext>
            </a:extLst>
          </p:cNvPr>
          <p:cNvSpPr/>
          <p:nvPr/>
        </p:nvSpPr>
        <p:spPr>
          <a:xfrm>
            <a:off x="711200" y="4025900"/>
            <a:ext cx="38100" cy="876300"/>
          </a:xfrm>
          <a:prstGeom prst="rect">
            <a:avLst/>
          </a:prstGeom>
          <a:solidFill>
            <a:srgbClr val="8056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BAD89BCD-EC12-A079-BDA4-89009D3F6921}"/>
              </a:ext>
            </a:extLst>
          </p:cNvPr>
          <p:cNvSpPr txBox="1"/>
          <p:nvPr/>
        </p:nvSpPr>
        <p:spPr>
          <a:xfrm>
            <a:off x="952500" y="4178300"/>
            <a:ext cx="30099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805696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項目</a:t>
            </a:r>
            <a:r>
              <a:rPr kumimoji="1" lang="en-US" altLang="ja-JP" sz="2100" b="1">
                <a:solidFill>
                  <a:srgbClr val="805696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3</a:t>
            </a:r>
            <a:endParaRPr kumimoji="1" lang="ja-JP" altLang="en-US" sz="2100" b="1">
              <a:solidFill>
                <a:srgbClr val="805696"/>
              </a:solidFill>
              <a:latin typeface="Meiryo" panose="020B0604030504040204" pitchFamily="50" charset="-128"/>
              <a:ea typeface="Meiryo" panose="020B0604030504040204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6755135-D670-EA2D-EFF3-7A2B5C9FB79E}"/>
              </a:ext>
            </a:extLst>
          </p:cNvPr>
          <p:cNvSpPr txBox="1"/>
          <p:nvPr/>
        </p:nvSpPr>
        <p:spPr>
          <a:xfrm>
            <a:off x="4305300" y="4178300"/>
            <a:ext cx="69088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3B302B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条件と根拠を示す。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19B0E12A-4B23-CEF3-8530-0359FD3A387B}"/>
              </a:ext>
            </a:extLst>
          </p:cNvPr>
          <p:cNvSpPr/>
          <p:nvPr/>
        </p:nvSpPr>
        <p:spPr>
          <a:xfrm>
            <a:off x="711200" y="5029200"/>
            <a:ext cx="10769600" cy="876300"/>
          </a:xfrm>
          <a:prstGeom prst="rect">
            <a:avLst/>
          </a:prstGeom>
          <a:solidFill>
            <a:srgbClr val="F0EEE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AA80295C-3173-EDA1-3E29-14CDB7BBF62F}"/>
              </a:ext>
            </a:extLst>
          </p:cNvPr>
          <p:cNvSpPr/>
          <p:nvPr/>
        </p:nvSpPr>
        <p:spPr>
          <a:xfrm>
            <a:off x="711200" y="5029200"/>
            <a:ext cx="38100" cy="876300"/>
          </a:xfrm>
          <a:prstGeom prst="rect">
            <a:avLst/>
          </a:prstGeom>
          <a:solidFill>
            <a:srgbClr val="34687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581FE68-0C0F-2A0E-350E-318547C43FD3}"/>
              </a:ext>
            </a:extLst>
          </p:cNvPr>
          <p:cNvSpPr txBox="1"/>
          <p:nvPr/>
        </p:nvSpPr>
        <p:spPr>
          <a:xfrm>
            <a:off x="952500" y="5181600"/>
            <a:ext cx="30099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346875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項目</a:t>
            </a:r>
            <a:r>
              <a:rPr kumimoji="1" lang="en-US" altLang="ja-JP" sz="2100" b="1">
                <a:solidFill>
                  <a:srgbClr val="346875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4</a:t>
            </a:r>
            <a:endParaRPr kumimoji="1" lang="ja-JP" altLang="en-US" sz="2100" b="1">
              <a:solidFill>
                <a:srgbClr val="346875"/>
              </a:solidFill>
              <a:latin typeface="Meiryo" panose="020B0604030504040204" pitchFamily="50" charset="-128"/>
              <a:ea typeface="Meiryo" panose="020B0604030504040204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4172BE30-3F68-CE1B-C9FC-5006D5B1693C}"/>
              </a:ext>
            </a:extLst>
          </p:cNvPr>
          <p:cNvSpPr txBox="1"/>
          <p:nvPr/>
        </p:nvSpPr>
        <p:spPr>
          <a:xfrm>
            <a:off x="4305300" y="5181600"/>
            <a:ext cx="69088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3B302B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条件と根拠を示す。</a:t>
            </a: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5AD3D45F-37E0-09AD-9B2E-E000A435E2BF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F7155514-EC41-F3FD-460A-EE7AD3977735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6C5B51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3 / 4</a:t>
            </a:r>
            <a:endParaRPr kumimoji="1" lang="ja-JP" altLang="en-US" sz="1000">
              <a:solidFill>
                <a:srgbClr val="6C5B51"/>
              </a:solidFill>
              <a:latin typeface="Meiryo" panose="020B0604030504040204" pitchFamily="50" charset="-128"/>
              <a:ea typeface="Meiryo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42906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4"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3280E3A-F9B3-FCDD-A763-4AC211FDAE70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3B302B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中央の式と下の具体例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E50A20D2-C3F9-2336-DF8A-5765E7A72425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1EB1A03-E7B3-335E-A5FE-84C0E1F15CDD}"/>
              </a:ext>
            </a:extLst>
          </p:cNvPr>
          <p:cNvSpPr txBox="1"/>
          <p:nvPr/>
        </p:nvSpPr>
        <p:spPr>
          <a:xfrm>
            <a:off x="965200" y="2032000"/>
            <a:ext cx="10261600" cy="1295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3200" b="1">
                <a:solidFill>
                  <a:srgbClr val="A64C32"/>
                </a:solidFill>
                <a:latin typeface="Cambria Math" panose="02040503050406030204" pitchFamily="18" charset="0"/>
                <a:ea typeface="Meiryo" panose="020B0604030504040204" pitchFamily="50" charset="-128"/>
              </a:rPr>
              <a:t>1 + 3 + 5 = 9</a:t>
            </a:r>
            <a:endParaRPr kumimoji="1" lang="ja-JP" altLang="en-US" sz="3200" b="1">
              <a:solidFill>
                <a:srgbClr val="A64C32"/>
              </a:solidFill>
              <a:latin typeface="Cambria Math" panose="02040503050406030204" pitchFamily="18" charset="0"/>
              <a:ea typeface="Meiryo" panose="020B0604030504040204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4CD6D9C-490A-F4E7-7BAC-105FE7872111}"/>
              </a:ext>
            </a:extLst>
          </p:cNvPr>
          <p:cNvSpPr txBox="1"/>
          <p:nvPr/>
        </p:nvSpPr>
        <p:spPr>
          <a:xfrm>
            <a:off x="965200" y="3517900"/>
            <a:ext cx="102616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6C5B51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最初の</a:t>
            </a:r>
            <a:r>
              <a:rPr kumimoji="1" lang="en-US" altLang="ja-JP">
                <a:solidFill>
                  <a:srgbClr val="6C5B51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3</a:t>
            </a:r>
            <a:r>
              <a:rPr kumimoji="1" lang="ja-JP" altLang="en-US">
                <a:solidFill>
                  <a:srgbClr val="6C5B51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個の奇数の和。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1299588-9B60-F7BF-479C-A3B9E9029393}"/>
              </a:ext>
            </a:extLst>
          </p:cNvPr>
          <p:cNvSpPr/>
          <p:nvPr/>
        </p:nvSpPr>
        <p:spPr>
          <a:xfrm>
            <a:off x="622300" y="4445000"/>
            <a:ext cx="3475567" cy="1600200"/>
          </a:xfrm>
          <a:prstGeom prst="rect">
            <a:avLst/>
          </a:prstGeom>
          <a:solidFill>
            <a:srgbClr val="F8EC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94AD80A-FB98-DC40-E6A3-09274BD871A8}"/>
              </a:ext>
            </a:extLst>
          </p:cNvPr>
          <p:cNvSpPr/>
          <p:nvPr/>
        </p:nvSpPr>
        <p:spPr>
          <a:xfrm>
            <a:off x="622300" y="4445000"/>
            <a:ext cx="38100" cy="1600200"/>
          </a:xfrm>
          <a:prstGeom prst="rect">
            <a:avLst/>
          </a:prstGeom>
          <a:solidFill>
            <a:srgbClr val="A64C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E1085CD-BC15-9F58-A32F-E90422FCEBE4}"/>
              </a:ext>
            </a:extLst>
          </p:cNvPr>
          <p:cNvSpPr txBox="1"/>
          <p:nvPr/>
        </p:nvSpPr>
        <p:spPr>
          <a:xfrm>
            <a:off x="711200" y="4521200"/>
            <a:ext cx="3386667" cy="5486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A64C32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項目</a:t>
            </a:r>
            <a:r>
              <a:rPr kumimoji="1" lang="en-US" altLang="ja-JP" sz="2100" b="1">
                <a:solidFill>
                  <a:srgbClr val="A64C32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1</a:t>
            </a:r>
            <a:endParaRPr kumimoji="1" lang="ja-JP" altLang="en-US" sz="2100" b="1">
              <a:solidFill>
                <a:srgbClr val="A64C32"/>
              </a:solidFill>
              <a:latin typeface="Meiryo" panose="020B0604030504040204" pitchFamily="50" charset="-128"/>
              <a:ea typeface="Meiryo" panose="020B0604030504040204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7BDCA10-7A0A-D93D-D68B-F65FE29722BA}"/>
              </a:ext>
            </a:extLst>
          </p:cNvPr>
          <p:cNvSpPr txBox="1"/>
          <p:nvPr/>
        </p:nvSpPr>
        <p:spPr>
          <a:xfrm>
            <a:off x="711200" y="5158740"/>
            <a:ext cx="3386667" cy="8864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6C5B51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条件と根拠を示す。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93A315E-33B1-13FF-83CB-AFD8E334003A}"/>
              </a:ext>
            </a:extLst>
          </p:cNvPr>
          <p:cNvSpPr/>
          <p:nvPr/>
        </p:nvSpPr>
        <p:spPr>
          <a:xfrm>
            <a:off x="4313767" y="4445000"/>
            <a:ext cx="3475566" cy="1600200"/>
          </a:xfrm>
          <a:prstGeom prst="rect">
            <a:avLst/>
          </a:prstGeom>
          <a:solidFill>
            <a:srgbClr val="F4EE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1D131A3-18DD-6893-0D39-702151D29A57}"/>
              </a:ext>
            </a:extLst>
          </p:cNvPr>
          <p:cNvSpPr/>
          <p:nvPr/>
        </p:nvSpPr>
        <p:spPr>
          <a:xfrm>
            <a:off x="4313767" y="4445000"/>
            <a:ext cx="38100" cy="1600200"/>
          </a:xfrm>
          <a:prstGeom prst="rect">
            <a:avLst/>
          </a:prstGeom>
          <a:solidFill>
            <a:srgbClr val="676B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BE5D88C-4D9D-404A-BD34-480A742288BE}"/>
              </a:ext>
            </a:extLst>
          </p:cNvPr>
          <p:cNvSpPr txBox="1"/>
          <p:nvPr/>
        </p:nvSpPr>
        <p:spPr>
          <a:xfrm>
            <a:off x="4402667" y="4521200"/>
            <a:ext cx="3386667" cy="5486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676B35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項目</a:t>
            </a:r>
            <a:r>
              <a:rPr kumimoji="1" lang="en-US" altLang="ja-JP" sz="2100" b="1">
                <a:solidFill>
                  <a:srgbClr val="676B35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2</a:t>
            </a:r>
            <a:endParaRPr kumimoji="1" lang="ja-JP" altLang="en-US" sz="2100" b="1">
              <a:solidFill>
                <a:srgbClr val="676B35"/>
              </a:solidFill>
              <a:latin typeface="Meiryo" panose="020B0604030504040204" pitchFamily="50" charset="-128"/>
              <a:ea typeface="Meiryo" panose="020B0604030504040204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014E2A1-6364-50FC-C3E9-C7ED4118DC0F}"/>
              </a:ext>
            </a:extLst>
          </p:cNvPr>
          <p:cNvSpPr txBox="1"/>
          <p:nvPr/>
        </p:nvSpPr>
        <p:spPr>
          <a:xfrm>
            <a:off x="4402667" y="5158740"/>
            <a:ext cx="3386667" cy="8864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6C5B51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条件と根拠を示す。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D5F4A784-A01F-2311-A3AD-599B58558759}"/>
              </a:ext>
            </a:extLst>
          </p:cNvPr>
          <p:cNvSpPr/>
          <p:nvPr/>
        </p:nvSpPr>
        <p:spPr>
          <a:xfrm>
            <a:off x="8005233" y="4445000"/>
            <a:ext cx="3475567" cy="1600200"/>
          </a:xfrm>
          <a:prstGeom prst="rect">
            <a:avLst/>
          </a:prstGeom>
          <a:solidFill>
            <a:srgbClr val="F5ED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FE12CF24-D0B4-0E67-4BA7-AB3DBB9740CE}"/>
              </a:ext>
            </a:extLst>
          </p:cNvPr>
          <p:cNvSpPr/>
          <p:nvPr/>
        </p:nvSpPr>
        <p:spPr>
          <a:xfrm>
            <a:off x="8005233" y="4445000"/>
            <a:ext cx="38100" cy="1600200"/>
          </a:xfrm>
          <a:prstGeom prst="rect">
            <a:avLst/>
          </a:prstGeom>
          <a:solidFill>
            <a:srgbClr val="8056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3EB56E1-CB60-5E00-0F33-60CD69D5E8B9}"/>
              </a:ext>
            </a:extLst>
          </p:cNvPr>
          <p:cNvSpPr txBox="1"/>
          <p:nvPr/>
        </p:nvSpPr>
        <p:spPr>
          <a:xfrm>
            <a:off x="8094133" y="4521200"/>
            <a:ext cx="3386667" cy="5486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805696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項目</a:t>
            </a:r>
            <a:r>
              <a:rPr kumimoji="1" lang="en-US" altLang="ja-JP" sz="2100" b="1">
                <a:solidFill>
                  <a:srgbClr val="805696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3</a:t>
            </a:r>
            <a:endParaRPr kumimoji="1" lang="ja-JP" altLang="en-US" sz="2100" b="1">
              <a:solidFill>
                <a:srgbClr val="805696"/>
              </a:solidFill>
              <a:latin typeface="Meiryo" panose="020B0604030504040204" pitchFamily="50" charset="-128"/>
              <a:ea typeface="Meiryo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F793AAE-8191-149E-7895-A385AABF2FB8}"/>
              </a:ext>
            </a:extLst>
          </p:cNvPr>
          <p:cNvSpPr txBox="1"/>
          <p:nvPr/>
        </p:nvSpPr>
        <p:spPr>
          <a:xfrm>
            <a:off x="8094133" y="5158740"/>
            <a:ext cx="3386667" cy="8864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6C5B51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条件と根拠を示す。</a:t>
            </a: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09A93FFB-CFDB-3B23-C1E2-EA565689D1BE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BE38BB54-5844-5862-27FD-8986D5A54A55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6C5B51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4 / 4</a:t>
            </a:r>
            <a:endParaRPr kumimoji="1" lang="ja-JP" altLang="en-US" sz="1000">
              <a:solidFill>
                <a:srgbClr val="6C5B51"/>
              </a:solidFill>
              <a:latin typeface="Meiryo" panose="020B0604030504040204" pitchFamily="50" charset="-128"/>
              <a:ea typeface="Meiryo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738305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rgbClr val="3B302B"/>
      </a:dk1>
      <a:lt1>
        <a:sysClr val="window" lastClr="FFFFFF"/>
      </a:lt1>
      <a:dk2>
        <a:srgbClr val="0E2841"/>
      </a:dk2>
      <a:lt2>
        <a:srgbClr val="E8E8E8"/>
      </a:lt2>
      <a:accent1>
        <a:srgbClr val="A64C3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613</Words>
  <Application>Microsoft Office PowerPoint</Application>
  <PresentationFormat>ユーザー設定</PresentationFormat>
  <Paragraphs>39</Paragraphs>
  <Slides>4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0" baseType="lpstr">
      <vt:lpstr>Meiryo</vt:lpstr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Designer Extention</dc:creator>
  <cp:lastModifiedBy>Designer Extention</cp:lastModifiedBy>
  <cp:revision>1</cp:revision>
  <dcterms:created xsi:type="dcterms:W3CDTF">2026-09-30T14:15:38Z</dcterms:created>
  <dcterms:modified xsi:type="dcterms:W3CDTF">2026-09-30T14:15:38Z</dcterms:modified>
</cp:coreProperties>
</file>