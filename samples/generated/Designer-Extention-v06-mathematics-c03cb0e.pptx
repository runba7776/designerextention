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9B9E7C-494B-4743-8504-7AE5A89E06E6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6037B7-E76A-4960-A87E-887F016D47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3440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一般的な数学の説明。
内容</a:t>
            </a:r>
            <a:r>
              <a:rPr kumimoji="1" lang="en-US" altLang="ja-JP"/>
              <a:t>:
</a:t>
            </a:r>
            <a:r>
              <a:rPr kumimoji="1" lang="ja-JP" altLang="en-US"/>
              <a:t>数の並びを、形として眺める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6037B7-E76A-4960-A87E-887F016D47FE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57122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この一例だけで一般の場合の証明とはしない。
内容</a:t>
            </a:r>
            <a:r>
              <a:rPr kumimoji="1" lang="en-US" altLang="ja-JP"/>
              <a:t>:
</a:t>
            </a:r>
            <a:r>
              <a:rPr kumimoji="1" lang="ja-JP" altLang="en-US"/>
              <a:t>数の並び </a:t>
            </a:r>
            <a:r>
              <a:rPr kumimoji="1" lang="en-US" altLang="ja-JP"/>
              <a:t>— </a:t>
            </a:r>
            <a:r>
              <a:rPr kumimoji="1" lang="ja-JP" altLang="en-US"/>
              <a:t>正の奇数を小さい順に足す。
平方との対応 </a:t>
            </a:r>
            <a:r>
              <a:rPr kumimoji="1" lang="en-US" altLang="ja-JP"/>
              <a:t>— 3 × 3 </a:t>
            </a:r>
            <a:r>
              <a:rPr kumimoji="1" lang="ja-JP" altLang="en-US"/>
              <a:t>と同じ値になる。
</a:t>
            </a:r>
            <a:r>
              <a:rPr kumimoji="1" lang="en-US" altLang="ja-JP"/>
              <a:t>1 + 3 + 5 = 9
</a:t>
            </a:r>
            <a:r>
              <a:rPr kumimoji="1" lang="ja-JP" altLang="en-US"/>
              <a:t>最初の</a:t>
            </a:r>
            <a:r>
              <a:rPr kumimoji="1" lang="en-US" altLang="ja-JP"/>
              <a:t>3</a:t>
            </a:r>
            <a:r>
              <a:rPr kumimoji="1" lang="ja-JP" altLang="en-US"/>
              <a:t>個の正の奇数を足した例。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6037B7-E76A-4960-A87E-887F016D47FE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125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順序を説明するために工程図を使用。
内容</a:t>
            </a:r>
            <a:r>
              <a:rPr kumimoji="1" lang="en-US" altLang="ja-JP"/>
              <a:t>:
</a:t>
            </a:r>
            <a:r>
              <a:rPr kumimoji="1" lang="ja-JP" altLang="en-US"/>
              <a:t>観察 </a:t>
            </a:r>
            <a:r>
              <a:rPr kumimoji="1" lang="en-US" altLang="ja-JP"/>
              <a:t>— </a:t>
            </a:r>
            <a:r>
              <a:rPr kumimoji="1" lang="ja-JP" altLang="en-US"/>
              <a:t>いくつかの例を確かめる。
予想 </a:t>
            </a:r>
            <a:r>
              <a:rPr kumimoji="1" lang="en-US" altLang="ja-JP"/>
              <a:t>— </a:t>
            </a:r>
            <a:r>
              <a:rPr kumimoji="1" lang="ja-JP" altLang="en-US"/>
              <a:t>共通する規則を考える。
証明 </a:t>
            </a:r>
            <a:r>
              <a:rPr kumimoji="1" lang="en-US" altLang="ja-JP"/>
              <a:t>— </a:t>
            </a:r>
            <a:r>
              <a:rPr kumimoji="1" lang="ja-JP" altLang="en-US"/>
              <a:t>全ての場合で説明する。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6037B7-E76A-4960-A87E-887F016D47FE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14131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結論を一つに絞り、その根拠を右に添える。
内容</a:t>
            </a:r>
            <a:r>
              <a:rPr kumimoji="1" lang="en-US" altLang="ja-JP"/>
              <a:t>:
</a:t>
            </a:r>
            <a:r>
              <a:rPr kumimoji="1" lang="ja-JP" altLang="en-US"/>
              <a:t>例を確かめ、
規則を証明する
数や図形の見方を切り替える。
計算で確かめる </a:t>
            </a:r>
            <a:r>
              <a:rPr kumimoji="1" lang="en-US" altLang="ja-JP"/>
              <a:t>— </a:t>
            </a:r>
            <a:r>
              <a:rPr kumimoji="1" lang="ja-JP" altLang="en-US"/>
              <a:t>まずは具体的な数で試す。
図形で考える </a:t>
            </a:r>
            <a:r>
              <a:rPr kumimoji="1" lang="en-US" altLang="ja-JP"/>
              <a:t>— </a:t>
            </a:r>
            <a:r>
              <a:rPr kumimoji="1" lang="ja-JP" altLang="en-US"/>
              <a:t>数の関係を形で説明する。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6037B7-E76A-4960-A87E-887F016D47FE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5173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9EF512-D803-ED03-9958-8F8F55C8A4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A96F4C6-A323-D7BA-0D93-73C489107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C996D0-488C-E53C-44F2-42575AA34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F094E-E212-4544-9F94-CE83075B4B14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682E46B-3406-C7BC-5123-86BC16E56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0A04613-570B-27B5-E06B-EBC11164F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5D7AF-140C-4CB7-9832-E6AA53C2A05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7712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9354E7-E30B-F5B7-35FC-919E985ED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1614A9-BA08-49E6-0500-C55BF0F2C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2FDE786-CCFE-5393-816A-0915116E9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F094E-E212-4544-9F94-CE83075B4B14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14A3783-0F1E-0602-A676-277B2BF9D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C538AB5-6348-9981-0D38-29D8F1408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5D7AF-140C-4CB7-9832-E6AA53C2A05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607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3D61D9-16FD-01F9-D0AC-1F675B68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54CE155-92CB-02F1-2E81-4DDB855B3F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313BA26-0CBC-38F6-9F68-81097C0D5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F094E-E212-4544-9F94-CE83075B4B14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CF01459-449E-DB56-9F48-9D625B776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30D460D-0F14-6CA8-8CCA-0218D6F64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5D7AF-140C-4CB7-9832-E6AA53C2A05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1583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FBD927-2455-6C48-6FC7-130266E1E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A9B284A-4FA2-68D0-EB4D-8AD1B14894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0623874-4A36-AF47-7D12-C6CBEA22C3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FA74BC8-1F1E-0341-0B97-90FE2747F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F094E-E212-4544-9F94-CE83075B4B14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988E065-6787-1E0D-A251-F18F22733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107E901-4DDE-FE61-B35B-B622E1D2A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5D7AF-140C-4CB7-9832-E6AA53C2A05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5850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360884-C829-B55B-4B00-23A95FA30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A3AE1D0-5404-9F81-DC9E-ABC13952F5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7683A7B-5E1E-0F70-04D6-EA78F14835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88FA17D-CBBC-66FC-B74F-0464878AB2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8D74410-1FEA-408A-D50E-507A6EFC68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FE2D1C2-5C8D-4145-DC25-D22643CB1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F094E-E212-4544-9F94-CE83075B4B14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A4EAA65-3F3F-27F8-3357-66E4CCCF1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0EB14FE-F4F0-E1F6-35D5-223D394D7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5D7AF-140C-4CB7-9832-E6AA53C2A05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8558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BD25CD-7B38-A680-2BE7-6B182C298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6E4E7D4-ED42-C98A-07E5-3EA9992DB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F094E-E212-4544-9F94-CE83075B4B14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F4CBB06-AB64-BF36-74B9-BE6942370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594F288-7B8F-8220-7368-B954F228B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5D7AF-140C-4CB7-9832-E6AA53C2A05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839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14DE79D-0F25-E77D-E58B-CD1BAD130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F094E-E212-4544-9F94-CE83075B4B14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3A79E7E-153D-B1B1-0EDB-7EBBECE84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ADCFF38-4A88-A247-E9F9-77917936F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5D7AF-140C-4CB7-9832-E6AA53C2A05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5733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F9D91E-42DF-7E6B-8FF4-682FDADDE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D1EE4AC-AB3A-3EA2-8A96-025A28311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ED0A91D-248B-4E58-F208-5A3646B97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5C2FC2E-FD87-02B1-51D6-7E892B1BE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F094E-E212-4544-9F94-CE83075B4B14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C256AE9-6399-0A62-BE86-B91EFDAE0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CD5212F-C48B-2111-2673-C7C5243C5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5D7AF-140C-4CB7-9832-E6AA53C2A05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4651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981478-2C47-BCC2-0E3C-37A35580A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23FDA5A-4FCF-17A7-00DB-9E0220D1FA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F7EF2FD-DA1D-A9AC-8376-AC72C5BD99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BDECCBB-F547-795E-E43D-0FB20E868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F094E-E212-4544-9F94-CE83075B4B14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62CDAD8-E14F-964B-D5F9-6A6E9AE1F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11EA971-F4F4-8469-48B5-AE9025556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5D7AF-140C-4CB7-9832-E6AA53C2A05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5473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BEB00D-B392-A44F-D6CE-C92528693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F70C8E2-870E-D750-948F-0B53656A4F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7734E05-4E31-A7E1-1291-E9B3249D4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F094E-E212-4544-9F94-CE83075B4B14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4085D66-97C3-086A-61AF-F93A9045F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A90852C-7C8F-7563-2DBB-B9B653DA6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5D7AF-140C-4CB7-9832-E6AA53C2A05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7714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3ED98A6-4E1E-FA85-D40E-1F3104D99E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0CDB71D-ECF0-0639-73BC-1C1980E9D9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FF990F0-4A3C-0E92-9FE6-A0B27C723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F094E-E212-4544-9F94-CE83075B4B14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19E2C7F-9240-69B9-8B64-64021E3F4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2A714F1-C451-D982-DC23-20375F58E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5D7AF-140C-4CB7-9832-E6AA53C2A05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2152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5F0E844-6963-3AA5-0218-B40CF5089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0F1A190-10DC-6DD3-58E8-1BD986B57E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818B9B4-0693-3BBB-F5F7-153CDB09A1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2F094E-E212-4544-9F94-CE83075B4B14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3B77AE9-9D6D-DF02-4A71-5EEDFB1CB2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BF087DD-4FCC-293D-4046-EDA04BD177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25D7AF-140C-4CB7-9832-E6AA53C2A05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428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">
    <p:bg>
      <p:bgPr>
        <a:solidFill>
          <a:srgbClr val="F5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B92C7AD-A54A-5734-17AD-86F3BCB8D54D}"/>
              </a:ext>
            </a:extLst>
          </p:cNvPr>
          <p:cNvSpPr/>
          <p:nvPr/>
        </p:nvSpPr>
        <p:spPr>
          <a:xfrm>
            <a:off x="0" y="0"/>
            <a:ext cx="3048000" cy="6858000"/>
          </a:xfrm>
          <a:prstGeom prst="rect">
            <a:avLst/>
          </a:prstGeom>
          <a:solidFill>
            <a:srgbClr val="2767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14C7ADC-81C1-FC6B-4459-F6CCD1C3F9ED}"/>
              </a:ext>
            </a:extLst>
          </p:cNvPr>
          <p:cNvSpPr/>
          <p:nvPr/>
        </p:nvSpPr>
        <p:spPr>
          <a:xfrm>
            <a:off x="3048000" y="0"/>
            <a:ext cx="9144000" cy="254000"/>
          </a:xfrm>
          <a:prstGeom prst="rect">
            <a:avLst/>
          </a:prstGeom>
          <a:solidFill>
            <a:srgbClr val="E1EFE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415ED46-BA79-D2A4-626F-62B5DDFF9795}"/>
              </a:ext>
            </a:extLst>
          </p:cNvPr>
          <p:cNvSpPr txBox="1"/>
          <p:nvPr/>
        </p:nvSpPr>
        <p:spPr>
          <a:xfrm>
            <a:off x="3606800" y="1371600"/>
            <a:ext cx="7874000" cy="280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4200" b="1">
                <a:solidFill>
                  <a:srgbClr val="203B39"/>
                </a:solidFill>
                <a:latin typeface="UD Digi Kyokasho NP" panose="02020400000000000000" pitchFamily="18" charset="-128"/>
                <a:ea typeface="UD Digi Kyokasho NP" panose="02020400000000000000" pitchFamily="18" charset="-128"/>
              </a:rPr>
              <a:t>奇数を足すと
正方形が現れる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A750847-F3EC-7913-BEF6-549FDCE6E6F6}"/>
              </a:ext>
            </a:extLst>
          </p:cNvPr>
          <p:cNvSpPr txBox="1"/>
          <p:nvPr/>
        </p:nvSpPr>
        <p:spPr>
          <a:xfrm>
            <a:off x="3632200" y="4737100"/>
            <a:ext cx="7670800" cy="1181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>
                <a:solidFill>
                  <a:srgbClr val="526963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数の並びを、形として眺める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DA9EA554-1639-002C-6421-236B3FDE87B3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1EF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60AE111-C1CA-4E92-32BF-6B7166BF0781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963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 / 4</a:t>
            </a:r>
            <a:endParaRPr kumimoji="1" lang="ja-JP" altLang="en-US" sz="1000">
              <a:solidFill>
                <a:srgbClr val="526963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44473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">
    <p:bg>
      <p:bgPr>
        <a:solidFill>
          <a:srgbClr val="F5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1604C7C-B8C8-EC39-2477-AE388413BEB6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3400" b="1">
                <a:solidFill>
                  <a:srgbClr val="203B39"/>
                </a:solidFill>
                <a:latin typeface="UD Digi Kyokasho NP" panose="02020400000000000000" pitchFamily="18" charset="-128"/>
                <a:ea typeface="UD Digi Kyokasho NP" panose="02020400000000000000" pitchFamily="18" charset="-128"/>
              </a:rPr>
              <a:t>3</a:t>
            </a:r>
            <a:r>
              <a:rPr kumimoji="1" lang="ja-JP" altLang="en-US" sz="3400" b="1">
                <a:solidFill>
                  <a:srgbClr val="203B39"/>
                </a:solidFill>
                <a:latin typeface="UD Digi Kyokasho NP" panose="02020400000000000000" pitchFamily="18" charset="-128"/>
                <a:ea typeface="UD Digi Kyokasho NP" panose="02020400000000000000" pitchFamily="18" charset="-128"/>
              </a:rPr>
              <a:t>つの奇数の和は</a:t>
            </a:r>
            <a:r>
              <a:rPr kumimoji="1" lang="en-US" altLang="ja-JP" sz="3400" b="1">
                <a:solidFill>
                  <a:srgbClr val="203B39"/>
                </a:solidFill>
                <a:latin typeface="UD Digi Kyokasho NP" panose="02020400000000000000" pitchFamily="18" charset="-128"/>
                <a:ea typeface="UD Digi Kyokasho NP" panose="02020400000000000000" pitchFamily="18" charset="-128"/>
              </a:rPr>
              <a:t>3</a:t>
            </a:r>
            <a:r>
              <a:rPr kumimoji="1" lang="ja-JP" altLang="en-US" sz="3400" b="1">
                <a:solidFill>
                  <a:srgbClr val="203B39"/>
                </a:solidFill>
                <a:latin typeface="UD Digi Kyokasho NP" panose="02020400000000000000" pitchFamily="18" charset="-128"/>
                <a:ea typeface="UD Digi Kyokasho NP" panose="02020400000000000000" pitchFamily="18" charset="-128"/>
              </a:rPr>
              <a:t>の平方になる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31AC15EC-C6AC-A4FB-6E7F-4B57DD040B84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1EF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EC506E7-5C1B-8FA7-DE6E-3EDC636D162A}"/>
              </a:ext>
            </a:extLst>
          </p:cNvPr>
          <p:cNvSpPr/>
          <p:nvPr/>
        </p:nvSpPr>
        <p:spPr>
          <a:xfrm>
            <a:off x="711200" y="2019300"/>
            <a:ext cx="5232400" cy="4013200"/>
          </a:xfrm>
          <a:prstGeom prst="roundRect">
            <a:avLst/>
          </a:prstGeom>
          <a:solidFill>
            <a:srgbClr val="E1EFE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8F4350A9-B0E5-CCB8-EFAC-E1A0A947995A}"/>
              </a:ext>
            </a:extLst>
          </p:cNvPr>
          <p:cNvSpPr/>
          <p:nvPr/>
        </p:nvSpPr>
        <p:spPr>
          <a:xfrm>
            <a:off x="1079500" y="2317750"/>
            <a:ext cx="355600" cy="444500"/>
          </a:xfrm>
          <a:prstGeom prst="roundRect">
            <a:avLst/>
          </a:prstGeom>
          <a:noFill/>
          <a:ln w="31115" cap="flat" cmpd="sng" algn="ctr">
            <a:solidFill>
              <a:srgbClr val="276756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BBAB7BF-3C87-DA70-7F1F-75EF6FF0F187}"/>
              </a:ext>
            </a:extLst>
          </p:cNvPr>
          <p:cNvSpPr/>
          <p:nvPr/>
        </p:nvSpPr>
        <p:spPr>
          <a:xfrm>
            <a:off x="1146175" y="2384425"/>
            <a:ext cx="222250" cy="88900"/>
          </a:xfrm>
          <a:prstGeom prst="rect">
            <a:avLst/>
          </a:prstGeom>
          <a:noFill/>
          <a:ln w="31115" cap="flat" cmpd="sng" algn="ctr">
            <a:solidFill>
              <a:srgbClr val="276756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E96E0AA6-6154-EEA7-F66D-C39226B685D9}"/>
              </a:ext>
            </a:extLst>
          </p:cNvPr>
          <p:cNvSpPr/>
          <p:nvPr/>
        </p:nvSpPr>
        <p:spPr>
          <a:xfrm>
            <a:off x="1168400" y="2540000"/>
            <a:ext cx="22225" cy="22225"/>
          </a:xfrm>
          <a:prstGeom prst="ellipse">
            <a:avLst/>
          </a:prstGeom>
          <a:solidFill>
            <a:srgbClr val="276756"/>
          </a:solidFill>
          <a:ln w="31115">
            <a:solidFill>
              <a:srgbClr val="2767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237F8C1D-4A7B-1FAB-2D96-FF52D05D32EB}"/>
              </a:ext>
            </a:extLst>
          </p:cNvPr>
          <p:cNvSpPr/>
          <p:nvPr/>
        </p:nvSpPr>
        <p:spPr>
          <a:xfrm>
            <a:off x="1323975" y="2540000"/>
            <a:ext cx="22225" cy="22225"/>
          </a:xfrm>
          <a:prstGeom prst="ellipse">
            <a:avLst/>
          </a:prstGeom>
          <a:solidFill>
            <a:srgbClr val="276756"/>
          </a:solidFill>
          <a:ln w="31115">
            <a:solidFill>
              <a:srgbClr val="2767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6DAC0A60-3A61-6E2A-3F4D-39F7A9180775}"/>
              </a:ext>
            </a:extLst>
          </p:cNvPr>
          <p:cNvSpPr/>
          <p:nvPr/>
        </p:nvSpPr>
        <p:spPr>
          <a:xfrm>
            <a:off x="1168400" y="2651125"/>
            <a:ext cx="22225" cy="22225"/>
          </a:xfrm>
          <a:prstGeom prst="ellipse">
            <a:avLst/>
          </a:prstGeom>
          <a:solidFill>
            <a:srgbClr val="276756"/>
          </a:solidFill>
          <a:ln w="31115">
            <a:solidFill>
              <a:srgbClr val="2767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D5A7BC0E-4C57-A5F5-C49C-8170FA0CA83D}"/>
              </a:ext>
            </a:extLst>
          </p:cNvPr>
          <p:cNvSpPr/>
          <p:nvPr/>
        </p:nvSpPr>
        <p:spPr>
          <a:xfrm>
            <a:off x="1323975" y="2651125"/>
            <a:ext cx="22225" cy="22225"/>
          </a:xfrm>
          <a:prstGeom prst="ellipse">
            <a:avLst/>
          </a:prstGeom>
          <a:solidFill>
            <a:srgbClr val="276756"/>
          </a:solidFill>
          <a:ln w="31115">
            <a:solidFill>
              <a:srgbClr val="2767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0D7BEB0-396A-B4C7-72BE-091AA3AA8B6E}"/>
              </a:ext>
            </a:extLst>
          </p:cNvPr>
          <p:cNvSpPr txBox="1"/>
          <p:nvPr/>
        </p:nvSpPr>
        <p:spPr>
          <a:xfrm>
            <a:off x="1016000" y="3111500"/>
            <a:ext cx="46228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3600" b="1">
                <a:solidFill>
                  <a:srgbClr val="276756"/>
                </a:solidFill>
                <a:latin typeface="Cambria Math" panose="02040503050406030204" pitchFamily="18" charset="0"/>
                <a:ea typeface="BIZ UDPGothic" panose="020B0400000000000000" pitchFamily="50" charset="-128"/>
              </a:rPr>
              <a:t>1 + 3 + 5 = 9</a:t>
            </a:r>
            <a:endParaRPr kumimoji="1" lang="ja-JP" altLang="en-US" sz="3600" b="1">
              <a:solidFill>
                <a:srgbClr val="276756"/>
              </a:solidFill>
              <a:latin typeface="Cambria Math" panose="02040503050406030204" pitchFamily="18" charset="0"/>
              <a:ea typeface="BIZ UDPGothic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8052A1E-65E6-FB7E-D448-99CEBB945471}"/>
              </a:ext>
            </a:extLst>
          </p:cNvPr>
          <p:cNvSpPr txBox="1"/>
          <p:nvPr/>
        </p:nvSpPr>
        <p:spPr>
          <a:xfrm>
            <a:off x="1016000" y="5016500"/>
            <a:ext cx="46228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203B39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最初の</a:t>
            </a:r>
            <a:r>
              <a:rPr kumimoji="1" lang="en-US" altLang="ja-JP">
                <a:solidFill>
                  <a:srgbClr val="203B39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</a:t>
            </a:r>
            <a:r>
              <a:rPr kumimoji="1" lang="ja-JP" altLang="en-US">
                <a:solidFill>
                  <a:srgbClr val="203B39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個の正の奇数を足した例。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82AE271B-4A94-4676-00D5-F2CC6E98F279}"/>
              </a:ext>
            </a:extLst>
          </p:cNvPr>
          <p:cNvSpPr/>
          <p:nvPr/>
        </p:nvSpPr>
        <p:spPr>
          <a:xfrm>
            <a:off x="6273800" y="2019300"/>
            <a:ext cx="5207000" cy="1854200"/>
          </a:xfrm>
          <a:prstGeom prst="rect">
            <a:avLst/>
          </a:prstGeom>
          <a:solidFill>
            <a:srgbClr val="E6EF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EC6C0612-6195-69AA-B150-602EA65D89EE}"/>
              </a:ext>
            </a:extLst>
          </p:cNvPr>
          <p:cNvSpPr/>
          <p:nvPr/>
        </p:nvSpPr>
        <p:spPr>
          <a:xfrm>
            <a:off x="6273800" y="2019300"/>
            <a:ext cx="38100" cy="1854200"/>
          </a:xfrm>
          <a:prstGeom prst="rect">
            <a:avLst/>
          </a:prstGeom>
          <a:solidFill>
            <a:srgbClr val="2767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0F67A80-2578-A52E-5E80-57D4DF00271B}"/>
              </a:ext>
            </a:extLst>
          </p:cNvPr>
          <p:cNvSpPr txBox="1"/>
          <p:nvPr/>
        </p:nvSpPr>
        <p:spPr>
          <a:xfrm>
            <a:off x="6527800" y="2133600"/>
            <a:ext cx="469900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400" b="1">
                <a:solidFill>
                  <a:srgbClr val="276756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数の並び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7424807-7241-9433-CCF1-A2244486A75F}"/>
              </a:ext>
            </a:extLst>
          </p:cNvPr>
          <p:cNvSpPr txBox="1"/>
          <p:nvPr/>
        </p:nvSpPr>
        <p:spPr>
          <a:xfrm>
            <a:off x="6527800" y="2933700"/>
            <a:ext cx="4699000" cy="901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203B39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正の奇数を小さい順に足す。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21235DCB-E9B5-63A5-EF64-CDC3B7955F19}"/>
              </a:ext>
            </a:extLst>
          </p:cNvPr>
          <p:cNvSpPr/>
          <p:nvPr/>
        </p:nvSpPr>
        <p:spPr>
          <a:xfrm>
            <a:off x="6273800" y="4025900"/>
            <a:ext cx="5207000" cy="1854200"/>
          </a:xfrm>
          <a:prstGeom prst="rect">
            <a:avLst/>
          </a:prstGeom>
          <a:solidFill>
            <a:srgbClr val="E7EE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0A8EE953-4566-6AC3-611D-6209437CC951}"/>
              </a:ext>
            </a:extLst>
          </p:cNvPr>
          <p:cNvSpPr/>
          <p:nvPr/>
        </p:nvSpPr>
        <p:spPr>
          <a:xfrm>
            <a:off x="6273800" y="4025900"/>
            <a:ext cx="38100" cy="1854200"/>
          </a:xfrm>
          <a:prstGeom prst="rect">
            <a:avLst/>
          </a:prstGeom>
          <a:solidFill>
            <a:srgbClr val="385C9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5A8652F2-A90E-DB53-6FFE-A589C0E060C7}"/>
              </a:ext>
            </a:extLst>
          </p:cNvPr>
          <p:cNvSpPr txBox="1"/>
          <p:nvPr/>
        </p:nvSpPr>
        <p:spPr>
          <a:xfrm>
            <a:off x="6527800" y="4140200"/>
            <a:ext cx="469900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400" b="1">
                <a:solidFill>
                  <a:srgbClr val="385C94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平方との対応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0A048255-E150-C036-D320-081DBABEAB1E}"/>
              </a:ext>
            </a:extLst>
          </p:cNvPr>
          <p:cNvSpPr txBox="1"/>
          <p:nvPr/>
        </p:nvSpPr>
        <p:spPr>
          <a:xfrm>
            <a:off x="6527800" y="4940300"/>
            <a:ext cx="4699000" cy="901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1700">
                <a:solidFill>
                  <a:srgbClr val="203B39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 × 3 </a:t>
            </a:r>
            <a:r>
              <a:rPr kumimoji="1" lang="ja-JP" altLang="en-US" sz="1700">
                <a:solidFill>
                  <a:srgbClr val="203B39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と同じ値になる。</a:t>
            </a:r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0B2385AD-BEAC-6E81-B9A4-74F794C4E22C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1EF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6BBF5289-DA09-F673-CFD9-B3D6802C9E85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963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 / 4</a:t>
            </a:r>
            <a:endParaRPr kumimoji="1" lang="ja-JP" altLang="en-US" sz="1000">
              <a:solidFill>
                <a:srgbClr val="526963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05260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3">
    <p:bg>
      <p:bgPr>
        <a:solidFill>
          <a:srgbClr val="F5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DF64BBC-D3C3-2C37-F30D-99094EBACCB1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203B39"/>
                </a:solidFill>
                <a:latin typeface="UD Digi Kyokasho NP" panose="02020400000000000000" pitchFamily="18" charset="-128"/>
                <a:ea typeface="UD Digi Kyokasho NP" panose="02020400000000000000" pitchFamily="18" charset="-128"/>
              </a:rPr>
              <a:t>観察・予想・証明で理解を深める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625ECB47-FB73-E2A6-20C4-8AED75E6B494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1EF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楕円 3">
            <a:extLst>
              <a:ext uri="{FF2B5EF4-FFF2-40B4-BE49-F238E27FC236}">
                <a16:creationId xmlns:a16="http://schemas.microsoft.com/office/drawing/2014/main" id="{0023DE52-B794-316B-0FE3-036E67F990C0}"/>
              </a:ext>
            </a:extLst>
          </p:cNvPr>
          <p:cNvSpPr/>
          <p:nvPr/>
        </p:nvSpPr>
        <p:spPr>
          <a:xfrm>
            <a:off x="1960033" y="2133600"/>
            <a:ext cx="889000" cy="889000"/>
          </a:xfrm>
          <a:prstGeom prst="ellipse">
            <a:avLst/>
          </a:prstGeom>
          <a:solidFill>
            <a:srgbClr val="2767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F7A9AAE-67A5-CD07-CA32-C21C80563072}"/>
              </a:ext>
            </a:extLst>
          </p:cNvPr>
          <p:cNvSpPr txBox="1"/>
          <p:nvPr/>
        </p:nvSpPr>
        <p:spPr>
          <a:xfrm>
            <a:off x="2061633" y="2247900"/>
            <a:ext cx="6858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3200" b="1">
                <a:solidFill>
                  <a:srgbClr val="FFFFFF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1</a:t>
            </a:r>
            <a:endParaRPr kumimoji="1" lang="ja-JP" altLang="en-US" sz="3200" b="1">
              <a:solidFill>
                <a:srgbClr val="FFFFFF"/>
              </a:solidFill>
              <a:latin typeface="Arial" panose="020B0604020202020204" pitchFamily="34" charset="0"/>
              <a:ea typeface="BIZ UDPGothic" panose="020B0400000000000000" pitchFamily="50" charset="-128"/>
            </a:endParaRP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A527BD83-B924-0FB8-EE12-40ED79A84190}"/>
              </a:ext>
            </a:extLst>
          </p:cNvPr>
          <p:cNvSpPr/>
          <p:nvPr/>
        </p:nvSpPr>
        <p:spPr>
          <a:xfrm>
            <a:off x="711200" y="3327400"/>
            <a:ext cx="3386667" cy="1181100"/>
          </a:xfrm>
          <a:prstGeom prst="roundRect">
            <a:avLst/>
          </a:prstGeom>
          <a:solidFill>
            <a:srgbClr val="E6EFE8"/>
          </a:solidFill>
          <a:ln w="12700">
            <a:solidFill>
              <a:srgbClr val="2767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6AB16D3-05B1-894D-FACB-A67E4B3718B4}"/>
              </a:ext>
            </a:extLst>
          </p:cNvPr>
          <p:cNvSpPr txBox="1"/>
          <p:nvPr/>
        </p:nvSpPr>
        <p:spPr>
          <a:xfrm>
            <a:off x="863600" y="3479800"/>
            <a:ext cx="3081867" cy="863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400" b="1">
                <a:solidFill>
                  <a:srgbClr val="276756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観察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319FE92-531C-71A1-86FC-43B1B667A0B8}"/>
              </a:ext>
            </a:extLst>
          </p:cNvPr>
          <p:cNvSpPr txBox="1"/>
          <p:nvPr/>
        </p:nvSpPr>
        <p:spPr>
          <a:xfrm>
            <a:off x="838200" y="4813300"/>
            <a:ext cx="3132667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203B39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いくつかの例を確かめる。</a:t>
            </a:r>
          </a:p>
        </p:txBody>
      </p:sp>
      <p:sp>
        <p:nvSpPr>
          <p:cNvPr id="9" name="矢印: 右 8">
            <a:extLst>
              <a:ext uri="{FF2B5EF4-FFF2-40B4-BE49-F238E27FC236}">
                <a16:creationId xmlns:a16="http://schemas.microsoft.com/office/drawing/2014/main" id="{C812AB34-409A-8AF5-56E2-455F15706316}"/>
              </a:ext>
            </a:extLst>
          </p:cNvPr>
          <p:cNvSpPr/>
          <p:nvPr/>
        </p:nvSpPr>
        <p:spPr>
          <a:xfrm>
            <a:off x="4148667" y="3759200"/>
            <a:ext cx="203200" cy="228600"/>
          </a:xfrm>
          <a:prstGeom prst="rightArrow">
            <a:avLst/>
          </a:prstGeom>
          <a:solidFill>
            <a:srgbClr val="5269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EC84317B-7474-FDE6-04D5-85F09F9E693F}"/>
              </a:ext>
            </a:extLst>
          </p:cNvPr>
          <p:cNvSpPr/>
          <p:nvPr/>
        </p:nvSpPr>
        <p:spPr>
          <a:xfrm>
            <a:off x="5651500" y="2133600"/>
            <a:ext cx="889000" cy="889000"/>
          </a:xfrm>
          <a:prstGeom prst="ellipse">
            <a:avLst/>
          </a:prstGeom>
          <a:solidFill>
            <a:srgbClr val="385C9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88608BE-7D02-022E-0CBC-5732D1006C16}"/>
              </a:ext>
            </a:extLst>
          </p:cNvPr>
          <p:cNvSpPr txBox="1"/>
          <p:nvPr/>
        </p:nvSpPr>
        <p:spPr>
          <a:xfrm>
            <a:off x="5753100" y="2247900"/>
            <a:ext cx="6858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3200" b="1">
                <a:solidFill>
                  <a:srgbClr val="FFFFFF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2</a:t>
            </a:r>
            <a:endParaRPr kumimoji="1" lang="ja-JP" altLang="en-US" sz="3200" b="1">
              <a:solidFill>
                <a:srgbClr val="FFFFFF"/>
              </a:solidFill>
              <a:latin typeface="Arial" panose="020B0604020202020204" pitchFamily="34" charset="0"/>
              <a:ea typeface="BIZ UDPGothic" panose="020B0400000000000000" pitchFamily="50" charset="-128"/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6EC2A4BE-B6E4-CC3E-9CBA-60B69B75F248}"/>
              </a:ext>
            </a:extLst>
          </p:cNvPr>
          <p:cNvSpPr/>
          <p:nvPr/>
        </p:nvSpPr>
        <p:spPr>
          <a:xfrm>
            <a:off x="4402667" y="3327400"/>
            <a:ext cx="3386666" cy="1181100"/>
          </a:xfrm>
          <a:prstGeom prst="roundRect">
            <a:avLst/>
          </a:prstGeom>
          <a:solidFill>
            <a:srgbClr val="E7EEED"/>
          </a:solidFill>
          <a:ln w="12700">
            <a:solidFill>
              <a:srgbClr val="385C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1263B01-5BF3-B1BD-EA68-D499952892D9}"/>
              </a:ext>
            </a:extLst>
          </p:cNvPr>
          <p:cNvSpPr txBox="1"/>
          <p:nvPr/>
        </p:nvSpPr>
        <p:spPr>
          <a:xfrm>
            <a:off x="4555067" y="3479800"/>
            <a:ext cx="3081867" cy="863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400" b="1">
                <a:solidFill>
                  <a:srgbClr val="385C94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予想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0642882E-3D90-05C8-6182-192AE6F3C7C1}"/>
              </a:ext>
            </a:extLst>
          </p:cNvPr>
          <p:cNvSpPr txBox="1"/>
          <p:nvPr/>
        </p:nvSpPr>
        <p:spPr>
          <a:xfrm>
            <a:off x="4529667" y="4813300"/>
            <a:ext cx="3132667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203B39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共通する規則を考える。</a:t>
            </a:r>
          </a:p>
        </p:txBody>
      </p:sp>
      <p:sp>
        <p:nvSpPr>
          <p:cNvPr id="15" name="矢印: 右 14">
            <a:extLst>
              <a:ext uri="{FF2B5EF4-FFF2-40B4-BE49-F238E27FC236}">
                <a16:creationId xmlns:a16="http://schemas.microsoft.com/office/drawing/2014/main" id="{9D2A2205-67B3-294B-65B6-B86BBE7CE9D3}"/>
              </a:ext>
            </a:extLst>
          </p:cNvPr>
          <p:cNvSpPr/>
          <p:nvPr/>
        </p:nvSpPr>
        <p:spPr>
          <a:xfrm>
            <a:off x="7840133" y="3759200"/>
            <a:ext cx="203200" cy="228600"/>
          </a:xfrm>
          <a:prstGeom prst="rightArrow">
            <a:avLst/>
          </a:prstGeom>
          <a:solidFill>
            <a:srgbClr val="5269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09C94796-902A-E381-BA0F-A8B0F69BC931}"/>
              </a:ext>
            </a:extLst>
          </p:cNvPr>
          <p:cNvSpPr/>
          <p:nvPr/>
        </p:nvSpPr>
        <p:spPr>
          <a:xfrm>
            <a:off x="9342967" y="2133600"/>
            <a:ext cx="889000" cy="889000"/>
          </a:xfrm>
          <a:prstGeom prst="ellipse">
            <a:avLst/>
          </a:prstGeom>
          <a:solidFill>
            <a:srgbClr val="9753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8FFE8F0F-064E-1D70-AFA1-3CC03D9DCEAE}"/>
              </a:ext>
            </a:extLst>
          </p:cNvPr>
          <p:cNvSpPr txBox="1"/>
          <p:nvPr/>
        </p:nvSpPr>
        <p:spPr>
          <a:xfrm>
            <a:off x="9444567" y="2247900"/>
            <a:ext cx="6858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3200" b="1">
                <a:solidFill>
                  <a:srgbClr val="FFFFFF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3</a:t>
            </a:r>
            <a:endParaRPr kumimoji="1" lang="ja-JP" altLang="en-US" sz="3200" b="1">
              <a:solidFill>
                <a:srgbClr val="FFFFFF"/>
              </a:solidFill>
              <a:latin typeface="Arial" panose="020B0604020202020204" pitchFamily="34" charset="0"/>
              <a:ea typeface="BIZ UDPGothic" panose="020B0400000000000000" pitchFamily="50" charset="-128"/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5F1830F5-5587-DB3D-C7B4-E99709271C13}"/>
              </a:ext>
            </a:extLst>
          </p:cNvPr>
          <p:cNvSpPr/>
          <p:nvPr/>
        </p:nvSpPr>
        <p:spPr>
          <a:xfrm>
            <a:off x="8094133" y="3327400"/>
            <a:ext cx="3386667" cy="1181100"/>
          </a:xfrm>
          <a:prstGeom prst="roundRect">
            <a:avLst/>
          </a:prstGeom>
          <a:solidFill>
            <a:srgbClr val="EEEDE4"/>
          </a:solidFill>
          <a:ln w="12700">
            <a:solidFill>
              <a:srgbClr val="9753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1618E0B2-5A69-D219-386F-D51D546572C2}"/>
              </a:ext>
            </a:extLst>
          </p:cNvPr>
          <p:cNvSpPr txBox="1"/>
          <p:nvPr/>
        </p:nvSpPr>
        <p:spPr>
          <a:xfrm>
            <a:off x="8246533" y="3479800"/>
            <a:ext cx="3081867" cy="863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400" b="1">
                <a:solidFill>
                  <a:srgbClr val="97531D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証明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EAD9D55A-7128-0877-4EA1-C2A5AB4553BB}"/>
              </a:ext>
            </a:extLst>
          </p:cNvPr>
          <p:cNvSpPr txBox="1"/>
          <p:nvPr/>
        </p:nvSpPr>
        <p:spPr>
          <a:xfrm>
            <a:off x="8221133" y="4813300"/>
            <a:ext cx="3132667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203B39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全ての場合で説明する。</a:t>
            </a:r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D859B4F2-B9EE-9721-4A00-C9250F5DC915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1EF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C9C87DC8-7B61-9D4B-380A-864642643309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963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 / 4</a:t>
            </a:r>
            <a:endParaRPr kumimoji="1" lang="ja-JP" altLang="en-US" sz="1000">
              <a:solidFill>
                <a:srgbClr val="526963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46771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4">
    <p:bg>
      <p:bgPr>
        <a:solidFill>
          <a:srgbClr val="F5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148EE06-C87B-8F8C-3E1F-35C41B9A9CF9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203B39"/>
                </a:solidFill>
                <a:latin typeface="UD Digi Kyokasho NP" panose="02020400000000000000" pitchFamily="18" charset="-128"/>
                <a:ea typeface="UD Digi Kyokasho NP" panose="02020400000000000000" pitchFamily="18" charset="-128"/>
              </a:rPr>
              <a:t>例から生まれた予想を証明につなぐ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00E64A80-97E5-4FF0-F1BF-A8495D925726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1EF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73C99DAC-D569-74A5-0B39-D45686B5CF00}"/>
              </a:ext>
            </a:extLst>
          </p:cNvPr>
          <p:cNvSpPr/>
          <p:nvPr/>
        </p:nvSpPr>
        <p:spPr>
          <a:xfrm>
            <a:off x="711200" y="2019300"/>
            <a:ext cx="4699000" cy="4013200"/>
          </a:xfrm>
          <a:prstGeom prst="roundRect">
            <a:avLst/>
          </a:prstGeom>
          <a:solidFill>
            <a:srgbClr val="2767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F156E98-9793-90BE-723F-861A8F116A85}"/>
              </a:ext>
            </a:extLst>
          </p:cNvPr>
          <p:cNvSpPr txBox="1"/>
          <p:nvPr/>
        </p:nvSpPr>
        <p:spPr>
          <a:xfrm>
            <a:off x="1016000" y="2400300"/>
            <a:ext cx="4089400" cy="2413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800" b="1">
                <a:solidFill>
                  <a:srgbClr val="FFFFFF"/>
                </a:solidFill>
                <a:latin typeface="UD Digi Kyokasho NP" panose="02020400000000000000" pitchFamily="18" charset="-128"/>
                <a:ea typeface="UD Digi Kyokasho NP" panose="02020400000000000000" pitchFamily="18" charset="-128"/>
              </a:rPr>
              <a:t>例を確かめ、
規則を証明する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89BBA9A-F822-FD23-8CAF-B582E4168B05}"/>
              </a:ext>
            </a:extLst>
          </p:cNvPr>
          <p:cNvSpPr txBox="1"/>
          <p:nvPr/>
        </p:nvSpPr>
        <p:spPr>
          <a:xfrm>
            <a:off x="1016000" y="5054600"/>
            <a:ext cx="408940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FFFF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数や図形の見方を切り替える。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C64A29F-F5FF-8C43-069C-02B2651AED0A}"/>
              </a:ext>
            </a:extLst>
          </p:cNvPr>
          <p:cNvSpPr/>
          <p:nvPr/>
        </p:nvSpPr>
        <p:spPr>
          <a:xfrm>
            <a:off x="5765800" y="2019300"/>
            <a:ext cx="5715000" cy="1854200"/>
          </a:xfrm>
          <a:prstGeom prst="rect">
            <a:avLst/>
          </a:prstGeom>
          <a:solidFill>
            <a:srgbClr val="E6EF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95141BE-9F4C-ACDD-7502-6D7439AF6871}"/>
              </a:ext>
            </a:extLst>
          </p:cNvPr>
          <p:cNvSpPr/>
          <p:nvPr/>
        </p:nvSpPr>
        <p:spPr>
          <a:xfrm>
            <a:off x="5765800" y="2019300"/>
            <a:ext cx="38100" cy="1854200"/>
          </a:xfrm>
          <a:prstGeom prst="rect">
            <a:avLst/>
          </a:prstGeom>
          <a:solidFill>
            <a:srgbClr val="2767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C953CE9-983E-5E7D-DE8A-EDAF8F9D200C}"/>
              </a:ext>
            </a:extLst>
          </p:cNvPr>
          <p:cNvSpPr txBox="1"/>
          <p:nvPr/>
        </p:nvSpPr>
        <p:spPr>
          <a:xfrm>
            <a:off x="6019800" y="2159000"/>
            <a:ext cx="51689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600" b="1">
                <a:solidFill>
                  <a:srgbClr val="276756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計算で確かめる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436A7DD-8651-73C6-260C-82FF18FF7417}"/>
              </a:ext>
            </a:extLst>
          </p:cNvPr>
          <p:cNvSpPr txBox="1"/>
          <p:nvPr/>
        </p:nvSpPr>
        <p:spPr>
          <a:xfrm>
            <a:off x="6019800" y="3035300"/>
            <a:ext cx="51689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203B39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まずは具体的な数で試す。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2F60C31-C64B-A263-D181-1D54F0C13DAF}"/>
              </a:ext>
            </a:extLst>
          </p:cNvPr>
          <p:cNvSpPr/>
          <p:nvPr/>
        </p:nvSpPr>
        <p:spPr>
          <a:xfrm>
            <a:off x="5765800" y="4025900"/>
            <a:ext cx="5715000" cy="1854200"/>
          </a:xfrm>
          <a:prstGeom prst="rect">
            <a:avLst/>
          </a:prstGeom>
          <a:solidFill>
            <a:srgbClr val="E7EE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E990F08-A2FC-1539-FAB7-9C1BB3B66B4A}"/>
              </a:ext>
            </a:extLst>
          </p:cNvPr>
          <p:cNvSpPr/>
          <p:nvPr/>
        </p:nvSpPr>
        <p:spPr>
          <a:xfrm>
            <a:off x="5765800" y="4025900"/>
            <a:ext cx="38100" cy="1854200"/>
          </a:xfrm>
          <a:prstGeom prst="rect">
            <a:avLst/>
          </a:prstGeom>
          <a:solidFill>
            <a:srgbClr val="385C9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F9D6BBB-AC24-1C17-CF0B-EA1D15BD0A47}"/>
              </a:ext>
            </a:extLst>
          </p:cNvPr>
          <p:cNvSpPr txBox="1"/>
          <p:nvPr/>
        </p:nvSpPr>
        <p:spPr>
          <a:xfrm>
            <a:off x="6019800" y="4165600"/>
            <a:ext cx="51689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600" b="1">
                <a:solidFill>
                  <a:srgbClr val="385C94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図形で考える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70F46B1-B5F0-85DB-8EBB-AF8B88105B46}"/>
              </a:ext>
            </a:extLst>
          </p:cNvPr>
          <p:cNvSpPr txBox="1"/>
          <p:nvPr/>
        </p:nvSpPr>
        <p:spPr>
          <a:xfrm>
            <a:off x="6019800" y="5041900"/>
            <a:ext cx="51689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203B39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数の関係を形で説明する。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E13686BD-3F41-4DEC-A9E1-B25EBDCEEECA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1EF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982C5A8-93A1-931B-52FB-8A7AD31FD83B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963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4 / 4</a:t>
            </a:r>
            <a:endParaRPr kumimoji="1" lang="ja-JP" altLang="en-US" sz="1000">
              <a:solidFill>
                <a:srgbClr val="526963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84287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rgbClr val="203B39"/>
      </a:dk1>
      <a:lt1>
        <a:sysClr val="window" lastClr="FFFFFF"/>
      </a:lt1>
      <a:dk2>
        <a:srgbClr val="0E2841"/>
      </a:dk2>
      <a:lt2>
        <a:srgbClr val="E8E8E8"/>
      </a:lt2>
      <a:accent1>
        <a:srgbClr val="276756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365</Words>
  <Application>Microsoft Office PowerPoint</Application>
  <PresentationFormat>ユーザー設定</PresentationFormat>
  <Paragraphs>38</Paragraphs>
  <Slides>4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1" baseType="lpstr">
      <vt:lpstr>BIZ UDPGothic</vt:lpstr>
      <vt:lpstr>UD Digi Kyokasho NP</vt:lpstr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Designer Extention</dc:creator>
  <cp:lastModifiedBy>Designer Extention</cp:lastModifiedBy>
  <cp:revision>1</cp:revision>
  <dcterms:created xsi:type="dcterms:W3CDTF">2026-10-01T06:12:13Z</dcterms:created>
  <dcterms:modified xsi:type="dcterms:W3CDTF">2026-10-01T06:12:13Z</dcterms:modified>
</cp:coreProperties>
</file>