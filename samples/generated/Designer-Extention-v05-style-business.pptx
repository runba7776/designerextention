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340FD-CE55-4D58-B96B-1D391FBF97D6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8FF96-1218-46C6-A70B-8194B6B20C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2626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題名を中央または左上の広い領域に、導入を下に置く
用途</a:t>
            </a:r>
            <a:r>
              <a:rPr kumimoji="1" lang="en-US" altLang="ja-JP"/>
              <a:t>: </a:t>
            </a:r>
            <a:r>
              <a:rPr kumimoji="1" lang="ja-JP" altLang="en-US"/>
              <a:t>題名と導入を大きく見せる表紙
注意</a:t>
            </a:r>
            <a:r>
              <a:rPr kumimoji="1" lang="en-US" altLang="ja-JP"/>
              <a:t>: </a:t>
            </a:r>
            <a:r>
              <a:rPr kumimoji="1" lang="ja-JP" altLang="en-US"/>
              <a:t>本文のページには使用しない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判別しやすい </a:t>
            </a:r>
            <a:r>
              <a:rPr kumimoji="1" lang="en-US" altLang="ja-JP"/>
              <a:t>UD</a:t>
            </a:r>
            <a:r>
              <a:rPr kumimoji="1" lang="ja-JP" altLang="en-US"/>
              <a:t>・編集できる図形
同じ条件で情報を確かめます。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8FF96-1218-46C6-A70B-8194B6B20C41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9776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各対象の名前を色帯に置き、その下の枠に同じ高さで説明をそろえる
用途</a:t>
            </a:r>
            <a:r>
              <a:rPr kumimoji="1" lang="en-US" altLang="ja-JP"/>
              <a:t>: </a:t>
            </a:r>
            <a:r>
              <a:rPr kumimoji="1" lang="ja-JP" altLang="en-US"/>
              <a:t>対象名と説明の対応をはっきりさせたい比較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対象名</a:t>
            </a:r>
            <a:r>
              <a:rPr kumimoji="1" lang="en-US" altLang="ja-JP"/>
              <a:t>18</a:t>
            </a:r>
            <a:r>
              <a:rPr kumimoji="1" lang="ja-JP" altLang="en-US"/>
              <a:t>文字、説明</a:t>
            </a:r>
            <a:r>
              <a:rPr kumimoji="1" lang="en-US" altLang="ja-JP"/>
              <a:t>75</a:t>
            </a:r>
            <a:r>
              <a:rPr kumimoji="1" lang="ja-JP" altLang="en-US"/>
              <a:t>文字。値を示す場合は単位と条件を残す。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8FF96-1218-46C6-A70B-8194B6B20C41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3402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横長の長方形ごとに、左へ項目名、右へ説明を配置
用途</a:t>
            </a:r>
            <a:r>
              <a:rPr kumimoji="1" lang="en-US" altLang="ja-JP"/>
              <a:t>: </a:t>
            </a:r>
            <a:r>
              <a:rPr kumimoji="1" lang="ja-JP" altLang="en-US"/>
              <a:t>各項目の説明が少し長い箇条書きを整理するとき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56</a:t>
            </a:r>
            <a:r>
              <a:rPr kumimoji="1" lang="ja-JP" altLang="en-US"/>
              <a:t>文字。</a:t>
            </a:r>
            <a:r>
              <a:rPr kumimoji="1" lang="en-US" altLang="ja-JP"/>
              <a:t>4</a:t>
            </a:r>
            <a:r>
              <a:rPr kumimoji="1" lang="ja-JP" altLang="en-US"/>
              <a:t>項目なら説明</a:t>
            </a:r>
            <a:r>
              <a:rPr kumimoji="1" lang="en-US" altLang="ja-JP"/>
              <a:t>40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8FF96-1218-46C6-A70B-8194B6B20C41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4032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上部中央に広い数式・概念、下部に具体例を横並び
用途</a:t>
            </a:r>
            <a:r>
              <a:rPr kumimoji="1" lang="en-US" altLang="ja-JP"/>
              <a:t>: </a:t>
            </a:r>
            <a:r>
              <a:rPr kumimoji="1" lang="ja-JP" altLang="en-US"/>
              <a:t>横に長い式や短い概念を見せたいとき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8FF96-1218-46C6-A70B-8194B6B20C41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5902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8F30FB-1D35-C782-0BA0-609AF706D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B16BF40-7C0A-8875-3FA9-C057BBD41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33E5CA-25E3-BB35-7C74-691F770DA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E994C-CB86-499B-AC40-8339237B06A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90BDFD-DD3D-472D-7315-75D0A85C8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3ED7B6-84E1-1DF8-E865-6315D53BC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E630-6D2C-4775-881D-8EC3CE307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0099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D35FE5-31FE-6270-0CC5-E96EA10B0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8ACF0A-81F6-7001-40A1-F4178E678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8992BE-E9A3-4F81-5059-961703BCB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E994C-CB86-499B-AC40-8339237B06A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E3DB10-BF92-140B-C4F7-E8D04C701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2657C4-7B39-39FC-01E8-61CA7A5E7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E630-6D2C-4775-881D-8EC3CE307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5165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3C1379-61F1-B23D-3194-2E925B5F7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A0D544D-A20F-1791-8A47-DD6476C57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3B4A04-16B2-E2FE-9B84-F5BA2A7C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E994C-CB86-499B-AC40-8339237B06A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3B9215-B9E1-5EF3-B8D1-D4C69F01F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7A649F-8002-88B4-0ECA-400848A7B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E630-6D2C-4775-881D-8EC3CE307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5295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A1A31F-BC56-FA84-3879-F39BB1CA3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7DA02D-C6BE-4F67-63C7-1A091962AE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93E0DDA-B606-3AFF-9893-0094A58C5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C0A4F24-C657-E279-67D5-92DC4F3D6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E994C-CB86-499B-AC40-8339237B06A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DBA6D9D-1517-CBBA-AE4C-68264254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9C01E02-AC36-F07F-7672-4AD23FA6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E630-6D2C-4775-881D-8EC3CE307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0042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8E9F7F-92C3-0FF3-4DCC-C3ED4225F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4BC62E-3FAA-EBC0-D50E-B81B271C6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CE63B86-35D9-E822-86C4-44D5E1F84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A9F5729-7E2B-E153-F356-623FC2032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952CC84-045F-2A39-320A-1C3DF68A4E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8F9FBBC-2BEF-D0D3-E02E-D052DB06E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E994C-CB86-499B-AC40-8339237B06A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CA1A7D7-E8A4-A8C9-C51F-ACF53CC64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AD01507-D2B4-1FAF-FAB9-D141D91B6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E630-6D2C-4775-881D-8EC3CE307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3586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5D5B5D-AD96-086B-2928-C4074F966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27C28EF-5071-7F04-1046-CA9818DA0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E994C-CB86-499B-AC40-8339237B06A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AE81CE0-970E-052C-52F8-7BF99D67C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C6C8C2B-DD61-3485-4BA4-B1DA13D51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E630-6D2C-4775-881D-8EC3CE307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2812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1B1C28B-E6C4-1DB2-F8E5-FF44248FD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E994C-CB86-499B-AC40-8339237B06A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F8D2478-F0F3-C01F-23BA-1FF7DE6E0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A3B827-D466-7330-C877-E3AE0E2D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E630-6D2C-4775-881D-8EC3CE307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8303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FCB7E0-E4A0-8561-0C09-6CCD95DBB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479F1B-A820-35E3-C523-CF91E9A82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1A20181-3E4A-DA0E-EDB8-B2357B3CA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16F3BD2-AF00-2AAD-C9DF-9BF1B5BDB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E994C-CB86-499B-AC40-8339237B06A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B59D42-3702-C60A-270A-EF5DDD827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AA8BEB-F334-3375-B46F-738E93E02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E630-6D2C-4775-881D-8EC3CE307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9249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62D1CF-E1B0-2CA1-C311-C1EB192DC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162ECC0-5F47-9D4F-645D-AE6E7F9C84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9C9A6F8-511E-269E-45D7-FE49BF6A6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5345B6C-506B-72CD-DE9A-32AFC32F4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E994C-CB86-499B-AC40-8339237B06A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41ACE48-7526-D176-C267-6B16663E6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083375-BB1A-D831-103D-857F7EC69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E630-6D2C-4775-881D-8EC3CE307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770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E049E0-5374-B2D3-87FD-B557B2CD2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EF9197E-17D2-8832-08CB-C710860A1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A7C3BE-D3A8-A7D7-4E6A-11EAFAD3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E994C-CB86-499B-AC40-8339237B06A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7EDC9C-8A6A-B3F9-1D59-97E3BAF58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A5219A-A1A4-2924-7095-EC2D8CCB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E630-6D2C-4775-881D-8EC3CE307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8481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45996BC-C00B-3A7A-7CAF-ECD257A556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5B7E88A-7288-2609-5AED-EBFF2025A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97F1F8-BD15-9A28-1448-52B475DC1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E994C-CB86-499B-AC40-8339237B06A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B3820E-B143-1476-BAFD-33F02D8A3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DFA9C9-1738-E2E6-3EBA-DAD62842D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1E630-6D2C-4775-881D-8EC3CE307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359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7650DA1-655D-BBE2-0A4F-D601D89FB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5D7664-E55F-0C72-D229-D4A6871FF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EF75A7-2671-B132-3525-27BFCFF2AB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8E994C-CB86-499B-AC40-8339237B06A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3B0A90-68BB-C686-DEB2-C6C97BE0D5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F1FDA8-584E-941F-2807-3FB630D9B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B1E630-6D2C-4775-881D-8EC3CE307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6981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57560CF-8C47-C20A-90F6-08D274B17D27}"/>
              </a:ext>
            </a:extLst>
          </p:cNvPr>
          <p:cNvSpPr/>
          <p:nvPr/>
        </p:nvSpPr>
        <p:spPr>
          <a:xfrm>
            <a:off x="0" y="889000"/>
            <a:ext cx="12192000" cy="3429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4F11EBC-AD25-1013-86FE-68A2D5CE9B44}"/>
              </a:ext>
            </a:extLst>
          </p:cNvPr>
          <p:cNvSpPr/>
          <p:nvPr/>
        </p:nvSpPr>
        <p:spPr>
          <a:xfrm>
            <a:off x="711200" y="889000"/>
            <a:ext cx="1193800" cy="762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1681BE4-A09C-657C-B8F2-9B7F1188FA9C}"/>
              </a:ext>
            </a:extLst>
          </p:cNvPr>
          <p:cNvSpPr txBox="1"/>
          <p:nvPr/>
        </p:nvSpPr>
        <p:spPr>
          <a:xfrm>
            <a:off x="787400" y="1435100"/>
            <a:ext cx="10617200" cy="248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2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ビジネス </a:t>
            </a:r>
            <a:r>
              <a:rPr kumimoji="1" lang="en-US" altLang="ja-JP" sz="42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/ </a:t>
            </a:r>
            <a:r>
              <a:rPr kumimoji="1" lang="ja-JP" altLang="en-US" sz="42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書体と配色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BBEB829-2704-16CE-EEAC-38D7B2DD2F00}"/>
              </a:ext>
            </a:extLst>
          </p:cNvPr>
          <p:cNvSpPr txBox="1"/>
          <p:nvPr/>
        </p:nvSpPr>
        <p:spPr>
          <a:xfrm>
            <a:off x="825500" y="4889500"/>
            <a:ext cx="105156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判別しやすい </a:t>
            </a:r>
            <a:r>
              <a:rPr kumimoji="1" lang="en-US" altLang="ja-JP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UD</a:t>
            </a:r>
            <a:r>
              <a:rPr kumimoji="1" lang="ja-JP" altLang="en-US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・編集できる図形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745FEC2-0AD8-E52F-1BDA-568E0B93F77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FD69118-1A4C-721F-0A5B-DADBAF71CFB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 / 4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4339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F51A946-7899-F1E2-09D8-925DB2583F26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3BFBD00-291A-12B9-C871-1F321BC4E6C4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色の見出しと囲まれた比較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0075783-DF52-EA7E-10FC-E38E5CBE28D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EF225F7-0272-9813-035E-3D4B03D3FF1F}"/>
              </a:ext>
            </a:extLst>
          </p:cNvPr>
          <p:cNvSpPr/>
          <p:nvPr/>
        </p:nvSpPr>
        <p:spPr>
          <a:xfrm>
            <a:off x="711200" y="2019300"/>
            <a:ext cx="3386667" cy="401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73E29D2-9ED2-F500-7FD2-AC212B8DA053}"/>
              </a:ext>
            </a:extLst>
          </p:cNvPr>
          <p:cNvSpPr/>
          <p:nvPr/>
        </p:nvSpPr>
        <p:spPr>
          <a:xfrm>
            <a:off x="711200" y="2019300"/>
            <a:ext cx="38100" cy="40132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005FEF2-A834-C210-2388-7224C052F506}"/>
              </a:ext>
            </a:extLst>
          </p:cNvPr>
          <p:cNvSpPr/>
          <p:nvPr/>
        </p:nvSpPr>
        <p:spPr>
          <a:xfrm>
            <a:off x="711200" y="2019300"/>
            <a:ext cx="3386667" cy="10541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B43A32D-7DFA-3CB9-6C9A-EA77F71F8423}"/>
              </a:ext>
            </a:extLst>
          </p:cNvPr>
          <p:cNvSpPr txBox="1"/>
          <p:nvPr/>
        </p:nvSpPr>
        <p:spPr>
          <a:xfrm>
            <a:off x="914400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2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6D31BBB-5738-F298-D00A-F851D57C10F3}"/>
              </a:ext>
            </a:extLst>
          </p:cNvPr>
          <p:cNvSpPr txBox="1"/>
          <p:nvPr/>
        </p:nvSpPr>
        <p:spPr>
          <a:xfrm>
            <a:off x="939800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F15743A-4CD7-4038-4278-0CBF5DC3DF3A}"/>
              </a:ext>
            </a:extLst>
          </p:cNvPr>
          <p:cNvSpPr/>
          <p:nvPr/>
        </p:nvSpPr>
        <p:spPr>
          <a:xfrm>
            <a:off x="4402667" y="2019300"/>
            <a:ext cx="3386666" cy="401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14B2B3B-0B6D-26EE-A0CE-1EE85C9EA592}"/>
              </a:ext>
            </a:extLst>
          </p:cNvPr>
          <p:cNvSpPr/>
          <p:nvPr/>
        </p:nvSpPr>
        <p:spPr>
          <a:xfrm>
            <a:off x="4402667" y="2019300"/>
            <a:ext cx="38100" cy="4013200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A5CE074-904E-E71E-B725-A0D559306EC5}"/>
              </a:ext>
            </a:extLst>
          </p:cNvPr>
          <p:cNvSpPr/>
          <p:nvPr/>
        </p:nvSpPr>
        <p:spPr>
          <a:xfrm>
            <a:off x="4402667" y="2019300"/>
            <a:ext cx="3386666" cy="1054100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B94A379-3226-6325-1D95-F5FF58C14E45}"/>
              </a:ext>
            </a:extLst>
          </p:cNvPr>
          <p:cNvSpPr txBox="1"/>
          <p:nvPr/>
        </p:nvSpPr>
        <p:spPr>
          <a:xfrm>
            <a:off x="4605867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2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04E6559-A633-57BA-8E50-59B7666DA068}"/>
              </a:ext>
            </a:extLst>
          </p:cNvPr>
          <p:cNvSpPr txBox="1"/>
          <p:nvPr/>
        </p:nvSpPr>
        <p:spPr>
          <a:xfrm>
            <a:off x="4631267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A885E75-F2C8-58A7-F7B3-284BF06A38FF}"/>
              </a:ext>
            </a:extLst>
          </p:cNvPr>
          <p:cNvSpPr/>
          <p:nvPr/>
        </p:nvSpPr>
        <p:spPr>
          <a:xfrm>
            <a:off x="8094133" y="2019300"/>
            <a:ext cx="3386667" cy="401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0A3C694-5FDC-0372-A4E7-60CD63815DAC}"/>
              </a:ext>
            </a:extLst>
          </p:cNvPr>
          <p:cNvSpPr/>
          <p:nvPr/>
        </p:nvSpPr>
        <p:spPr>
          <a:xfrm>
            <a:off x="8094133" y="2019300"/>
            <a:ext cx="38100" cy="4013200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D77E85B-1E9A-CC69-6FB1-5FF33A1E9952}"/>
              </a:ext>
            </a:extLst>
          </p:cNvPr>
          <p:cNvSpPr/>
          <p:nvPr/>
        </p:nvSpPr>
        <p:spPr>
          <a:xfrm>
            <a:off x="8094133" y="2019300"/>
            <a:ext cx="3386667" cy="1054100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114F01E-A305-2DB2-B5FF-65C9ABA1B3FC}"/>
              </a:ext>
            </a:extLst>
          </p:cNvPr>
          <p:cNvSpPr txBox="1"/>
          <p:nvPr/>
        </p:nvSpPr>
        <p:spPr>
          <a:xfrm>
            <a:off x="8297333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2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F965107-E5B7-2E42-BFCF-FFFF93A94148}"/>
              </a:ext>
            </a:extLst>
          </p:cNvPr>
          <p:cNvSpPr txBox="1"/>
          <p:nvPr/>
        </p:nvSpPr>
        <p:spPr>
          <a:xfrm>
            <a:off x="8322733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3B4CC06-6420-BF6E-7BEF-382E16F133D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4E54632-C295-8A39-D758-1C9433B7323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 / 4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81110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CDCE823-D166-FF23-C5EC-B13AEECBDCC7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B624ED9-A795-18D5-7911-CE2CBF3123E8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色面で分ける横の説明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CABF7C5-9F57-F052-D2D1-142650AD3AD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3D9D899-1766-55C8-0FAC-83B4B9F55058}"/>
              </a:ext>
            </a:extLst>
          </p:cNvPr>
          <p:cNvSpPr/>
          <p:nvPr/>
        </p:nvSpPr>
        <p:spPr>
          <a:xfrm>
            <a:off x="711200" y="2019300"/>
            <a:ext cx="10769600" cy="876300"/>
          </a:xfrm>
          <a:prstGeom prst="rect">
            <a:avLst/>
          </a:prstGeom>
          <a:solidFill>
            <a:srgbClr val="EF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15E2593-D683-F848-6F0D-F4A1D8109F7C}"/>
              </a:ext>
            </a:extLst>
          </p:cNvPr>
          <p:cNvSpPr/>
          <p:nvPr/>
        </p:nvSpPr>
        <p:spPr>
          <a:xfrm>
            <a:off x="711200" y="2019300"/>
            <a:ext cx="38100" cy="8763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8D2942F-A737-70E3-64CC-77713FDAC9CC}"/>
              </a:ext>
            </a:extLst>
          </p:cNvPr>
          <p:cNvSpPr txBox="1"/>
          <p:nvPr/>
        </p:nvSpPr>
        <p:spPr>
          <a:xfrm>
            <a:off x="952500" y="21717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41DBBAE-C62D-62F7-718E-149F4F47D866}"/>
              </a:ext>
            </a:extLst>
          </p:cNvPr>
          <p:cNvSpPr txBox="1"/>
          <p:nvPr/>
        </p:nvSpPr>
        <p:spPr>
          <a:xfrm>
            <a:off x="4305300" y="21717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C17A4B7-09DB-473B-52A5-7DFE9CD758CE}"/>
              </a:ext>
            </a:extLst>
          </p:cNvPr>
          <p:cNvSpPr/>
          <p:nvPr/>
        </p:nvSpPr>
        <p:spPr>
          <a:xfrm>
            <a:off x="711200" y="3022600"/>
            <a:ext cx="10769600" cy="876300"/>
          </a:xfrm>
          <a:prstGeom prst="rect">
            <a:avLst/>
          </a:prstGeom>
          <a:solidFill>
            <a:srgbClr val="EC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14066C6-A40F-B92D-2D2D-D2C76C5FCF82}"/>
              </a:ext>
            </a:extLst>
          </p:cNvPr>
          <p:cNvSpPr/>
          <p:nvPr/>
        </p:nvSpPr>
        <p:spPr>
          <a:xfrm>
            <a:off x="711200" y="3022600"/>
            <a:ext cx="38100" cy="876300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46C752F-5423-E44B-9015-94CD5F99DA63}"/>
              </a:ext>
            </a:extLst>
          </p:cNvPr>
          <p:cNvSpPr txBox="1"/>
          <p:nvPr/>
        </p:nvSpPr>
        <p:spPr>
          <a:xfrm>
            <a:off x="952500" y="31750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100" b="1">
              <a:solidFill>
                <a:srgbClr val="087A7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1D2DDA1-3BCA-30A1-6DE3-3F725A70DDE3}"/>
              </a:ext>
            </a:extLst>
          </p:cNvPr>
          <p:cNvSpPr txBox="1"/>
          <p:nvPr/>
        </p:nvSpPr>
        <p:spPr>
          <a:xfrm>
            <a:off x="4305300" y="31750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FA7E9CE-EBE6-9D0E-05A0-E1BCD4392540}"/>
              </a:ext>
            </a:extLst>
          </p:cNvPr>
          <p:cNvSpPr/>
          <p:nvPr/>
        </p:nvSpPr>
        <p:spPr>
          <a:xfrm>
            <a:off x="711200" y="4025900"/>
            <a:ext cx="10769600" cy="876300"/>
          </a:xfrm>
          <a:prstGeom prst="rect">
            <a:avLst/>
          </a:prstGeom>
          <a:solidFill>
            <a:srgbClr val="F7F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5E71E54-67E4-8F6C-6E96-D7F65DD46AD4}"/>
              </a:ext>
            </a:extLst>
          </p:cNvPr>
          <p:cNvSpPr/>
          <p:nvPr/>
        </p:nvSpPr>
        <p:spPr>
          <a:xfrm>
            <a:off x="711200" y="4025900"/>
            <a:ext cx="38100" cy="876300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67F2E7F-582F-44FA-B098-4E1D0502607D}"/>
              </a:ext>
            </a:extLst>
          </p:cNvPr>
          <p:cNvSpPr txBox="1"/>
          <p:nvPr/>
        </p:nvSpPr>
        <p:spPr>
          <a:xfrm>
            <a:off x="952500" y="41783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100" b="1">
              <a:solidFill>
                <a:srgbClr val="945F1D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4DB27A3-02FC-40DF-29C3-B97091F9D4C1}"/>
              </a:ext>
            </a:extLst>
          </p:cNvPr>
          <p:cNvSpPr txBox="1"/>
          <p:nvPr/>
        </p:nvSpPr>
        <p:spPr>
          <a:xfrm>
            <a:off x="4305300" y="41783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F88049E-B902-96BF-4A8B-6793E4E20D07}"/>
              </a:ext>
            </a:extLst>
          </p:cNvPr>
          <p:cNvSpPr/>
          <p:nvPr/>
        </p:nvSpPr>
        <p:spPr>
          <a:xfrm>
            <a:off x="711200" y="5029200"/>
            <a:ext cx="10769600" cy="876300"/>
          </a:xfrm>
          <a:prstGeom prst="rect">
            <a:avLst/>
          </a:prstGeom>
          <a:solidFill>
            <a:srgbClr val="F6F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E8F9E79-10BA-9765-E83E-43A994C65350}"/>
              </a:ext>
            </a:extLst>
          </p:cNvPr>
          <p:cNvSpPr/>
          <p:nvPr/>
        </p:nvSpPr>
        <p:spPr>
          <a:xfrm>
            <a:off x="711200" y="5029200"/>
            <a:ext cx="38100" cy="876300"/>
          </a:xfrm>
          <a:prstGeom prst="rect">
            <a:avLst/>
          </a:prstGeom>
          <a:solidFill>
            <a:srgbClr val="8651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34A7685-06A8-7942-B479-171389F31F67}"/>
              </a:ext>
            </a:extLst>
          </p:cNvPr>
          <p:cNvSpPr txBox="1"/>
          <p:nvPr/>
        </p:nvSpPr>
        <p:spPr>
          <a:xfrm>
            <a:off x="952500" y="51816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</a:t>
            </a:r>
            <a:endParaRPr kumimoji="1" lang="ja-JP" altLang="en-US" sz="2100" b="1">
              <a:solidFill>
                <a:srgbClr val="86518C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AB83CFA-DAD3-E79A-5AE0-162F40ACC0EF}"/>
              </a:ext>
            </a:extLst>
          </p:cNvPr>
          <p:cNvSpPr txBox="1"/>
          <p:nvPr/>
        </p:nvSpPr>
        <p:spPr>
          <a:xfrm>
            <a:off x="4305300" y="51816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B6E927C6-77AB-5519-09AD-A980A40331D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E4623E5-75D1-4CA6-1E9F-CD038A5C1C8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 / 4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87529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8303105-93D9-1D94-50A8-C858285571A2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D5CD0A2-08A9-0BAB-37CD-F67916FCB445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中央の式と下の具体例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6F20E59-DA7A-BA93-737A-67FE83997FD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F6C7A55-B94B-2E6C-C889-43A1FA47D30C}"/>
              </a:ext>
            </a:extLst>
          </p:cNvPr>
          <p:cNvSpPr txBox="1"/>
          <p:nvPr/>
        </p:nvSpPr>
        <p:spPr>
          <a:xfrm>
            <a:off x="965200" y="2032000"/>
            <a:ext cx="102616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245DA8"/>
                </a:solidFill>
                <a:latin typeface="Cambria Math" panose="02040503050406030204" pitchFamily="18" charset="0"/>
                <a:ea typeface="BIZ UDPGothic" panose="020B0400000000000000" pitchFamily="50" charset="-128"/>
              </a:rPr>
              <a:t>1 + 3 + 5 = 9</a:t>
            </a:r>
            <a:endParaRPr kumimoji="1" lang="ja-JP" altLang="en-US" sz="3200" b="1">
              <a:solidFill>
                <a:srgbClr val="245DA8"/>
              </a:solidFill>
              <a:latin typeface="Cambria Math" panose="02040503050406030204" pitchFamily="18" charset="0"/>
              <a:ea typeface="BIZ UDP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7146EAD-01C3-7028-044A-71E77B89960C}"/>
              </a:ext>
            </a:extLst>
          </p:cNvPr>
          <p:cNvSpPr txBox="1"/>
          <p:nvPr/>
        </p:nvSpPr>
        <p:spPr>
          <a:xfrm>
            <a:off x="965200" y="3517900"/>
            <a:ext cx="10261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最初の</a:t>
            </a:r>
            <a:r>
              <a:rPr kumimoji="1" lang="en-US" altLang="ja-JP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r>
              <a:rPr kumimoji="1" lang="ja-JP" altLang="en-US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個の奇数の和。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245D3A3-E5C7-14DD-D570-14CDD86D65D7}"/>
              </a:ext>
            </a:extLst>
          </p:cNvPr>
          <p:cNvSpPr/>
          <p:nvPr/>
        </p:nvSpPr>
        <p:spPr>
          <a:xfrm>
            <a:off x="622300" y="4445000"/>
            <a:ext cx="3475567" cy="1600200"/>
          </a:xfrm>
          <a:prstGeom prst="rect">
            <a:avLst/>
          </a:prstGeom>
          <a:solidFill>
            <a:srgbClr val="EF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B45B2F3-2E3E-8685-ABB3-78BE506C8853}"/>
              </a:ext>
            </a:extLst>
          </p:cNvPr>
          <p:cNvSpPr/>
          <p:nvPr/>
        </p:nvSpPr>
        <p:spPr>
          <a:xfrm>
            <a:off x="622300" y="4445000"/>
            <a:ext cx="3475567" cy="635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4FCA550-F9F4-7F64-DC93-F18F8A1850D7}"/>
              </a:ext>
            </a:extLst>
          </p:cNvPr>
          <p:cNvSpPr txBox="1"/>
          <p:nvPr/>
        </p:nvSpPr>
        <p:spPr>
          <a:xfrm>
            <a:off x="711200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5811C2D-E28C-5E60-C3C3-7B1D805EA16B}"/>
              </a:ext>
            </a:extLst>
          </p:cNvPr>
          <p:cNvSpPr txBox="1"/>
          <p:nvPr/>
        </p:nvSpPr>
        <p:spPr>
          <a:xfrm>
            <a:off x="711200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1208313-5323-EE8D-D762-D1FC27A07681}"/>
              </a:ext>
            </a:extLst>
          </p:cNvPr>
          <p:cNvSpPr/>
          <p:nvPr/>
        </p:nvSpPr>
        <p:spPr>
          <a:xfrm>
            <a:off x="4313767" y="4445000"/>
            <a:ext cx="3475566" cy="1600200"/>
          </a:xfrm>
          <a:prstGeom prst="rect">
            <a:avLst/>
          </a:prstGeom>
          <a:solidFill>
            <a:srgbClr val="EC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560CB13-9861-B1AF-329F-65E92AB61367}"/>
              </a:ext>
            </a:extLst>
          </p:cNvPr>
          <p:cNvSpPr/>
          <p:nvPr/>
        </p:nvSpPr>
        <p:spPr>
          <a:xfrm>
            <a:off x="4313767" y="4445000"/>
            <a:ext cx="3475566" cy="63500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AAFB024-9037-70BA-7DDC-47F7CFF3832D}"/>
              </a:ext>
            </a:extLst>
          </p:cNvPr>
          <p:cNvSpPr txBox="1"/>
          <p:nvPr/>
        </p:nvSpPr>
        <p:spPr>
          <a:xfrm>
            <a:off x="4402667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100" b="1">
              <a:solidFill>
                <a:srgbClr val="087A7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C11E712-6825-2E54-BF19-EAD9CD34C186}"/>
              </a:ext>
            </a:extLst>
          </p:cNvPr>
          <p:cNvSpPr txBox="1"/>
          <p:nvPr/>
        </p:nvSpPr>
        <p:spPr>
          <a:xfrm>
            <a:off x="4402667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FB1ADCC-E0A7-16D8-B754-B4E3DE6CAD0B}"/>
              </a:ext>
            </a:extLst>
          </p:cNvPr>
          <p:cNvSpPr/>
          <p:nvPr/>
        </p:nvSpPr>
        <p:spPr>
          <a:xfrm>
            <a:off x="8005233" y="4445000"/>
            <a:ext cx="3475567" cy="1600200"/>
          </a:xfrm>
          <a:prstGeom prst="rect">
            <a:avLst/>
          </a:prstGeom>
          <a:solidFill>
            <a:srgbClr val="F7F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71F7E78-7578-0797-F3FC-64EC9F66778A}"/>
              </a:ext>
            </a:extLst>
          </p:cNvPr>
          <p:cNvSpPr/>
          <p:nvPr/>
        </p:nvSpPr>
        <p:spPr>
          <a:xfrm>
            <a:off x="8005233" y="4445000"/>
            <a:ext cx="3475567" cy="63500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21B009E-773F-735B-F54B-F75DA894B14D}"/>
              </a:ext>
            </a:extLst>
          </p:cNvPr>
          <p:cNvSpPr txBox="1"/>
          <p:nvPr/>
        </p:nvSpPr>
        <p:spPr>
          <a:xfrm>
            <a:off x="8094133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100" b="1">
              <a:solidFill>
                <a:srgbClr val="945F1D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ECE8EE3-D2B7-511B-34F0-5568322B5B44}"/>
              </a:ext>
            </a:extLst>
          </p:cNvPr>
          <p:cNvSpPr txBox="1"/>
          <p:nvPr/>
        </p:nvSpPr>
        <p:spPr>
          <a:xfrm>
            <a:off x="8094133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205A9216-D852-26BB-B431-5018824AE8A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4363001-4588-B902-EC0C-6DAFDEE4DE5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 / 4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3401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172D4A"/>
      </a:dk1>
      <a:lt1>
        <a:sysClr val="window" lastClr="FFFFFF"/>
      </a:lt1>
      <a:dk2>
        <a:srgbClr val="0E2841"/>
      </a:dk2>
      <a:lt2>
        <a:srgbClr val="E8E8E8"/>
      </a:lt2>
      <a:accent1>
        <a:srgbClr val="245DA8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615</Words>
  <Application>Microsoft Office PowerPoint</Application>
  <PresentationFormat>ユーザー設定</PresentationFormat>
  <Paragraphs>39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BIZ UDPGothic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2026-09-30T14:15:35Z</dcterms:created>
  <dcterms:modified xsi:type="dcterms:W3CDTF">2026-09-30T14:15:35Z</dcterms:modified>
</cp:coreProperties>
</file>