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BD0F1-A41E-447F-907C-86E720ABA4BB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63B5C-584C-4813-B1F6-89C6FE80A2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837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題名を中央または左上の広い領域に、導入を下に置く
用途</a:t>
            </a:r>
            <a:r>
              <a:rPr kumimoji="1" lang="en-US" altLang="ja-JP"/>
              <a:t>: </a:t>
            </a:r>
            <a:r>
              <a:rPr kumimoji="1" lang="ja-JP" altLang="en-US"/>
              <a:t>題名と導入を大きく見せる表紙
注意</a:t>
            </a:r>
            <a:r>
              <a:rPr kumimoji="1" lang="en-US" altLang="ja-JP"/>
              <a:t>: </a:t>
            </a:r>
            <a:r>
              <a:rPr kumimoji="1" lang="ja-JP" altLang="en-US"/>
              <a:t>本文のページには使用しない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本のような見出し・編集できる図形
同じ条件で情報を確かめます。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63B5C-584C-4813-B1F6-89C6FE80A2B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2016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各対象の名前を色帯に置き、その下の枠に同じ高さで説明をそろえる
用途</a:t>
            </a:r>
            <a:r>
              <a:rPr kumimoji="1" lang="en-US" altLang="ja-JP"/>
              <a:t>: </a:t>
            </a:r>
            <a:r>
              <a:rPr kumimoji="1" lang="ja-JP" altLang="en-US"/>
              <a:t>対象名と説明の対応をはっきりさせたい比較
注意</a:t>
            </a:r>
            <a:r>
              <a:rPr kumimoji="1" lang="en-US" altLang="ja-JP"/>
              <a:t>: </a:t>
            </a:r>
            <a:r>
              <a:rPr kumimoji="1" lang="ja-JP" altLang="en-US"/>
              <a:t>比較条件が違う対象は条件を明記する
文字量</a:t>
            </a:r>
            <a:r>
              <a:rPr kumimoji="1" lang="en-US" altLang="ja-JP"/>
              <a:t>: </a:t>
            </a:r>
            <a:r>
              <a:rPr kumimoji="1" lang="ja-JP" altLang="en-US"/>
              <a:t>対象名</a:t>
            </a:r>
            <a:r>
              <a:rPr kumimoji="1" lang="en-US" altLang="ja-JP"/>
              <a:t>18</a:t>
            </a:r>
            <a:r>
              <a:rPr kumimoji="1" lang="ja-JP" altLang="en-US"/>
              <a:t>文字、説明</a:t>
            </a:r>
            <a:r>
              <a:rPr kumimoji="1" lang="en-US" altLang="ja-JP"/>
              <a:t>75</a:t>
            </a:r>
            <a:r>
              <a:rPr kumimoji="1" lang="ja-JP" altLang="en-US"/>
              <a:t>文字。値を示す場合は単位と条件を残す。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63B5C-584C-4813-B1F6-89C6FE80A2B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8750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横長の長方形ごとに、左へ項目名、右へ説明を配置
用途</a:t>
            </a:r>
            <a:r>
              <a:rPr kumimoji="1" lang="en-US" altLang="ja-JP"/>
              <a:t>: </a:t>
            </a:r>
            <a:r>
              <a:rPr kumimoji="1" lang="ja-JP" altLang="en-US"/>
              <a:t>各項目の説明が少し長い箇条書きを整理するとき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56</a:t>
            </a:r>
            <a:r>
              <a:rPr kumimoji="1" lang="ja-JP" altLang="en-US"/>
              <a:t>文字。</a:t>
            </a:r>
            <a:r>
              <a:rPr kumimoji="1" lang="en-US" altLang="ja-JP"/>
              <a:t>4</a:t>
            </a:r>
            <a:r>
              <a:rPr kumimoji="1" lang="ja-JP" altLang="en-US"/>
              <a:t>項目なら説明</a:t>
            </a:r>
            <a:r>
              <a:rPr kumimoji="1" lang="en-US" altLang="ja-JP"/>
              <a:t>40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63B5C-584C-4813-B1F6-89C6FE80A2B6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3730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上部中央に広い数式・概念、下部に具体例を横並び
用途</a:t>
            </a:r>
            <a:r>
              <a:rPr kumimoji="1" lang="en-US" altLang="ja-JP"/>
              <a:t>: </a:t>
            </a:r>
            <a:r>
              <a:rPr kumimoji="1" lang="ja-JP" altLang="en-US"/>
              <a:t>横に長い式や短い概念を見せたいとき
注意</a:t>
            </a:r>
            <a:r>
              <a:rPr kumimoji="1" lang="en-US" altLang="ja-JP"/>
              <a:t>: </a:t>
            </a:r>
            <a:r>
              <a:rPr kumimoji="1" lang="ja-JP" altLang="en-US"/>
              <a:t>数式と成立条件を保持する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個の奇数の和。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63B5C-584C-4813-B1F6-89C6FE80A2B6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5126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E3DBEA-D95A-3434-A172-408C2B18D9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D53DEE0-22A6-2616-6029-593E36C9D4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6CB2FB-8344-0BE1-E9B7-EB6DF039B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6C83C-8C1D-4C9C-969F-75A650773A38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E96D68-B15F-0725-82BF-CFC042A44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38E2B9-DB46-4CBB-4421-69741FD6E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1793D-615D-46A8-84A0-A7AC1217CD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7250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226DCB-7833-ED9A-5D7F-7AD6CA565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238EA0-DDED-8349-858E-828C93C9E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D2BBDA-E655-6153-8F2D-A297DC0C5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6C83C-8C1D-4C9C-969F-75A650773A38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2C0C9F-57FE-E3A3-930D-4F32B6F34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6AEA65-2389-5BB2-1976-EDF96CA1C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1793D-615D-46A8-84A0-A7AC1217CD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6816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BE528D-6D51-4112-F702-AC73728FA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459564-1D51-A639-54DD-FE81B7449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3DD1DC-9898-07F6-425D-0F34030C6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6C83C-8C1D-4C9C-969F-75A650773A38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B91850-6384-EA07-451B-2BCF16C69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547BDE-034A-03E1-2B86-28B5774E2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1793D-615D-46A8-84A0-A7AC1217CD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0833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420913-B8C4-C67A-C7B3-D25010FD9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786CB7-316E-5BF7-0E44-FBC531A383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64D65E7-12ED-B237-DA80-C7D8569F9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B7CD952-0F46-CBF7-BCBE-1B8B689F2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6C83C-8C1D-4C9C-969F-75A650773A38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C7B8E3-A497-0B26-D815-1ED22AEEE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9E6FCAE-DABE-7972-5D22-B1128F82C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1793D-615D-46A8-84A0-A7AC1217CD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3847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D9D268-32CC-179B-A4EE-0DAD57EEB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D03E512-00D6-9CC1-E343-A2F91B80F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5EAE47F-AB01-179E-7736-F8E5447E8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DDB8D24-5EAA-F44B-E02D-AAD142CD80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2013D85-B439-B889-5D8B-1828536744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26E6870-0F39-2025-AB0E-1ADCAD7A8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6C83C-8C1D-4C9C-969F-75A650773A38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0176142-BDEB-6FB3-5F85-A51752634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02C263D-8F22-1AE4-CD08-58BFC891A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1793D-615D-46A8-84A0-A7AC1217CD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6977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6436E2-CB2F-BD9F-F51E-A148E0290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505E451-5EE3-007D-19EE-AFC81FD44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6C83C-8C1D-4C9C-969F-75A650773A38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60F1758-5969-CFEE-9D38-322BF8F88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1E24B13-84D3-38B2-B14F-B4F1BDD41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1793D-615D-46A8-84A0-A7AC1217CD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2337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3FF72F6-BF9A-AC84-1485-6FC81826B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6C83C-8C1D-4C9C-969F-75A650773A38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D355878-9EA3-AB01-9FB9-9139CF2FD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2EFA61F-4368-6C3D-7F3C-593B6FEE0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1793D-615D-46A8-84A0-A7AC1217CD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7175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BAAF49-A012-8B92-66E4-D291EC355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0BFFF8-7934-2142-EF74-257B74B96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03F0DA-AD1A-711F-59EE-1FF6B888EA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572135-18DD-18FD-0464-F4658CB02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6C83C-8C1D-4C9C-969F-75A650773A38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ECB5606-FB90-C55E-1C46-CE74373EB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B079F45-9728-4CED-A0BF-3DE51746A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1793D-615D-46A8-84A0-A7AC1217CD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6618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4BF057-14A7-E632-BBFF-1BCBF0AA6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84CAA81-5098-8974-D340-EA6B9A610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E733671-D8B8-F953-F19D-85B92BE780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397EF0-B01C-C857-4B6B-784DC8501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6C83C-8C1D-4C9C-969F-75A650773A38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F50251D-DB31-5902-7D12-45DE53270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D38C160-B8E9-6D6E-1A95-79DE35BC2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1793D-615D-46A8-84A0-A7AC1217CD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81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1124B7-FE23-5435-3E60-243D60A32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2E27E63-6327-3397-5BAB-57EDA5885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8E16AE-42C4-B211-0EC9-95EC6F74F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6C83C-8C1D-4C9C-969F-75A650773A38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361051-CDA7-BB3F-8841-CE446184C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82C7C2-3AAE-AD02-2AAA-7F100C87C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1793D-615D-46A8-84A0-A7AC1217CD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0224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A5B6BB5-89F7-71CF-0F61-FC380F4218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21DF54A-16FA-D04A-5A76-B55F5F9154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013835-F8AB-0B3C-83D8-3C1A364F4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6C83C-8C1D-4C9C-969F-75A650773A38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213A02-F857-1608-79AF-4DFB4B6F0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608496-389C-48B7-0E4D-60737F038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1793D-615D-46A8-84A0-A7AC1217CD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0698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69C6C71-49A0-83ED-BB72-9A2271E79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0C4665-9E7A-96B9-346F-12FF71944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FF1A7F-FB49-CE76-BB41-EEDEF6106D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B6C83C-8C1D-4C9C-969F-75A650773A38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2F0BE2-4503-8033-9C9C-8AAE03E9B4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012E0D-B68D-BD4B-4955-38BD7CAFE4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F1793D-615D-46A8-84A0-A7AC1217CD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6359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FF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E324F42-EABF-43ED-23C4-E8139ACA64B6}"/>
              </a:ext>
            </a:extLst>
          </p:cNvPr>
          <p:cNvSpPr/>
          <p:nvPr/>
        </p:nvSpPr>
        <p:spPr>
          <a:xfrm>
            <a:off x="0" y="889000"/>
            <a:ext cx="12192000" cy="3429000"/>
          </a:xfrm>
          <a:prstGeom prst="rect">
            <a:avLst/>
          </a:prstGeom>
          <a:solidFill>
            <a:srgbClr val="F5E6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1D0AB6F-0188-9912-A29B-FEE583676DB8}"/>
              </a:ext>
            </a:extLst>
          </p:cNvPr>
          <p:cNvSpPr/>
          <p:nvPr/>
        </p:nvSpPr>
        <p:spPr>
          <a:xfrm>
            <a:off x="711200" y="889000"/>
            <a:ext cx="1193800" cy="76200"/>
          </a:xfrm>
          <a:prstGeom prst="rect">
            <a:avLst/>
          </a:prstGeom>
          <a:solidFill>
            <a:srgbClr val="795E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ECDFB69-632F-5DA9-4F4C-02FB61BEDD34}"/>
              </a:ext>
            </a:extLst>
          </p:cNvPr>
          <p:cNvSpPr txBox="1"/>
          <p:nvPr/>
        </p:nvSpPr>
        <p:spPr>
          <a:xfrm>
            <a:off x="787400" y="1435100"/>
            <a:ext cx="10617200" cy="248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200" b="1">
                <a:solidFill>
                  <a:srgbClr val="282D31"/>
                </a:solidFill>
                <a:latin typeface="BIZ UDPMincho Medium" panose="02020500000000000000" pitchFamily="18" charset="-128"/>
                <a:ea typeface="BIZ UDPMincho Medium" panose="02020500000000000000" pitchFamily="18" charset="-128"/>
              </a:rPr>
              <a:t>ノート </a:t>
            </a:r>
            <a:r>
              <a:rPr kumimoji="1" lang="en-US" altLang="ja-JP" sz="4200" b="1">
                <a:solidFill>
                  <a:srgbClr val="282D31"/>
                </a:solidFill>
                <a:latin typeface="BIZ UDPMincho Medium" panose="02020500000000000000" pitchFamily="18" charset="-128"/>
                <a:ea typeface="BIZ UDPMincho Medium" panose="02020500000000000000" pitchFamily="18" charset="-128"/>
              </a:rPr>
              <a:t>/ </a:t>
            </a:r>
            <a:r>
              <a:rPr kumimoji="1" lang="ja-JP" altLang="en-US" sz="4200" b="1">
                <a:solidFill>
                  <a:srgbClr val="282D31"/>
                </a:solidFill>
                <a:latin typeface="BIZ UDPMincho Medium" panose="02020500000000000000" pitchFamily="18" charset="-128"/>
                <a:ea typeface="BIZ UDPMincho Medium" panose="02020500000000000000" pitchFamily="18" charset="-128"/>
              </a:rPr>
              <a:t>書体と配色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3FA15D7-2C18-41A4-D4AC-B381E2C2BD0B}"/>
              </a:ext>
            </a:extLst>
          </p:cNvPr>
          <p:cNvSpPr txBox="1"/>
          <p:nvPr/>
        </p:nvSpPr>
        <p:spPr>
          <a:xfrm>
            <a:off x="825500" y="4889500"/>
            <a:ext cx="105156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>
                <a:solidFill>
                  <a:srgbClr val="5D6264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本のような見出し・編集できる図形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CE945802-F312-62FB-1C0A-EFF06E92584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5E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6A06F3F-2297-1E21-569B-B89DC0AF6DB9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D6264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 / 4</a:t>
            </a:r>
            <a:endParaRPr kumimoji="1" lang="ja-JP" altLang="en-US" sz="1000">
              <a:solidFill>
                <a:srgbClr val="5D6264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102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FF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9D32395-96E5-FB4F-6E7D-25D9C954F463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F5E6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9FFD3A1-BB69-58AF-E334-27748CFB582C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282D31"/>
                </a:solidFill>
                <a:latin typeface="BIZ UDPMincho Medium" panose="02020500000000000000" pitchFamily="18" charset="-128"/>
                <a:ea typeface="BIZ UDPMincho Medium" panose="02020500000000000000" pitchFamily="18" charset="-128"/>
              </a:rPr>
              <a:t>色の見出しと囲まれた比較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E200584-8CAD-506E-3364-4546DBCCF88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5E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9F6DE3F-CF41-8CDD-BDBD-7833AC043A88}"/>
              </a:ext>
            </a:extLst>
          </p:cNvPr>
          <p:cNvSpPr/>
          <p:nvPr/>
        </p:nvSpPr>
        <p:spPr>
          <a:xfrm>
            <a:off x="711200" y="2019300"/>
            <a:ext cx="3386667" cy="4013200"/>
          </a:xfrm>
          <a:prstGeom prst="rect">
            <a:avLst/>
          </a:prstGeom>
          <a:solidFill>
            <a:srgbClr val="FFFCF1"/>
          </a:solidFill>
          <a:ln w="12700">
            <a:solidFill>
              <a:srgbClr val="795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A8C15BF-FF82-EC49-50BC-ED7C5540EB48}"/>
              </a:ext>
            </a:extLst>
          </p:cNvPr>
          <p:cNvSpPr/>
          <p:nvPr/>
        </p:nvSpPr>
        <p:spPr>
          <a:xfrm>
            <a:off x="711200" y="2019300"/>
            <a:ext cx="38100" cy="4013200"/>
          </a:xfrm>
          <a:prstGeom prst="rect">
            <a:avLst/>
          </a:prstGeom>
          <a:solidFill>
            <a:srgbClr val="795E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A5C8479-0749-29C4-F767-D0EA727EB83E}"/>
              </a:ext>
            </a:extLst>
          </p:cNvPr>
          <p:cNvSpPr/>
          <p:nvPr/>
        </p:nvSpPr>
        <p:spPr>
          <a:xfrm>
            <a:off x="711200" y="2019300"/>
            <a:ext cx="3386667" cy="1054100"/>
          </a:xfrm>
          <a:prstGeom prst="rect">
            <a:avLst/>
          </a:prstGeom>
          <a:solidFill>
            <a:srgbClr val="795E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F339872-D49B-4C3D-EA0F-585099A4968B}"/>
              </a:ext>
            </a:extLst>
          </p:cNvPr>
          <p:cNvSpPr txBox="1"/>
          <p:nvPr/>
        </p:nvSpPr>
        <p:spPr>
          <a:xfrm>
            <a:off x="914400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200" b="1">
              <a:solidFill>
                <a:srgbClr val="FFFFF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4047088-666C-E495-B061-45E20D4FC107}"/>
              </a:ext>
            </a:extLst>
          </p:cNvPr>
          <p:cNvSpPr txBox="1"/>
          <p:nvPr/>
        </p:nvSpPr>
        <p:spPr>
          <a:xfrm>
            <a:off x="939800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282D31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97F6341-42ED-6957-7911-88FBFCA898EE}"/>
              </a:ext>
            </a:extLst>
          </p:cNvPr>
          <p:cNvSpPr/>
          <p:nvPr/>
        </p:nvSpPr>
        <p:spPr>
          <a:xfrm>
            <a:off x="4402667" y="2019300"/>
            <a:ext cx="3386666" cy="4013200"/>
          </a:xfrm>
          <a:prstGeom prst="rect">
            <a:avLst/>
          </a:prstGeom>
          <a:solidFill>
            <a:srgbClr val="FFFCF1"/>
          </a:solidFill>
          <a:ln w="12700">
            <a:solidFill>
              <a:srgbClr val="376A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9E8FCF3-E2E5-2A38-A4B6-8890598F795B}"/>
              </a:ext>
            </a:extLst>
          </p:cNvPr>
          <p:cNvSpPr/>
          <p:nvPr/>
        </p:nvSpPr>
        <p:spPr>
          <a:xfrm>
            <a:off x="4402667" y="2019300"/>
            <a:ext cx="38100" cy="4013200"/>
          </a:xfrm>
          <a:prstGeom prst="rect">
            <a:avLst/>
          </a:prstGeom>
          <a:solidFill>
            <a:srgbClr val="376A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46A1763-D774-BB1F-82F5-ADE295BE8A24}"/>
              </a:ext>
            </a:extLst>
          </p:cNvPr>
          <p:cNvSpPr/>
          <p:nvPr/>
        </p:nvSpPr>
        <p:spPr>
          <a:xfrm>
            <a:off x="4402667" y="2019300"/>
            <a:ext cx="3386666" cy="1054100"/>
          </a:xfrm>
          <a:prstGeom prst="rect">
            <a:avLst/>
          </a:prstGeom>
          <a:solidFill>
            <a:srgbClr val="376A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B5BD57B-8180-F3CF-A4C1-69F8C2448AC3}"/>
              </a:ext>
            </a:extLst>
          </p:cNvPr>
          <p:cNvSpPr txBox="1"/>
          <p:nvPr/>
        </p:nvSpPr>
        <p:spPr>
          <a:xfrm>
            <a:off x="4605867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200" b="1">
              <a:solidFill>
                <a:srgbClr val="FFFFF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66743F2-2B48-0511-0F80-B6A95EC11A92}"/>
              </a:ext>
            </a:extLst>
          </p:cNvPr>
          <p:cNvSpPr txBox="1"/>
          <p:nvPr/>
        </p:nvSpPr>
        <p:spPr>
          <a:xfrm>
            <a:off x="4631267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282D31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F72ED2B-4FC1-1B92-B52B-D9E32B4C5822}"/>
              </a:ext>
            </a:extLst>
          </p:cNvPr>
          <p:cNvSpPr/>
          <p:nvPr/>
        </p:nvSpPr>
        <p:spPr>
          <a:xfrm>
            <a:off x="8094133" y="2019300"/>
            <a:ext cx="3386667" cy="4013200"/>
          </a:xfrm>
          <a:prstGeom prst="rect">
            <a:avLst/>
          </a:prstGeom>
          <a:solidFill>
            <a:srgbClr val="FFFCF1"/>
          </a:solidFill>
          <a:ln w="12700">
            <a:solidFill>
              <a:srgbClr val="7754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D671835-09D1-E735-6056-E7F063F25572}"/>
              </a:ext>
            </a:extLst>
          </p:cNvPr>
          <p:cNvSpPr/>
          <p:nvPr/>
        </p:nvSpPr>
        <p:spPr>
          <a:xfrm>
            <a:off x="8094133" y="2019300"/>
            <a:ext cx="38100" cy="4013200"/>
          </a:xfrm>
          <a:prstGeom prst="rect">
            <a:avLst/>
          </a:prstGeom>
          <a:solidFill>
            <a:srgbClr val="7754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ED2D293-F2BD-10A5-6114-4E150805A162}"/>
              </a:ext>
            </a:extLst>
          </p:cNvPr>
          <p:cNvSpPr/>
          <p:nvPr/>
        </p:nvSpPr>
        <p:spPr>
          <a:xfrm>
            <a:off x="8094133" y="2019300"/>
            <a:ext cx="3386667" cy="1054100"/>
          </a:xfrm>
          <a:prstGeom prst="rect">
            <a:avLst/>
          </a:prstGeom>
          <a:solidFill>
            <a:srgbClr val="7754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8E9EE07-A2F7-A660-2782-96B317726ED3}"/>
              </a:ext>
            </a:extLst>
          </p:cNvPr>
          <p:cNvSpPr txBox="1"/>
          <p:nvPr/>
        </p:nvSpPr>
        <p:spPr>
          <a:xfrm>
            <a:off x="8297333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200" b="1">
              <a:solidFill>
                <a:srgbClr val="FFFFF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26C929C-45B2-0F13-EAD6-8C34F19338D1}"/>
              </a:ext>
            </a:extLst>
          </p:cNvPr>
          <p:cNvSpPr txBox="1"/>
          <p:nvPr/>
        </p:nvSpPr>
        <p:spPr>
          <a:xfrm>
            <a:off x="8322733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282D31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D1E40CE2-A988-C685-292C-A5FC88FA6FB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5E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AC9F47A-55E7-CD2E-6A42-D0D69DA88B8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D6264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 / 4</a:t>
            </a:r>
            <a:endParaRPr kumimoji="1" lang="ja-JP" altLang="en-US" sz="1000">
              <a:solidFill>
                <a:srgbClr val="5D6264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16406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FF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B44653E-FA49-1D88-3E7D-C08768D924E1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F5E6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2C6A22A-E497-C812-215D-5D6B3AAAABF5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282D31"/>
                </a:solidFill>
                <a:latin typeface="BIZ UDPMincho Medium" panose="02020500000000000000" pitchFamily="18" charset="-128"/>
                <a:ea typeface="BIZ UDPMincho Medium" panose="02020500000000000000" pitchFamily="18" charset="-128"/>
              </a:rPr>
              <a:t>色面で分ける横の説明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3950CB8-3C77-4E51-FDE2-37E2637D7E27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5E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BEA7B15-356A-F20A-5317-F1D17110B67C}"/>
              </a:ext>
            </a:extLst>
          </p:cNvPr>
          <p:cNvSpPr/>
          <p:nvPr/>
        </p:nvSpPr>
        <p:spPr>
          <a:xfrm>
            <a:off x="711200" y="2019300"/>
            <a:ext cx="10769600" cy="876300"/>
          </a:xfrm>
          <a:prstGeom prst="rect">
            <a:avLst/>
          </a:prstGeom>
          <a:solidFill>
            <a:srgbClr val="F5F0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7238084-C67D-E60B-5552-9DA32EEA0497}"/>
              </a:ext>
            </a:extLst>
          </p:cNvPr>
          <p:cNvSpPr/>
          <p:nvPr/>
        </p:nvSpPr>
        <p:spPr>
          <a:xfrm>
            <a:off x="711200" y="2019300"/>
            <a:ext cx="38100" cy="876300"/>
          </a:xfrm>
          <a:prstGeom prst="rect">
            <a:avLst/>
          </a:prstGeom>
          <a:solidFill>
            <a:srgbClr val="795E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5DADAC4-4247-9E4E-236D-55DF1CAF9501}"/>
              </a:ext>
            </a:extLst>
          </p:cNvPr>
          <p:cNvSpPr txBox="1"/>
          <p:nvPr/>
        </p:nvSpPr>
        <p:spPr>
          <a:xfrm>
            <a:off x="952500" y="21717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795E1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795E1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100" b="1">
              <a:solidFill>
                <a:srgbClr val="795E1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74C3493-4440-E0F6-3C4D-401215299841}"/>
              </a:ext>
            </a:extLst>
          </p:cNvPr>
          <p:cNvSpPr txBox="1"/>
          <p:nvPr/>
        </p:nvSpPr>
        <p:spPr>
          <a:xfrm>
            <a:off x="4305300" y="21717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282D31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C1F7734-F57D-0285-9917-9D81EBED427A}"/>
              </a:ext>
            </a:extLst>
          </p:cNvPr>
          <p:cNvSpPr/>
          <p:nvPr/>
        </p:nvSpPr>
        <p:spPr>
          <a:xfrm>
            <a:off x="711200" y="3022600"/>
            <a:ext cx="10769600" cy="876300"/>
          </a:xfrm>
          <a:prstGeom prst="rect">
            <a:avLst/>
          </a:prstGeom>
          <a:solidFill>
            <a:srgbClr val="F0F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A1100BA-1CEA-AF47-5F75-DEE07035C24D}"/>
              </a:ext>
            </a:extLst>
          </p:cNvPr>
          <p:cNvSpPr/>
          <p:nvPr/>
        </p:nvSpPr>
        <p:spPr>
          <a:xfrm>
            <a:off x="711200" y="3022600"/>
            <a:ext cx="38100" cy="876300"/>
          </a:xfrm>
          <a:prstGeom prst="rect">
            <a:avLst/>
          </a:prstGeom>
          <a:solidFill>
            <a:srgbClr val="376A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240DA64-CBBD-D926-17A8-66C14F150B49}"/>
              </a:ext>
            </a:extLst>
          </p:cNvPr>
          <p:cNvSpPr txBox="1"/>
          <p:nvPr/>
        </p:nvSpPr>
        <p:spPr>
          <a:xfrm>
            <a:off x="952500" y="31750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376A7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376A7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100" b="1">
              <a:solidFill>
                <a:srgbClr val="376A78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F7CE1D3-576C-6F6A-9A54-AB4E2C8E7787}"/>
              </a:ext>
            </a:extLst>
          </p:cNvPr>
          <p:cNvSpPr txBox="1"/>
          <p:nvPr/>
        </p:nvSpPr>
        <p:spPr>
          <a:xfrm>
            <a:off x="4305300" y="31750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282D31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F2E4251-C35A-3A62-5262-FFEBC9B4C8C0}"/>
              </a:ext>
            </a:extLst>
          </p:cNvPr>
          <p:cNvSpPr/>
          <p:nvPr/>
        </p:nvSpPr>
        <p:spPr>
          <a:xfrm>
            <a:off x="711200" y="4025900"/>
            <a:ext cx="10769600" cy="876300"/>
          </a:xfrm>
          <a:prstGeom prst="rect">
            <a:avLst/>
          </a:prstGeom>
          <a:solidFill>
            <a:srgbClr val="F5EF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FD13F11-CCFB-1950-A04E-7FB2F7A3796B}"/>
              </a:ext>
            </a:extLst>
          </p:cNvPr>
          <p:cNvSpPr/>
          <p:nvPr/>
        </p:nvSpPr>
        <p:spPr>
          <a:xfrm>
            <a:off x="711200" y="4025900"/>
            <a:ext cx="38100" cy="876300"/>
          </a:xfrm>
          <a:prstGeom prst="rect">
            <a:avLst/>
          </a:prstGeom>
          <a:solidFill>
            <a:srgbClr val="7754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FBFF246-F567-87E3-2E76-34170098CFF5}"/>
              </a:ext>
            </a:extLst>
          </p:cNvPr>
          <p:cNvSpPr txBox="1"/>
          <p:nvPr/>
        </p:nvSpPr>
        <p:spPr>
          <a:xfrm>
            <a:off x="952500" y="41783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77548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77548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100" b="1">
              <a:solidFill>
                <a:srgbClr val="77548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BD761C4-643B-E80F-583A-908DA7991DA4}"/>
              </a:ext>
            </a:extLst>
          </p:cNvPr>
          <p:cNvSpPr txBox="1"/>
          <p:nvPr/>
        </p:nvSpPr>
        <p:spPr>
          <a:xfrm>
            <a:off x="4305300" y="41783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282D31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43DBB3F-F9B0-C542-3B22-5CBD81B09150}"/>
              </a:ext>
            </a:extLst>
          </p:cNvPr>
          <p:cNvSpPr/>
          <p:nvPr/>
        </p:nvSpPr>
        <p:spPr>
          <a:xfrm>
            <a:off x="711200" y="5029200"/>
            <a:ext cx="10769600" cy="876300"/>
          </a:xfrm>
          <a:prstGeom prst="rect">
            <a:avLst/>
          </a:prstGeom>
          <a:solidFill>
            <a:srgbClr val="F7EF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9EA65EC-0FFA-BD74-D9E5-6BE9BDEDD6D3}"/>
              </a:ext>
            </a:extLst>
          </p:cNvPr>
          <p:cNvSpPr/>
          <p:nvPr/>
        </p:nvSpPr>
        <p:spPr>
          <a:xfrm>
            <a:off x="711200" y="5029200"/>
            <a:ext cx="38100" cy="876300"/>
          </a:xfrm>
          <a:prstGeom prst="rect">
            <a:avLst/>
          </a:prstGeom>
          <a:solidFill>
            <a:srgbClr val="985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4FE692F-4DA2-A236-9131-1AB93CD91ACC}"/>
              </a:ext>
            </a:extLst>
          </p:cNvPr>
          <p:cNvSpPr txBox="1"/>
          <p:nvPr/>
        </p:nvSpPr>
        <p:spPr>
          <a:xfrm>
            <a:off x="952500" y="51816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98533B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98533B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</a:t>
            </a:r>
            <a:endParaRPr kumimoji="1" lang="ja-JP" altLang="en-US" sz="2100" b="1">
              <a:solidFill>
                <a:srgbClr val="98533B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AC83F2D-DD02-736D-C7C9-47073B4056BB}"/>
              </a:ext>
            </a:extLst>
          </p:cNvPr>
          <p:cNvSpPr txBox="1"/>
          <p:nvPr/>
        </p:nvSpPr>
        <p:spPr>
          <a:xfrm>
            <a:off x="4305300" y="51816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282D31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848946D0-6757-E285-E930-4B715594C1A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5E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6BF6A56-E847-F6D3-B14A-8348D7629BE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D6264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 / 4</a:t>
            </a:r>
            <a:endParaRPr kumimoji="1" lang="ja-JP" altLang="en-US" sz="1000">
              <a:solidFill>
                <a:srgbClr val="5D6264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28990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FF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F4E04B3-330F-67EB-2C71-C6D58186BBCC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F5E6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73CBD2D-09DE-0E89-58AB-FAC7A4B2B047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282D31"/>
                </a:solidFill>
                <a:latin typeface="BIZ UDPMincho Medium" panose="02020500000000000000" pitchFamily="18" charset="-128"/>
                <a:ea typeface="BIZ UDPMincho Medium" panose="02020500000000000000" pitchFamily="18" charset="-128"/>
              </a:rPr>
              <a:t>中央の式と下の具体例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F7FB04A-E3CB-7A6C-8CAD-306B7D3CAC7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5E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C0DF18-DAE0-101E-A1B0-DB6794E236A5}"/>
              </a:ext>
            </a:extLst>
          </p:cNvPr>
          <p:cNvSpPr txBox="1"/>
          <p:nvPr/>
        </p:nvSpPr>
        <p:spPr>
          <a:xfrm>
            <a:off x="965200" y="2032000"/>
            <a:ext cx="102616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795E15"/>
                </a:solidFill>
                <a:latin typeface="Cambria Math" panose="02040503050406030204" pitchFamily="18" charset="0"/>
                <a:ea typeface="BIZ UDPGothic" panose="020B0400000000000000" pitchFamily="50" charset="-128"/>
              </a:rPr>
              <a:t>1 + 3 + 5 = 9</a:t>
            </a:r>
            <a:endParaRPr kumimoji="1" lang="ja-JP" altLang="en-US" sz="3200" b="1">
              <a:solidFill>
                <a:srgbClr val="795E15"/>
              </a:solidFill>
              <a:latin typeface="Cambria Math" panose="02040503050406030204" pitchFamily="18" charset="0"/>
              <a:ea typeface="BIZ UDP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9373FD2-C358-89C9-F648-9C676C56B3EC}"/>
              </a:ext>
            </a:extLst>
          </p:cNvPr>
          <p:cNvSpPr txBox="1"/>
          <p:nvPr/>
        </p:nvSpPr>
        <p:spPr>
          <a:xfrm>
            <a:off x="965200" y="3517900"/>
            <a:ext cx="10261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D6264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最初の</a:t>
            </a:r>
            <a:r>
              <a:rPr kumimoji="1" lang="en-US" altLang="ja-JP">
                <a:solidFill>
                  <a:srgbClr val="5D6264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r>
              <a:rPr kumimoji="1" lang="ja-JP" altLang="en-US">
                <a:solidFill>
                  <a:srgbClr val="5D6264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個の奇数の和。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73EE67E-3DFF-3D8F-AB25-532186473138}"/>
              </a:ext>
            </a:extLst>
          </p:cNvPr>
          <p:cNvSpPr/>
          <p:nvPr/>
        </p:nvSpPr>
        <p:spPr>
          <a:xfrm>
            <a:off x="622300" y="4445000"/>
            <a:ext cx="3475567" cy="1600200"/>
          </a:xfrm>
          <a:prstGeom prst="rect">
            <a:avLst/>
          </a:prstGeom>
          <a:solidFill>
            <a:srgbClr val="F5F0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1B7667B-34B3-9813-275E-D8A9B8102C3D}"/>
              </a:ext>
            </a:extLst>
          </p:cNvPr>
          <p:cNvSpPr/>
          <p:nvPr/>
        </p:nvSpPr>
        <p:spPr>
          <a:xfrm>
            <a:off x="622300" y="4445000"/>
            <a:ext cx="3475567" cy="63500"/>
          </a:xfrm>
          <a:prstGeom prst="rect">
            <a:avLst/>
          </a:prstGeom>
          <a:solidFill>
            <a:srgbClr val="795E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FA3811C-FF45-2B0E-B578-1D539CE03569}"/>
              </a:ext>
            </a:extLst>
          </p:cNvPr>
          <p:cNvSpPr txBox="1"/>
          <p:nvPr/>
        </p:nvSpPr>
        <p:spPr>
          <a:xfrm>
            <a:off x="711200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795E1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795E1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100" b="1">
              <a:solidFill>
                <a:srgbClr val="795E1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EC353EA-8A41-6902-1328-DA3D1714A4CC}"/>
              </a:ext>
            </a:extLst>
          </p:cNvPr>
          <p:cNvSpPr txBox="1"/>
          <p:nvPr/>
        </p:nvSpPr>
        <p:spPr>
          <a:xfrm>
            <a:off x="711200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D6264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9778897-D7E1-754C-44D5-B295B1B122C0}"/>
              </a:ext>
            </a:extLst>
          </p:cNvPr>
          <p:cNvSpPr/>
          <p:nvPr/>
        </p:nvSpPr>
        <p:spPr>
          <a:xfrm>
            <a:off x="4313767" y="4445000"/>
            <a:ext cx="3475566" cy="1600200"/>
          </a:xfrm>
          <a:prstGeom prst="rect">
            <a:avLst/>
          </a:prstGeom>
          <a:solidFill>
            <a:srgbClr val="F0F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B0F531E-DE96-6DA0-CED8-BD8DACA919AF}"/>
              </a:ext>
            </a:extLst>
          </p:cNvPr>
          <p:cNvSpPr/>
          <p:nvPr/>
        </p:nvSpPr>
        <p:spPr>
          <a:xfrm>
            <a:off x="4313767" y="4445000"/>
            <a:ext cx="3475566" cy="63500"/>
          </a:xfrm>
          <a:prstGeom prst="rect">
            <a:avLst/>
          </a:prstGeom>
          <a:solidFill>
            <a:srgbClr val="376A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5F5745A-80F1-5677-0B44-348DA7FF78D2}"/>
              </a:ext>
            </a:extLst>
          </p:cNvPr>
          <p:cNvSpPr txBox="1"/>
          <p:nvPr/>
        </p:nvSpPr>
        <p:spPr>
          <a:xfrm>
            <a:off x="4402667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376A7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376A7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100" b="1">
              <a:solidFill>
                <a:srgbClr val="376A78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17366BE-6A8A-7290-8DC3-656FAF339625}"/>
              </a:ext>
            </a:extLst>
          </p:cNvPr>
          <p:cNvSpPr txBox="1"/>
          <p:nvPr/>
        </p:nvSpPr>
        <p:spPr>
          <a:xfrm>
            <a:off x="4402667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D6264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577B45E-92A5-5129-1791-D89246D7B2C7}"/>
              </a:ext>
            </a:extLst>
          </p:cNvPr>
          <p:cNvSpPr/>
          <p:nvPr/>
        </p:nvSpPr>
        <p:spPr>
          <a:xfrm>
            <a:off x="8005233" y="4445000"/>
            <a:ext cx="3475567" cy="1600200"/>
          </a:xfrm>
          <a:prstGeom prst="rect">
            <a:avLst/>
          </a:prstGeom>
          <a:solidFill>
            <a:srgbClr val="F5EF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A9EA91D-B388-CC11-154C-1BF7E004FC0C}"/>
              </a:ext>
            </a:extLst>
          </p:cNvPr>
          <p:cNvSpPr/>
          <p:nvPr/>
        </p:nvSpPr>
        <p:spPr>
          <a:xfrm>
            <a:off x="8005233" y="4445000"/>
            <a:ext cx="3475567" cy="63500"/>
          </a:xfrm>
          <a:prstGeom prst="rect">
            <a:avLst/>
          </a:prstGeom>
          <a:solidFill>
            <a:srgbClr val="7754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9A37FF6-0F7D-9205-0C01-6A97827E02BE}"/>
              </a:ext>
            </a:extLst>
          </p:cNvPr>
          <p:cNvSpPr txBox="1"/>
          <p:nvPr/>
        </p:nvSpPr>
        <p:spPr>
          <a:xfrm>
            <a:off x="8094133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77548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77548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100" b="1">
              <a:solidFill>
                <a:srgbClr val="77548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01A9290-330A-0125-034D-F750C5F9BD22}"/>
              </a:ext>
            </a:extLst>
          </p:cNvPr>
          <p:cNvSpPr txBox="1"/>
          <p:nvPr/>
        </p:nvSpPr>
        <p:spPr>
          <a:xfrm>
            <a:off x="8094133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D6264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33DCB434-5EF8-2EB1-3D5D-B8C6382E944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5E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43F613F-AF45-9805-BF8B-3FA527CBD38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D6264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 / 4</a:t>
            </a:r>
            <a:endParaRPr kumimoji="1" lang="ja-JP" altLang="en-US" sz="1000">
              <a:solidFill>
                <a:srgbClr val="5D6264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28606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282D31"/>
      </a:dk1>
      <a:lt1>
        <a:sysClr val="window" lastClr="FFFFFF"/>
      </a:lt1>
      <a:dk2>
        <a:srgbClr val="0E2841"/>
      </a:dk2>
      <a:lt2>
        <a:srgbClr val="E8E8E8"/>
      </a:lt2>
      <a:accent1>
        <a:srgbClr val="795E15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619</Words>
  <Application>Microsoft Office PowerPoint</Application>
  <PresentationFormat>ユーザー設定</PresentationFormat>
  <Paragraphs>39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1" baseType="lpstr">
      <vt:lpstr>BIZ UDPGothic</vt:lpstr>
      <vt:lpstr>BIZ UDPMincho Medium</vt:lpstr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2026-09-30T14:15:53Z</dcterms:created>
  <dcterms:modified xsi:type="dcterms:W3CDTF">2026-09-30T14:15:53Z</dcterms:modified>
</cp:coreProperties>
</file>