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'Sheet1'!$B$1</c:f>
              <c:strCache>
                <c:ptCount val="1"/>
                <c:pt idx="0">
                  <c:v>実績</c:v>
                </c:pt>
              </c:strCache>
            </c:strRef>
          </c:tx>
          <c:spPr>
            <a:solidFill>
              <a:srgbClr val="245DA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.###############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'Sheet1'!$A$2:$A$4</c:f>
              <c:strCache>
                <c:ptCount val="3"/>
                <c:pt idx="0">
                  <c:v>検証A</c:v>
                </c:pt>
                <c:pt idx="1">
                  <c:v>=データ</c:v>
                </c:pt>
                <c:pt idx="2">
                  <c:v>検証C</c:v>
                </c:pt>
              </c:strCache>
            </c:strRef>
          </c:cat>
          <c:val>
            <c:numRef>
              <c:f>'Sheet1'!$B$2:$B$4</c:f>
              <c:numCache>
                <c:formatCode>General</c:formatCode>
                <c:ptCount val="3"/>
                <c:pt idx="0">
                  <c:v>-2.5</c:v>
                </c:pt>
                <c:pt idx="1">
                  <c:v>0</c:v>
                </c:pt>
                <c:pt idx="2">
                  <c:v>17.75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36-4282-AB2E-EE82F1A158AC}"/>
            </c:ext>
          </c:extLst>
        </c:ser>
        <c:ser>
          <c:idx val="1"/>
          <c:order val="1"/>
          <c:tx>
            <c:strRef>
              <c:f>'Sheet1'!$C$1</c:f>
              <c:strCache>
                <c:ptCount val="1"/>
                <c:pt idx="0">
                  <c:v>比較</c:v>
                </c:pt>
              </c:strCache>
            </c:strRef>
          </c:tx>
          <c:spPr>
            <a:solidFill>
              <a:srgbClr val="945F1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.###############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'Sheet1'!$A$2:$A$4</c:f>
              <c:strCache>
                <c:ptCount val="3"/>
                <c:pt idx="0">
                  <c:v>検証A</c:v>
                </c:pt>
                <c:pt idx="1">
                  <c:v>=データ</c:v>
                </c:pt>
                <c:pt idx="2">
                  <c:v>検証C</c:v>
                </c:pt>
              </c:strCache>
            </c:strRef>
          </c:cat>
          <c:val>
            <c:numRef>
              <c:f>'Sheet1'!$C$2:$C$4</c:f>
              <c:numCache>
                <c:formatCode>General</c:formatCode>
                <c:ptCount val="3"/>
                <c:pt idx="0">
                  <c:v>12.5</c:v>
                </c:pt>
                <c:pt idx="1">
                  <c:v>27.6</c:v>
                </c:pt>
                <c:pt idx="2">
                  <c:v>34.75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236-4282-AB2E-EE82F1A158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786068176"/>
        <c:axId val="775732656"/>
      </c:barChart>
      <c:catAx>
        <c:axId val="78606817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775732656"/>
        <c:crosses val="autoZero"/>
        <c:auto val="1"/>
        <c:lblAlgn val="ctr"/>
        <c:lblOffset val="100"/>
        <c:tickLblSkip val="1"/>
        <c:noMultiLvlLbl val="0"/>
      </c:catAx>
      <c:valAx>
        <c:axId val="7757326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rgbClr val="DFE2E6"/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172D4A"/>
                  </a:solidFill>
                  <a:latin typeface="BIZ UDPGothic"/>
                  <a:ea typeface="BIZ UDPGothic"/>
                  <a:cs typeface="BIZ UDPGothic"/>
                </a:defRPr>
              </a:pPr>
              <a:endParaRPr lang="ja-JP"/>
            </a:p>
          </c:txPr>
        </c:title>
        <c:numFmt formatCode="#,##0.###############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786068176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172D4A"/>
              </a:solidFill>
              <a:latin typeface="BIZ UDPGothic"/>
              <a:ea typeface="BIZ UDPGothic"/>
              <a:cs typeface="BIZ UDPGothic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'Sheet1'!$B$1</c:f>
              <c:strCache>
                <c:ptCount val="1"/>
                <c:pt idx="0">
                  <c:v>実績</c:v>
                </c:pt>
              </c:strCache>
            </c:strRef>
          </c:tx>
          <c:spPr>
            <a:solidFill>
              <a:srgbClr val="245DA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.###############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'Sheet1'!$A$2:$A$4</c:f>
              <c:strCache>
                <c:ptCount val="3"/>
                <c:pt idx="0">
                  <c:v>検証A</c:v>
                </c:pt>
                <c:pt idx="1">
                  <c:v>=データ</c:v>
                </c:pt>
                <c:pt idx="2">
                  <c:v>検証C</c:v>
                </c:pt>
              </c:strCache>
            </c:strRef>
          </c:cat>
          <c:val>
            <c:numRef>
              <c:f>'Sheet1'!$B$2:$B$4</c:f>
              <c:numCache>
                <c:formatCode>General</c:formatCode>
                <c:ptCount val="3"/>
                <c:pt idx="0">
                  <c:v>-2.5</c:v>
                </c:pt>
                <c:pt idx="1">
                  <c:v>0</c:v>
                </c:pt>
                <c:pt idx="2">
                  <c:v>17.75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B9-42EC-A076-7CA840E39A04}"/>
            </c:ext>
          </c:extLst>
        </c:ser>
        <c:ser>
          <c:idx val="1"/>
          <c:order val="1"/>
          <c:tx>
            <c:strRef>
              <c:f>'Sheet1'!$C$1</c:f>
              <c:strCache>
                <c:ptCount val="1"/>
                <c:pt idx="0">
                  <c:v>比較</c:v>
                </c:pt>
              </c:strCache>
            </c:strRef>
          </c:tx>
          <c:spPr>
            <a:solidFill>
              <a:srgbClr val="945F1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.###############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'Sheet1'!$A$2:$A$4</c:f>
              <c:strCache>
                <c:ptCount val="3"/>
                <c:pt idx="0">
                  <c:v>検証A</c:v>
                </c:pt>
                <c:pt idx="1">
                  <c:v>=データ</c:v>
                </c:pt>
                <c:pt idx="2">
                  <c:v>検証C</c:v>
                </c:pt>
              </c:strCache>
            </c:strRef>
          </c:cat>
          <c:val>
            <c:numRef>
              <c:f>'Sheet1'!$C$2:$C$4</c:f>
              <c:numCache>
                <c:formatCode>General</c:formatCode>
                <c:ptCount val="3"/>
                <c:pt idx="0">
                  <c:v>12.5</c:v>
                </c:pt>
                <c:pt idx="1">
                  <c:v>27.6</c:v>
                </c:pt>
                <c:pt idx="2">
                  <c:v>34.75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5B9-42EC-A076-7CA840E39A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86062608"/>
        <c:axId val="775728336"/>
      </c:barChart>
      <c:catAx>
        <c:axId val="7860626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775728336"/>
        <c:crosses val="autoZero"/>
        <c:auto val="1"/>
        <c:lblAlgn val="ctr"/>
        <c:lblOffset val="100"/>
        <c:tickLblSkip val="1"/>
        <c:noMultiLvlLbl val="0"/>
      </c:catAx>
      <c:valAx>
        <c:axId val="7757283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DFE2E6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172D4A"/>
                  </a:solidFill>
                  <a:latin typeface="BIZ UDPGothic"/>
                  <a:ea typeface="BIZ UDPGothic"/>
                  <a:cs typeface="BIZ UDPGothic"/>
                </a:defRPr>
              </a:pPr>
              <a:endParaRPr lang="ja-JP"/>
            </a:p>
          </c:txPr>
        </c:title>
        <c:numFmt formatCode="#,##0.###############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786062608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172D4A"/>
              </a:solidFill>
              <a:latin typeface="BIZ UDPGothic"/>
              <a:ea typeface="BIZ UDPGothic"/>
              <a:cs typeface="BIZ UDPGothic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'Sheet1'!$B$1</c:f>
              <c:strCache>
                <c:ptCount val="1"/>
                <c:pt idx="0">
                  <c:v>実績</c:v>
                </c:pt>
              </c:strCache>
            </c:strRef>
          </c:tx>
          <c:spPr>
            <a:ln w="31750" cap="rnd">
              <a:solidFill>
                <a:srgbClr val="245DA8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rgbClr val="245DA8"/>
              </a:solidFill>
              <a:ln w="31750">
                <a:solidFill>
                  <a:srgbClr val="245DA8"/>
                </a:solidFill>
                <a:prstDash val="solid"/>
              </a:ln>
              <a:effectLst/>
            </c:spPr>
          </c:marker>
          <c:dLbls>
            <c:numFmt formatCode="#,##0.###############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'Sheet1'!$A$2:$A$4</c:f>
              <c:strCache>
                <c:ptCount val="3"/>
                <c:pt idx="0">
                  <c:v>検証A</c:v>
                </c:pt>
                <c:pt idx="1">
                  <c:v>=データ</c:v>
                </c:pt>
                <c:pt idx="2">
                  <c:v>検証C</c:v>
                </c:pt>
              </c:strCache>
            </c:strRef>
          </c:cat>
          <c:val>
            <c:numRef>
              <c:f>'Sheet1'!$B$2:$B$4</c:f>
              <c:numCache>
                <c:formatCode>General</c:formatCode>
                <c:ptCount val="3"/>
                <c:pt idx="0">
                  <c:v>-2.5</c:v>
                </c:pt>
                <c:pt idx="1">
                  <c:v>0</c:v>
                </c:pt>
                <c:pt idx="2">
                  <c:v>17.75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0DA-40C8-B82B-C4BBD8A4ECC4}"/>
            </c:ext>
          </c:extLst>
        </c:ser>
        <c:ser>
          <c:idx val="1"/>
          <c:order val="1"/>
          <c:tx>
            <c:strRef>
              <c:f>'Sheet1'!$C$1</c:f>
              <c:strCache>
                <c:ptCount val="1"/>
                <c:pt idx="0">
                  <c:v>比較</c:v>
                </c:pt>
              </c:strCache>
            </c:strRef>
          </c:tx>
          <c:spPr>
            <a:ln w="31750" cap="rnd">
              <a:solidFill>
                <a:srgbClr val="945F1D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rgbClr val="945F1D"/>
              </a:solidFill>
              <a:ln w="31750">
                <a:solidFill>
                  <a:srgbClr val="945F1D"/>
                </a:solidFill>
                <a:prstDash val="solid"/>
              </a:ln>
              <a:effectLst/>
            </c:spPr>
          </c:marker>
          <c:dLbls>
            <c:numFmt formatCode="#,##0.###############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'Sheet1'!$A$2:$A$4</c:f>
              <c:strCache>
                <c:ptCount val="3"/>
                <c:pt idx="0">
                  <c:v>検証A</c:v>
                </c:pt>
                <c:pt idx="1">
                  <c:v>=データ</c:v>
                </c:pt>
                <c:pt idx="2">
                  <c:v>検証C</c:v>
                </c:pt>
              </c:strCache>
            </c:strRef>
          </c:cat>
          <c:val>
            <c:numRef>
              <c:f>'Sheet1'!$C$2:$C$4</c:f>
              <c:numCache>
                <c:formatCode>General</c:formatCode>
                <c:ptCount val="3"/>
                <c:pt idx="0">
                  <c:v>12.5</c:v>
                </c:pt>
                <c:pt idx="1">
                  <c:v>27.6</c:v>
                </c:pt>
                <c:pt idx="2">
                  <c:v>34.75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0DA-40C8-B82B-C4BBD8A4EC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86030592"/>
        <c:axId val="775834416"/>
      </c:lineChart>
      <c:catAx>
        <c:axId val="7860305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775834416"/>
        <c:crosses val="autoZero"/>
        <c:auto val="1"/>
        <c:lblAlgn val="ctr"/>
        <c:lblOffset val="100"/>
        <c:tickLblSkip val="1"/>
        <c:noMultiLvlLbl val="0"/>
      </c:catAx>
      <c:valAx>
        <c:axId val="7758344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DFE2E6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172D4A"/>
                  </a:solidFill>
                  <a:latin typeface="BIZ UDPGothic"/>
                  <a:ea typeface="BIZ UDPGothic"/>
                  <a:cs typeface="BIZ UDPGothic"/>
                </a:defRPr>
              </a:pPr>
              <a:endParaRPr lang="ja-JP"/>
            </a:p>
          </c:txPr>
        </c:title>
        <c:numFmt formatCode="#,##0.###############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786030592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172D4A"/>
              </a:solidFill>
              <a:latin typeface="BIZ UDPGothic"/>
              <a:ea typeface="BIZ UDPGothic"/>
              <a:cs typeface="BIZ UDPGothic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tx>
            <c:strRef>
              <c:f>'Sheet1'!$B$1</c:f>
              <c:strCache>
                <c:ptCount val="1"/>
                <c:pt idx="0">
                  <c:v>内訳</c:v>
                </c:pt>
              </c:strCache>
            </c:strRef>
          </c:tx>
          <c:spPr>
            <a:solidFill>
              <a:srgbClr val="245DA8"/>
            </a:solidFill>
            <a:ln w="19050"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prstClr val="white"/>
                  </a:solidFill>
                </a14:hiddenLine>
              </a:ext>
            </a:extLst>
          </c:spPr>
          <c:dPt>
            <c:idx val="0"/>
            <c:bubble3D val="0"/>
            <c:spPr>
              <a:solidFill>
                <a:srgbClr val="245DA8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82-4189-A20A-D15B0852467D}"/>
              </c:ext>
            </c:extLst>
          </c:dPt>
          <c:dPt>
            <c:idx val="1"/>
            <c:bubble3D val="0"/>
            <c:spPr>
              <a:solidFill>
                <a:srgbClr val="945F1D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3582-4189-A20A-D15B0852467D}"/>
              </c:ext>
            </c:extLst>
          </c:dPt>
          <c:dPt>
            <c:idx val="2"/>
            <c:bubble3D val="0"/>
            <c:spPr>
              <a:solidFill>
                <a:srgbClr val="8B5AC4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82-4189-A20A-D15B0852467D}"/>
              </c:ext>
            </c:extLst>
          </c:dPt>
          <c:dPt>
            <c:idx val="3"/>
            <c:bubble3D val="0"/>
            <c:spPr>
              <a:solidFill>
                <a:srgbClr val="C86219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3582-4189-A20A-D15B0852467D}"/>
              </c:ext>
            </c:extLst>
          </c:dPt>
          <c:dPt>
            <c:idx val="4"/>
            <c:bubble3D val="0"/>
            <c:spPr>
              <a:solidFill>
                <a:srgbClr val="278874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82-4189-A20A-D15B0852467D}"/>
              </c:ext>
            </c:extLst>
          </c:dPt>
          <c:dPt>
            <c:idx val="5"/>
            <c:bubble3D val="0"/>
            <c:spPr>
              <a:solidFill>
                <a:srgbClr val="C64168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3582-4189-A20A-D15B0852467D}"/>
              </c:ext>
            </c:extLst>
          </c:dPt>
          <c:dPt>
            <c:idx val="6"/>
            <c:bubble3D val="0"/>
            <c:spPr>
              <a:solidFill>
                <a:srgbClr val="667A25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82-4189-A20A-D15B0852467D}"/>
              </c:ext>
            </c:extLst>
          </c:dPt>
          <c:dPt>
            <c:idx val="7"/>
            <c:bubble3D val="0"/>
            <c:spPr>
              <a:solidFill>
                <a:srgbClr val="557DBC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3582-4189-A20A-D15B0852467D}"/>
              </c:ext>
            </c:extLst>
          </c:dPt>
          <c:dLbls>
            <c:dLbl>
              <c:idx val="0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3582-4189-A20A-D15B0852467D}"/>
                </c:ext>
              </c:extLst>
            </c:dLbl>
            <c:dLbl>
              <c:idx val="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2-3582-4189-A20A-D15B0852467D}"/>
                </c:ext>
              </c:extLst>
            </c:dLbl>
            <c:dLbl>
              <c:idx val="2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3582-4189-A20A-D15B0852467D}"/>
                </c:ext>
              </c:extLst>
            </c:dLbl>
            <c:dLbl>
              <c:idx val="5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6-3582-4189-A20A-D15B0852467D}"/>
                </c:ext>
              </c:extLst>
            </c:dLbl>
            <c:dLbl>
              <c:idx val="6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7-3582-4189-A20A-D15B0852467D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'Sheet1'!$A$2:$A$9</c:f>
              <c:strCache>
                <c:ptCount val="8"/>
                <c:pt idx="0">
                  <c:v>学習</c:v>
                </c:pt>
                <c:pt idx="1">
                  <c:v>運動</c:v>
                </c:pt>
                <c:pt idx="2">
                  <c:v>休息</c:v>
                </c:pt>
                <c:pt idx="3">
                  <c:v>移動</c:v>
                </c:pt>
                <c:pt idx="4">
                  <c:v>読書</c:v>
                </c:pt>
                <c:pt idx="5">
                  <c:v>食事</c:v>
                </c:pt>
                <c:pt idx="6">
                  <c:v>家事</c:v>
                </c:pt>
                <c:pt idx="7">
                  <c:v>その他</c:v>
                </c:pt>
              </c:strCache>
            </c:strRef>
          </c:cat>
          <c:val>
            <c:numRef>
              <c:f>'Sheet1'!$B$2:$B$9</c:f>
              <c:numCache>
                <c:formatCode>General</c:formatCode>
                <c:ptCount val="8"/>
                <c:pt idx="0">
                  <c:v>24</c:v>
                </c:pt>
                <c:pt idx="1">
                  <c:v>18</c:v>
                </c:pt>
                <c:pt idx="2">
                  <c:v>12</c:v>
                </c:pt>
                <c:pt idx="3">
                  <c:v>9</c:v>
                </c:pt>
                <c:pt idx="4">
                  <c:v>8</c:v>
                </c:pt>
                <c:pt idx="5">
                  <c:v>7</c:v>
                </c:pt>
                <c:pt idx="6">
                  <c:v>6</c:v>
                </c:pt>
                <c:pt idx="7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82-4189-A20A-D15B085246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172D4A"/>
              </a:solidFill>
              <a:latin typeface="BIZ UDPGothic"/>
              <a:ea typeface="BIZ UDPGothic"/>
              <a:cs typeface="BIZ UDPGothic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doughnutChart>
        <c:varyColors val="1"/>
        <c:ser>
          <c:idx val="0"/>
          <c:order val="0"/>
          <c:tx>
            <c:strRef>
              <c:f>'Sheet1'!$B$1</c:f>
              <c:strCache>
                <c:ptCount val="1"/>
                <c:pt idx="0">
                  <c:v>内訳</c:v>
                </c:pt>
              </c:strCache>
            </c:strRef>
          </c:tx>
          <c:spPr>
            <a:solidFill>
              <a:srgbClr val="245DA8"/>
            </a:solidFill>
            <a:ln w="19050"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prstClr val="white"/>
                  </a:solidFill>
                </a14:hiddenLine>
              </a:ext>
            </a:extLst>
          </c:spPr>
          <c:dPt>
            <c:idx val="0"/>
            <c:bubble3D val="0"/>
            <c:spPr>
              <a:solidFill>
                <a:srgbClr val="245DA8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C6A-4D6E-8F14-EC9737327065}"/>
              </c:ext>
            </c:extLst>
          </c:dPt>
          <c:dPt>
            <c:idx val="1"/>
            <c:bubble3D val="0"/>
            <c:spPr>
              <a:solidFill>
                <a:srgbClr val="945F1D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7C6A-4D6E-8F14-EC9737327065}"/>
              </c:ext>
            </c:extLst>
          </c:dPt>
          <c:dPt>
            <c:idx val="2"/>
            <c:bubble3D val="0"/>
            <c:spPr>
              <a:solidFill>
                <a:srgbClr val="8B5AC4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C6A-4D6E-8F14-EC9737327065}"/>
              </c:ext>
            </c:extLst>
          </c:dPt>
          <c:dPt>
            <c:idx val="3"/>
            <c:bubble3D val="0"/>
            <c:spPr>
              <a:solidFill>
                <a:srgbClr val="C86219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7C6A-4D6E-8F14-EC9737327065}"/>
              </c:ext>
            </c:extLst>
          </c:dPt>
          <c:dPt>
            <c:idx val="4"/>
            <c:bubble3D val="0"/>
            <c:spPr>
              <a:solidFill>
                <a:srgbClr val="278874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C6A-4D6E-8F14-EC9737327065}"/>
              </c:ext>
            </c:extLst>
          </c:dPt>
          <c:dPt>
            <c:idx val="5"/>
            <c:bubble3D val="0"/>
            <c:spPr>
              <a:solidFill>
                <a:srgbClr val="C64168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7C6A-4D6E-8F14-EC9737327065}"/>
              </c:ext>
            </c:extLst>
          </c:dPt>
          <c:dPt>
            <c:idx val="6"/>
            <c:bubble3D val="0"/>
            <c:spPr>
              <a:solidFill>
                <a:srgbClr val="667A25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C6A-4D6E-8F14-EC9737327065}"/>
              </c:ext>
            </c:extLst>
          </c:dPt>
          <c:dPt>
            <c:idx val="7"/>
            <c:bubble3D val="0"/>
            <c:spPr>
              <a:solidFill>
                <a:srgbClr val="557DBC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7C6A-4D6E-8F14-EC9737327065}"/>
              </c:ext>
            </c:extLst>
          </c:dPt>
          <c:dLbls>
            <c:dLbl>
              <c:idx val="0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7C6A-4D6E-8F14-EC9737327065}"/>
                </c:ext>
              </c:extLst>
            </c:dLbl>
            <c:dLbl>
              <c:idx val="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2-7C6A-4D6E-8F14-EC9737327065}"/>
                </c:ext>
              </c:extLst>
            </c:dLbl>
            <c:dLbl>
              <c:idx val="2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7C6A-4D6E-8F14-EC9737327065}"/>
                </c:ext>
              </c:extLst>
            </c:dLbl>
            <c:dLbl>
              <c:idx val="5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6-7C6A-4D6E-8F14-EC9737327065}"/>
                </c:ext>
              </c:extLst>
            </c:dLbl>
            <c:dLbl>
              <c:idx val="6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7-7C6A-4D6E-8F14-EC9737327065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'Sheet1'!$A$2:$A$9</c:f>
              <c:strCache>
                <c:ptCount val="8"/>
                <c:pt idx="0">
                  <c:v>学習</c:v>
                </c:pt>
                <c:pt idx="1">
                  <c:v>運動</c:v>
                </c:pt>
                <c:pt idx="2">
                  <c:v>休息</c:v>
                </c:pt>
                <c:pt idx="3">
                  <c:v>移動</c:v>
                </c:pt>
                <c:pt idx="4">
                  <c:v>読書</c:v>
                </c:pt>
                <c:pt idx="5">
                  <c:v>食事</c:v>
                </c:pt>
                <c:pt idx="6">
                  <c:v>家事</c:v>
                </c:pt>
                <c:pt idx="7">
                  <c:v>その他</c:v>
                </c:pt>
              </c:strCache>
            </c:strRef>
          </c:cat>
          <c:val>
            <c:numRef>
              <c:f>'Sheet1'!$B$2:$B$9</c:f>
              <c:numCache>
                <c:formatCode>General</c:formatCode>
                <c:ptCount val="8"/>
                <c:pt idx="0">
                  <c:v>24</c:v>
                </c:pt>
                <c:pt idx="1">
                  <c:v>18</c:v>
                </c:pt>
                <c:pt idx="2">
                  <c:v>12</c:v>
                </c:pt>
                <c:pt idx="3">
                  <c:v>9</c:v>
                </c:pt>
                <c:pt idx="4">
                  <c:v>8</c:v>
                </c:pt>
                <c:pt idx="5">
                  <c:v>7</c:v>
                </c:pt>
                <c:pt idx="6">
                  <c:v>6</c:v>
                </c:pt>
                <c:pt idx="7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6A-4D6E-8F14-EC97373270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8"/>
      </c:doughnutChart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172D4A"/>
              </a:solidFill>
              <a:latin typeface="BIZ UDPGothic"/>
              <a:ea typeface="BIZ UDPGothic"/>
              <a:cs typeface="BIZ UDPGothic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doughnutChart>
        <c:varyColors val="1"/>
        <c:ser>
          <c:idx val="0"/>
          <c:order val="0"/>
          <c:tx>
            <c:strRef>
              <c:f>'Sheet1'!$B$1</c:f>
              <c:strCache>
                <c:ptCount val="1"/>
                <c:pt idx="0">
                  <c:v>内訳</c:v>
                </c:pt>
              </c:strCache>
            </c:strRef>
          </c:tx>
          <c:spPr>
            <a:solidFill>
              <a:srgbClr val="245DA8"/>
            </a:solidFill>
            <a:ln w="19050"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prstClr val="white"/>
                  </a:solidFill>
                </a14:hiddenLine>
              </a:ext>
            </a:extLst>
          </c:spPr>
          <c:dPt>
            <c:idx val="0"/>
            <c:bubble3D val="0"/>
            <c:spPr>
              <a:solidFill>
                <a:srgbClr val="245DA8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52C-4078-80CC-B05D4C8FF94F}"/>
              </c:ext>
            </c:extLst>
          </c:dPt>
          <c:dPt>
            <c:idx val="1"/>
            <c:bubble3D val="0"/>
            <c:spPr>
              <a:solidFill>
                <a:srgbClr val="945F1D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752C-4078-80CC-B05D4C8FF94F}"/>
              </c:ext>
            </c:extLst>
          </c:dPt>
          <c:dLbls>
            <c:dLbl>
              <c:idx val="0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752C-4078-80CC-B05D4C8FF94F}"/>
                </c:ext>
              </c:extLst>
            </c:dLbl>
            <c:dLbl>
              <c:idx val="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2-752C-4078-80CC-B05D4C8FF94F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'Sheet1'!$A$2:$A$3</c:f>
              <c:strCache>
                <c:ptCount val="2"/>
                <c:pt idx="0">
                  <c:v>使用</c:v>
                </c:pt>
                <c:pt idx="1">
                  <c:v>未使用</c:v>
                </c:pt>
              </c:strCache>
            </c:strRef>
          </c:cat>
          <c:val>
            <c:numRef>
              <c:f>'Sheet1'!$B$2:$B$3</c:f>
              <c:numCache>
                <c:formatCode>General</c:formatCode>
                <c:ptCount val="2"/>
                <c:pt idx="0">
                  <c:v>100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2C-4078-80CC-B05D4C8FF9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8"/>
      </c:doughnutChart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172D4A"/>
              </a:solidFill>
              <a:latin typeface="BIZ UDPGothic"/>
              <a:ea typeface="BIZ UDPGothic"/>
              <a:cs typeface="BIZ UDPGothic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CC805D-635E-47AC-97F7-EF92384E4CAF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E96349-3BC3-438F-B249-E8081584A8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4655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96349-3BC3-438F-B249-E8081584A8BA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94039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96349-3BC3-438F-B249-E8081584A8BA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742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96349-3BC3-438F-B249-E8081584A8BA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77684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96349-3BC3-438F-B249-E8081584A8BA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43545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96349-3BC3-438F-B249-E8081584A8BA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85183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96349-3BC3-438F-B249-E8081584A8BA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3656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2AF3E7-E179-3AC4-B163-909C55A279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65B1DA3-361C-F01F-DA31-DEE85220B9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AF80DCE-95B6-6B33-721B-E6ABF4966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39852-1390-49B7-A75F-9BF61871A04B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D731E5-6479-FE88-9B59-5D5285A4E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B17574F-042F-BEA2-33FD-F11EBB96C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8EA2-19F4-4486-904F-99FC0FE6E4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4420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64BE69-10BA-8D98-637D-B1ED433D9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E696795-57C1-6513-3844-B2FF20099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8AAF84A-0676-1428-BFA0-B08948C3D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39852-1390-49B7-A75F-9BF61871A04B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7DAF859-A749-7A5C-B631-57502418C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F9502A-032F-DFC9-1253-9747B4AD7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8EA2-19F4-4486-904F-99FC0FE6E4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1513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7EBD8C-5A97-C41D-1B36-C2874C3AE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4D5FE1-3FE4-A9E3-EE55-1CC2F9F99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6653CBE-BF18-079C-19B4-DE19F5744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39852-1390-49B7-A75F-9BF61871A04B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487889-5B25-41EE-90E9-E7610D71D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79A3AED-F7D4-B678-4405-DFE5EC0BE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8EA2-19F4-4486-904F-99FC0FE6E4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4609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0C360B-0338-D0A5-76B0-6336CE61E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12B1334-6981-F536-ED5A-D8794DFF9C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0E06E7A-9947-75C0-15BE-43E8A35FC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D4C39D1-DBEA-E393-B155-EBD012707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39852-1390-49B7-A75F-9BF61871A04B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2780D62-9C0E-AE20-4E66-4AA5B5E26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DAA44AD-1ECA-7BBB-0408-F627793E4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8EA2-19F4-4486-904F-99FC0FE6E4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1921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20D78E-090F-A567-4A5D-555B75AB1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8A057FF-22FD-07A0-67DB-791B85885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4D8A387-28D6-3190-026D-A6C17FF85A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BECCE9E-144A-FCE8-2A9A-0B7F27A3BC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B26345F-44EC-B2CD-D15D-28F97A794F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CCDFA59-F94E-449A-E899-F993F7C27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39852-1390-49B7-A75F-9BF61871A04B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B19CEA1-B01F-BF32-00FB-4908D402E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D24BA24-894A-1B61-F826-E9AF4EF65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8EA2-19F4-4486-904F-99FC0FE6E4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7960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F635ED-AA4E-9D6E-0643-862865D05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18CD7E4-54F6-66CD-BBBF-2694360A1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39852-1390-49B7-A75F-9BF61871A04B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CCB4AF3-3F6C-BC04-7B21-9BF2D0BAC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BD9F459-CBEA-555C-2D39-1BD9F2CBA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8EA2-19F4-4486-904F-99FC0FE6E4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3188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8219EF4-E471-865A-B584-E61425D89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39852-1390-49B7-A75F-9BF61871A04B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6B2CD78-C8B8-20EF-887A-AAD2C6797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18A1CB2-CA05-19BE-2706-ECE43228E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8EA2-19F4-4486-904F-99FC0FE6E4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4805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90EE04-E894-C575-0D02-072A0383B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222410-C218-8D81-2F55-4508561A5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DA01A01-7ADD-431E-8FED-CE648BF9B2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615723B-0755-211C-B037-54F663BC7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39852-1390-49B7-A75F-9BF61871A04B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0FAE3D7-6206-F01A-0DC3-F22070B5A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FE7D857-8252-9C51-CB21-F3809F0C7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8EA2-19F4-4486-904F-99FC0FE6E4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9228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2AF27C-00CE-F7CB-625D-05EDD3E3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3C557B6-4427-DB03-E278-4DD241ADEB6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EFD852-8BBE-A6C6-DD49-DF900A2112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944C771-2FC3-19A6-C67E-7115903C0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39852-1390-49B7-A75F-9BF61871A04B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7E954BF-D733-36E7-0A9F-BF5B3CA03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6462CA7-F36E-D8AE-3195-4574D597F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8EA2-19F4-4486-904F-99FC0FE6E4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6441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A46829-9960-298E-50F6-2B476E4BC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A81BDF1-B0AF-8407-6CA8-EF12CD665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55A4784-0168-30C5-BA04-555381E13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39852-1390-49B7-A75F-9BF61871A04B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B1C970D-A64E-F7B8-88E3-9C0BE000B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437772D-E72B-2B69-7434-18BF648A6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8EA2-19F4-4486-904F-99FC0FE6E4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9394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59BCDC3-80A1-40C3-3A4A-3CD7CAE584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F6EA5C9-B17F-ADD5-AD7B-1B5106C52B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08B2E3-EC51-1CA0-5221-8097EDC85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39852-1390-49B7-A75F-9BF61871A04B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8BD9DA-CD61-412F-641F-2CF8E32E1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7347232-A0ED-972F-A1CE-7D4E90B34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8EA2-19F4-4486-904F-99FC0FE6E4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0315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686F03F-CB4E-986A-8347-47FE97D65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0FF0F81-78D2-6D7D-93C1-7AC712943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1E54F5-4682-19E7-26FD-4A2932FEE9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239852-1390-49B7-A75F-9BF61871A04B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A86DB9-067D-5A1E-4050-3A923EB443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AD2F3C8-47A5-2297-0009-DE21A65659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4E8EA2-19F4-4486-904F-99FC0FE6E4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568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10C87AE-EEA9-678B-8E69-8EF3A1DEEB85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437B179-797E-CD1B-A464-7B5A49D60E1D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横棒グラフ：負・ゼロ・小数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70CE75A9-7DF0-27D2-0218-BCFE3E170978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4015EEB8-0D72-861E-B01F-77398F209C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1244164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9D59BE7D-FD04-8139-5560-948A8474D047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7F587F5-4F2D-2F5C-8FA0-9A07AFA73D62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 / 6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66724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A7AFB0E-8990-85FA-AAC1-A813D6600C68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D32268D-0445-BF98-E586-29136909777C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縦棒グラフ：負・ゼロ・小数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CCBB6905-DB59-30C7-CA56-DB4C3FA9B756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58A6DA7A-DBCB-2E4B-9D11-154D08DFB5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0615571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C9044E0F-2A00-AB64-DD86-B02AC479D2EB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62A4CF5-38C6-D875-DCFC-E9F61E3FD02B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 / 6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8510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37D1984-FB72-D918-733C-F8B3EB4656DD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287CD38-8307-8666-075B-69FBAF5D6CF1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折れ線グラフ：負・ゼロ・小数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400B0E98-307C-AD5C-5F43-E11CE67FE552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1062FF0C-F3F8-F4DD-C77C-38B667F998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8351878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9B86F985-C82B-5778-31B5-549B9B4DC13B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0F752BB-8DE7-35DF-A2C2-FC234A515167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 / 6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09631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D97CCA6-A734-C078-38B5-F83193F7264C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8DC0C10-29E8-5A6F-BCDF-04BF1FC79504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円グラフ：</a:t>
            </a:r>
            <a:r>
              <a:rPr kumimoji="1" lang="en-US" altLang="ja-JP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8</a:t>
            </a:r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C401963A-0F1D-4C05-1984-4B91810BB204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B70A0028-F974-597E-6A8A-21C102F67F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345232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1044D610-BBBE-3829-36B4-A036BED6B374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0C85AE1-EF3D-363E-1D90-F72C20DD3779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4 / 6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12556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4258B62-3DC5-1C2C-B4DE-5A1EBAE2FF11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E716A04-39E9-0A74-D365-C3B992C927FB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ドーナツグラフ：</a:t>
            </a:r>
            <a:r>
              <a:rPr kumimoji="1" lang="en-US" altLang="ja-JP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8</a:t>
            </a:r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6D188784-0674-31CE-B175-C06B00AB8B47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7D6E74B8-E60E-E3DA-1177-3D6C920B18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9476501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7D01884A-2DEC-5176-0ACB-BFE610479130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2FED47D-39D2-8890-3A7C-103B09DB07CB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5 / 6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37606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0AACCD7-8AB2-5335-E92B-C1D2699AC0C0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C1630B3-B3A3-051D-A22C-B8E33B8EB241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ドーナツ：</a:t>
            </a:r>
            <a:r>
              <a:rPr kumimoji="1" lang="en-US" altLang="ja-JP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</a:t>
            </a:r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項目とゼロの項目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3D6395BE-DA06-A535-B4E3-4E39D82B8635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2FE75626-E907-A35D-D7F5-06F2766125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13364419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F47F37FB-D453-684E-4667-E111AE917A41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D72ED28-F6FB-E70E-14F3-B7A7A4A99ECA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6 / 6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30124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rgbClr val="172D4A"/>
      </a:dk1>
      <a:lt1>
        <a:sysClr val="window" lastClr="FFFFFF"/>
      </a:lt1>
      <a:dk2>
        <a:srgbClr val="0E2841"/>
      </a:dk2>
      <a:lt2>
        <a:srgbClr val="E8E8E8"/>
      </a:lt2>
      <a:accent1>
        <a:srgbClr val="245DA8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</Words>
  <Application>Microsoft Office PowerPoint</Application>
  <PresentationFormat>ユーザー設定</PresentationFormat>
  <Paragraphs>27</Paragraphs>
  <Slides>6</Slides>
  <Notes>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BIZ UDPGothic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Designer Extention</dc:creator>
  <cp:lastModifiedBy>Designer Extention</cp:lastModifiedBy>
  <cp:revision>1</cp:revision>
  <dcterms:created xsi:type="dcterms:W3CDTF">2026-10-02T15:10:48Z</dcterms:created>
  <dcterms:modified xsi:type="dcterms:W3CDTF">2026-10-02T15:10:48Z</dcterms:modified>
</cp:coreProperties>
</file>